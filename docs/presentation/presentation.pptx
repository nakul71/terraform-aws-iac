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7"/>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morning/afternoon, respected evaluators. Today we are presenting our IBM internship project: designing and deploying a production-grade, modular cloud infrastructure on Amazon Web Services entirely using Infrastructure as Code with HashiCorp Terraform.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is the roadmap for our presentation. We'll start with the problem we're solving, walk through the architecture and code, show live deployment results, and conclude with future improvements.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fundamental problem we are solving: when organizations manage cloud infrastructure by clicking through the AWS Console manually—ClickOps—they face six critical challenges. Configuration drift means no one knows the true state. Human error leads to security vulnerabilities. Without version control, there's no way to review or roll back changes.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project had seven clear engineering objectives. The most important principle was 'zero ClickOps' — we never touched the AWS Console to create or modify any resource. Everything was defined in code, reviewed in Git, and applied through Terraform.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Terraform uses a declarative approach — we define what our infrastructure should look like, and Terraform figures out how to get there. It builds a Directed Acyclic Graph to determine the correct creation order. We chose Terraform over CloudFormation because skills are cloud-agnostic and transfer to Azure, GCP, and 3000+ providers.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our complete architecture. We have a VPC with a 10.0.0.0/16 CIDR block. Inside, a public subnet hosts our EC2 web server with Nginx and an Elastic IP, and a private subnet is reserved for database or backend services with no internet access. An Internet Gateway provides internet connectivity for the public subnet only. An S3 bucket with three layers of security sits outside the VPC.</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used 9 different AWS services resulting in 15 total managed resources. Each service was selected to fulfill a specific operational requirement while strictly adhering to AWS Free Tier limits. The total project cost was zero dollars.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followed the industry-standard Terraform module pattern. Our code is organized into three self-contained modules: networking, compute, and storage. The environments/dev directory acts as the root module that wires everything together. This pattern means we can create staging or production environments simply by creating new directories calling the same modules with different parameters.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Terraform follows a six-command workflow. The critical step is 'plan' — a dry run showing exactly what Terraform will create, modify, or destroy before touching any real resources. Terraform builds a Directed Acyclic Graph to determine the correct creation order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When the EC2 instance launches, it runs a user-data shell script that updates packages, installs Nginx, generates a custom landing page, and starts the web server — all without any manual SSH connection. We redirect output to a log file for debugging and use systemctl enable to ensure Nginx restarts on reboot.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Security was embedded from day zero. We implemented four layers: IAM least-privilege, Security Group firewall, S3 public access blocking, and AES-256 encryption. Additionally, we used .gitignore to prevent secrets from reaching GitHub, and tagged every resource with ManagedBy=Terraform for auditing.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are our actual live results. Terraform created all 15 resources in ap-south-1 Mumbai. The Elastic IP 13.204.131.183 returned HTTP 200 OK with our custom Nginx landing page. We verified every resource in the AWS Console. terraform destroy cleanly removed all 15 resources.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comparison captures the core value of IaC. Speed, consistency, drift detection, version control, and peer review are the real enterprise benefits. The single-command teardown eliminates forgotten resources accumulating charges.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are transparent about our limitations — local state, single AZ, HTTP only. These are deliberate Free Tier decisions. For production, the first steps would be remote state with DynamoDB locking, CI/CD via GitHub Actions, and multi-AZ deployment with a load balancer.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conclusion, our project successfully demonstrates the full lifecycle of Infrastructure as Code on AWS. We designed a modular, multi-tier architecture, implemented it in Terraform, deployed 15 resources in under 2 minutes with zero manual steps, verified it through multiple methods, and cleanly destroyed everything afterward. Thank you for your time. We are happy to answer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Rounded Rectangle 1"/>
          <p:cNvSpPr/>
          <p:nvPr/>
        </p:nvSpPr>
        <p:spPr>
          <a:xfrm>
            <a:off x="0" y="0"/>
            <a:ext cx="12191695" cy="76200"/>
          </a:xfrm>
          <a:prstGeom prst="roundRect">
            <a:avLst>
              <a:gd name="adj" fmla="val 5000"/>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1097280"/>
          </a:xfrm>
          <a:prstGeom prst="rect">
            <a:avLst/>
          </a:prstGeom>
          <a:noFill/>
        </p:spPr>
        <p:txBody>
          <a:bodyPr wrap="square">
            <a:spAutoFit/>
          </a:bodyPr>
          <a:lstStyle/>
          <a:p>
            <a:pPr algn="l">
              <a:defRPr sz="4400" b="1">
                <a:solidFill>
                  <a:srgbClr val="FFFFFF"/>
                </a:solidFill>
                <a:latin typeface="Segoe UI" panose="020B0502040204020203"/>
              </a:defRPr>
            </a:pPr>
            <a:r>
              <a:t>Infrastructure as Code (IaC)</a:t>
            </a:r>
          </a:p>
        </p:txBody>
      </p:sp>
      <p:sp>
        <p:nvSpPr>
          <p:cNvPr id="4" name="TextBox 3"/>
          <p:cNvSpPr txBox="1"/>
          <p:nvPr/>
        </p:nvSpPr>
        <p:spPr>
          <a:xfrm>
            <a:off x="914400" y="2651760"/>
            <a:ext cx="10332720" cy="731520"/>
          </a:xfrm>
          <a:prstGeom prst="rect">
            <a:avLst/>
          </a:prstGeom>
          <a:noFill/>
        </p:spPr>
        <p:txBody>
          <a:bodyPr wrap="square">
            <a:spAutoFit/>
          </a:bodyPr>
          <a:lstStyle/>
          <a:p>
            <a:pPr algn="l">
              <a:defRPr sz="3600" b="1">
                <a:solidFill>
                  <a:srgbClr val="48CAE4"/>
                </a:solidFill>
                <a:latin typeface="Segoe UI" panose="020B0502040204020203"/>
              </a:defRPr>
            </a:pPr>
            <a:r>
              <a:t>using Terraform on AWS</a:t>
            </a:r>
          </a:p>
        </p:txBody>
      </p:sp>
      <p:sp>
        <p:nvSpPr>
          <p:cNvPr id="5" name="Rectangle 4"/>
          <p:cNvSpPr/>
          <p:nvPr/>
        </p:nvSpPr>
        <p:spPr>
          <a:xfrm>
            <a:off x="914400" y="3474720"/>
            <a:ext cx="27432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49039"/>
            <a:ext cx="10332720" cy="548640"/>
          </a:xfrm>
          <a:prstGeom prst="rect">
            <a:avLst/>
          </a:prstGeom>
          <a:noFill/>
        </p:spPr>
        <p:txBody>
          <a:bodyPr wrap="square">
            <a:spAutoFit/>
          </a:bodyPr>
          <a:lstStyle/>
          <a:p>
            <a:pPr algn="l">
              <a:defRPr sz="2000" b="0">
                <a:solidFill>
                  <a:srgbClr val="E0E1DD"/>
                </a:solidFill>
                <a:latin typeface="Segoe UI" panose="020B0502040204020203"/>
              </a:defRPr>
            </a:pPr>
            <a:r>
              <a:t>A Modular, Production-Inspired AWS Infrastructure Architecture</a:t>
            </a:r>
          </a:p>
        </p:txBody>
      </p:sp>
      <p:sp>
        <p:nvSpPr>
          <p:cNvPr id="7" name="Rounded Rectangle 6"/>
          <p:cNvSpPr/>
          <p:nvPr/>
        </p:nvSpPr>
        <p:spPr>
          <a:xfrm>
            <a:off x="914400" y="4754880"/>
            <a:ext cx="2377440" cy="109728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846320"/>
            <a:ext cx="2103120" cy="274320"/>
          </a:xfrm>
          <a:prstGeom prst="rect">
            <a:avLst/>
          </a:prstGeom>
          <a:noFill/>
        </p:spPr>
        <p:txBody>
          <a:bodyPr wrap="square">
            <a:spAutoFit/>
          </a:bodyPr>
          <a:lstStyle/>
          <a:p>
            <a:pPr algn="l">
              <a:defRPr sz="1000" b="1">
                <a:solidFill>
                  <a:srgbClr val="48CAE4"/>
                </a:solidFill>
                <a:latin typeface="Segoe UI" panose="020B0502040204020203"/>
              </a:defRPr>
            </a:pPr>
            <a:r>
              <a:t>GROUP</a:t>
            </a:r>
          </a:p>
        </p:txBody>
      </p:sp>
      <p:sp>
        <p:nvSpPr>
          <p:cNvPr id="9" name="TextBox 8"/>
          <p:cNvSpPr txBox="1"/>
          <p:nvPr/>
        </p:nvSpPr>
        <p:spPr>
          <a:xfrm>
            <a:off x="1051560" y="5120640"/>
            <a:ext cx="2103120" cy="548640"/>
          </a:xfrm>
          <a:prstGeom prst="rect">
            <a:avLst/>
          </a:prstGeom>
          <a:noFill/>
        </p:spPr>
        <p:txBody>
          <a:bodyPr wrap="square">
            <a:spAutoFit/>
          </a:bodyPr>
          <a:lstStyle/>
          <a:p>
            <a:pPr algn="l">
              <a:defRPr sz="1400" b="0">
                <a:solidFill>
                  <a:srgbClr val="FFFFFF"/>
                </a:solidFill>
                <a:latin typeface="Segoe UI" panose="020B0502040204020203"/>
              </a:defRPr>
            </a:pPr>
            <a:r>
              <a:t>Group 4</a:t>
            </a:r>
          </a:p>
        </p:txBody>
      </p:sp>
      <p:sp>
        <p:nvSpPr>
          <p:cNvPr id="10" name="Rounded Rectangle 9"/>
          <p:cNvSpPr/>
          <p:nvPr/>
        </p:nvSpPr>
        <p:spPr>
          <a:xfrm>
            <a:off x="3566160" y="4754880"/>
            <a:ext cx="2377440" cy="109728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4846320"/>
            <a:ext cx="2103120" cy="274320"/>
          </a:xfrm>
          <a:prstGeom prst="rect">
            <a:avLst/>
          </a:prstGeom>
          <a:noFill/>
        </p:spPr>
        <p:txBody>
          <a:bodyPr wrap="square">
            <a:spAutoFit/>
          </a:bodyPr>
          <a:lstStyle/>
          <a:p>
            <a:pPr algn="l">
              <a:defRPr sz="1000" b="1">
                <a:solidFill>
                  <a:srgbClr val="48CAE4"/>
                </a:solidFill>
                <a:latin typeface="Segoe UI" panose="020B0502040204020203"/>
              </a:defRPr>
            </a:pPr>
            <a:r>
              <a:t>PROGRAM</a:t>
            </a:r>
          </a:p>
        </p:txBody>
      </p:sp>
      <p:sp>
        <p:nvSpPr>
          <p:cNvPr id="12" name="TextBox 11"/>
          <p:cNvSpPr txBox="1"/>
          <p:nvPr/>
        </p:nvSpPr>
        <p:spPr>
          <a:xfrm>
            <a:off x="3703320" y="5120640"/>
            <a:ext cx="2103120" cy="548640"/>
          </a:xfrm>
          <a:prstGeom prst="rect">
            <a:avLst/>
          </a:prstGeom>
          <a:noFill/>
        </p:spPr>
        <p:txBody>
          <a:bodyPr wrap="square">
            <a:spAutoFit/>
          </a:bodyPr>
          <a:lstStyle/>
          <a:p>
            <a:pPr algn="l">
              <a:defRPr sz="1400" b="0">
                <a:solidFill>
                  <a:srgbClr val="FFFFFF"/>
                </a:solidFill>
                <a:latin typeface="Segoe UI" panose="020B0502040204020203"/>
              </a:defRPr>
            </a:pPr>
            <a:r>
              <a:t>IBM Internship 2026</a:t>
            </a:r>
          </a:p>
        </p:txBody>
      </p:sp>
      <p:sp>
        <p:nvSpPr>
          <p:cNvPr id="13" name="Rounded Rectangle 12"/>
          <p:cNvSpPr/>
          <p:nvPr/>
        </p:nvSpPr>
        <p:spPr>
          <a:xfrm>
            <a:off x="6217920" y="4754880"/>
            <a:ext cx="2377440" cy="109728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846320"/>
            <a:ext cx="2103120" cy="274320"/>
          </a:xfrm>
          <a:prstGeom prst="rect">
            <a:avLst/>
          </a:prstGeom>
          <a:noFill/>
        </p:spPr>
        <p:txBody>
          <a:bodyPr wrap="square">
            <a:spAutoFit/>
          </a:bodyPr>
          <a:lstStyle/>
          <a:p>
            <a:pPr algn="l">
              <a:defRPr sz="1000" b="1">
                <a:solidFill>
                  <a:srgbClr val="48CAE4"/>
                </a:solidFill>
                <a:latin typeface="Segoe UI" panose="020B0502040204020203"/>
              </a:defRPr>
            </a:pPr>
            <a:r>
              <a:t>DOMAIN</a:t>
            </a:r>
          </a:p>
        </p:txBody>
      </p:sp>
      <p:sp>
        <p:nvSpPr>
          <p:cNvPr id="15" name="TextBox 14"/>
          <p:cNvSpPr txBox="1"/>
          <p:nvPr/>
        </p:nvSpPr>
        <p:spPr>
          <a:xfrm>
            <a:off x="6355080" y="5120640"/>
            <a:ext cx="2103120" cy="548640"/>
          </a:xfrm>
          <a:prstGeom prst="rect">
            <a:avLst/>
          </a:prstGeom>
          <a:noFill/>
        </p:spPr>
        <p:txBody>
          <a:bodyPr wrap="square">
            <a:spAutoFit/>
          </a:bodyPr>
          <a:lstStyle/>
          <a:p>
            <a:pPr algn="l">
              <a:defRPr sz="1400" b="0">
                <a:solidFill>
                  <a:srgbClr val="FFFFFF"/>
                </a:solidFill>
                <a:latin typeface="Segoe UI" panose="020B0502040204020203"/>
              </a:defRPr>
            </a:pPr>
            <a:r>
              <a:t>DevOps &amp; Cloud Architecture</a:t>
            </a:r>
          </a:p>
        </p:txBody>
      </p:sp>
      <p:sp>
        <p:nvSpPr>
          <p:cNvPr id="16" name="Rounded Rectangle 15"/>
          <p:cNvSpPr/>
          <p:nvPr/>
        </p:nvSpPr>
        <p:spPr>
          <a:xfrm>
            <a:off x="8869680" y="4754880"/>
            <a:ext cx="2377440" cy="109728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4846320"/>
            <a:ext cx="2103120" cy="274320"/>
          </a:xfrm>
          <a:prstGeom prst="rect">
            <a:avLst/>
          </a:prstGeom>
          <a:noFill/>
        </p:spPr>
        <p:txBody>
          <a:bodyPr wrap="square">
            <a:spAutoFit/>
          </a:bodyPr>
          <a:lstStyle/>
          <a:p>
            <a:pPr algn="l">
              <a:defRPr sz="1000" b="1">
                <a:solidFill>
                  <a:srgbClr val="48CAE4"/>
                </a:solidFill>
                <a:latin typeface="Segoe UI" panose="020B0502040204020203"/>
              </a:defRPr>
            </a:pPr>
            <a:r>
              <a:t>STACK</a:t>
            </a:r>
          </a:p>
        </p:txBody>
      </p:sp>
      <p:sp>
        <p:nvSpPr>
          <p:cNvPr id="18" name="TextBox 17"/>
          <p:cNvSpPr txBox="1"/>
          <p:nvPr/>
        </p:nvSpPr>
        <p:spPr>
          <a:xfrm>
            <a:off x="9006840" y="5120640"/>
            <a:ext cx="2103120" cy="548640"/>
          </a:xfrm>
          <a:prstGeom prst="rect">
            <a:avLst/>
          </a:prstGeom>
          <a:noFill/>
        </p:spPr>
        <p:txBody>
          <a:bodyPr wrap="square">
            <a:spAutoFit/>
          </a:bodyPr>
          <a:lstStyle/>
          <a:p>
            <a:pPr algn="l">
              <a:defRPr sz="1400" b="0">
                <a:solidFill>
                  <a:srgbClr val="FFFFFF"/>
                </a:solidFill>
                <a:latin typeface="Segoe UI" panose="020B0502040204020203"/>
              </a:defRPr>
            </a:pPr>
            <a:r>
              <a:t>Terraform · AWS · Nginx · Git</a:t>
            </a:r>
          </a:p>
        </p:txBody>
      </p:sp>
      <p:sp>
        <p:nvSpPr>
          <p:cNvPr id="19" name="TextBox 18"/>
          <p:cNvSpPr txBox="1"/>
          <p:nvPr/>
        </p:nvSpPr>
        <p:spPr>
          <a:xfrm>
            <a:off x="914400" y="6126480"/>
            <a:ext cx="5486400" cy="274320"/>
          </a:xfrm>
          <a:prstGeom prst="rect">
            <a:avLst/>
          </a:prstGeom>
          <a:noFill/>
        </p:spPr>
        <p:txBody>
          <a:bodyPr wrap="square">
            <a:spAutoFit/>
          </a:bodyPr>
          <a:lstStyle/>
          <a:p>
            <a:pPr algn="l">
              <a:defRPr sz="1200" b="0">
                <a:solidFill>
                  <a:srgbClr val="8D99AE"/>
                </a:solidFill>
                <a:latin typeface="Segoe UI" panose="020B0502040204020203"/>
              </a:defRPr>
            </a:pPr>
            <a:r>
              <a:t>github.com/Nakul71/terraform-aws-iac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4572000" cy="640080"/>
          </a:xfrm>
          <a:prstGeom prst="rect">
            <a:avLst/>
          </a:prstGeom>
          <a:noFill/>
        </p:spPr>
        <p:txBody>
          <a:bodyPr wrap="square">
            <a:spAutoFit/>
          </a:bodyPr>
          <a:lstStyle/>
          <a:p>
            <a:pPr algn="l">
              <a:defRPr sz="3600" b="1">
                <a:solidFill>
                  <a:srgbClr val="FFFFFF"/>
                </a:solidFill>
                <a:latin typeface="Segoe UI" panose="020B0502040204020203"/>
              </a:defRPr>
            </a:pPr>
            <a:r>
              <a:t>AGENDA</a:t>
            </a:r>
          </a:p>
        </p:txBody>
      </p:sp>
      <p:sp>
        <p:nvSpPr>
          <p:cNvPr id="3" name="Rectangle 2"/>
          <p:cNvSpPr/>
          <p:nvPr/>
        </p:nvSpPr>
        <p:spPr>
          <a:xfrm>
            <a:off x="731520" y="109728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01</a:t>
            </a:r>
          </a:p>
        </p:txBody>
      </p:sp>
      <p:sp>
        <p:nvSpPr>
          <p:cNvPr id="5" name="TextBox 4"/>
          <p:cNvSpPr txBox="1"/>
          <p:nvPr/>
        </p:nvSpPr>
        <p:spPr>
          <a:xfrm>
            <a:off x="1371600" y="14630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Problem Statement</a:t>
            </a:r>
          </a:p>
        </p:txBody>
      </p:sp>
      <p:sp>
        <p:nvSpPr>
          <p:cNvPr id="6" name="TextBox 5"/>
          <p:cNvSpPr txBox="1"/>
          <p:nvPr/>
        </p:nvSpPr>
        <p:spPr>
          <a:xfrm>
            <a:off x="1371600" y="17373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Why Infrastructure as Code?</a:t>
            </a:r>
          </a:p>
        </p:txBody>
      </p:sp>
      <p:sp>
        <p:nvSpPr>
          <p:cNvPr id="7" name="TextBox 6"/>
          <p:cNvSpPr txBox="1"/>
          <p:nvPr/>
        </p:nvSpPr>
        <p:spPr>
          <a:xfrm>
            <a:off x="731520" y="21488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02</a:t>
            </a:r>
          </a:p>
        </p:txBody>
      </p:sp>
      <p:sp>
        <p:nvSpPr>
          <p:cNvPr id="8" name="TextBox 7"/>
          <p:cNvSpPr txBox="1"/>
          <p:nvPr/>
        </p:nvSpPr>
        <p:spPr>
          <a:xfrm>
            <a:off x="1371600" y="21488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Objectives</a:t>
            </a:r>
          </a:p>
        </p:txBody>
      </p:sp>
      <p:sp>
        <p:nvSpPr>
          <p:cNvPr id="9" name="TextBox 8"/>
          <p:cNvSpPr txBox="1"/>
          <p:nvPr/>
        </p:nvSpPr>
        <p:spPr>
          <a:xfrm>
            <a:off x="1371600" y="24231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What we set out to achieve</a:t>
            </a:r>
          </a:p>
        </p:txBody>
      </p:sp>
      <p:sp>
        <p:nvSpPr>
          <p:cNvPr id="10" name="TextBox 9"/>
          <p:cNvSpPr txBox="1"/>
          <p:nvPr/>
        </p:nvSpPr>
        <p:spPr>
          <a:xfrm>
            <a:off x="731520" y="28346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03</a:t>
            </a:r>
          </a:p>
        </p:txBody>
      </p:sp>
      <p:sp>
        <p:nvSpPr>
          <p:cNvPr id="11" name="TextBox 10"/>
          <p:cNvSpPr txBox="1"/>
          <p:nvPr/>
        </p:nvSpPr>
        <p:spPr>
          <a:xfrm>
            <a:off x="1371600" y="28346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Background</a:t>
            </a:r>
          </a:p>
        </p:txBody>
      </p:sp>
      <p:sp>
        <p:nvSpPr>
          <p:cNvPr id="12" name="TextBox 11"/>
          <p:cNvSpPr txBox="1"/>
          <p:nvPr/>
        </p:nvSpPr>
        <p:spPr>
          <a:xfrm>
            <a:off x="1371600" y="31089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IaC concepts &amp; Terraform</a:t>
            </a:r>
          </a:p>
        </p:txBody>
      </p:sp>
      <p:sp>
        <p:nvSpPr>
          <p:cNvPr id="13" name="TextBox 12"/>
          <p:cNvSpPr txBox="1"/>
          <p:nvPr/>
        </p:nvSpPr>
        <p:spPr>
          <a:xfrm>
            <a:off x="731520" y="35204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04</a:t>
            </a:r>
          </a:p>
        </p:txBody>
      </p:sp>
      <p:sp>
        <p:nvSpPr>
          <p:cNvPr id="14" name="TextBox 13"/>
          <p:cNvSpPr txBox="1"/>
          <p:nvPr/>
        </p:nvSpPr>
        <p:spPr>
          <a:xfrm>
            <a:off x="1371600" y="35204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Architecture</a:t>
            </a:r>
          </a:p>
        </p:txBody>
      </p:sp>
      <p:sp>
        <p:nvSpPr>
          <p:cNvPr id="15" name="TextBox 14"/>
          <p:cNvSpPr txBox="1"/>
          <p:nvPr/>
        </p:nvSpPr>
        <p:spPr>
          <a:xfrm>
            <a:off x="1371600" y="37947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AWS multi-tier design</a:t>
            </a:r>
          </a:p>
        </p:txBody>
      </p:sp>
      <p:sp>
        <p:nvSpPr>
          <p:cNvPr id="16" name="TextBox 15"/>
          <p:cNvSpPr txBox="1"/>
          <p:nvPr/>
        </p:nvSpPr>
        <p:spPr>
          <a:xfrm>
            <a:off x="731520" y="42062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05</a:t>
            </a:r>
          </a:p>
        </p:txBody>
      </p:sp>
      <p:sp>
        <p:nvSpPr>
          <p:cNvPr id="17" name="TextBox 16"/>
          <p:cNvSpPr txBox="1"/>
          <p:nvPr/>
        </p:nvSpPr>
        <p:spPr>
          <a:xfrm>
            <a:off x="1371600" y="42062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AWS Services</a:t>
            </a:r>
          </a:p>
        </p:txBody>
      </p:sp>
      <p:sp>
        <p:nvSpPr>
          <p:cNvPr id="18" name="TextBox 17"/>
          <p:cNvSpPr txBox="1"/>
          <p:nvPr/>
        </p:nvSpPr>
        <p:spPr>
          <a:xfrm>
            <a:off x="1371600" y="44805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VPC, EC2, S3, IAM breakdown</a:t>
            </a:r>
          </a:p>
        </p:txBody>
      </p:sp>
      <p:sp>
        <p:nvSpPr>
          <p:cNvPr id="19" name="TextBox 18"/>
          <p:cNvSpPr txBox="1"/>
          <p:nvPr/>
        </p:nvSpPr>
        <p:spPr>
          <a:xfrm>
            <a:off x="731520" y="48920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06</a:t>
            </a:r>
          </a:p>
        </p:txBody>
      </p:sp>
      <p:sp>
        <p:nvSpPr>
          <p:cNvPr id="20" name="TextBox 19"/>
          <p:cNvSpPr txBox="1"/>
          <p:nvPr/>
        </p:nvSpPr>
        <p:spPr>
          <a:xfrm>
            <a:off x="1371600" y="48920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Code Structure</a:t>
            </a:r>
          </a:p>
        </p:txBody>
      </p:sp>
      <p:sp>
        <p:nvSpPr>
          <p:cNvPr id="21" name="TextBox 20"/>
          <p:cNvSpPr txBox="1"/>
          <p:nvPr/>
        </p:nvSpPr>
        <p:spPr>
          <a:xfrm>
            <a:off x="1371600" y="51663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Modular repository layout</a:t>
            </a:r>
          </a:p>
        </p:txBody>
      </p:sp>
      <p:sp>
        <p:nvSpPr>
          <p:cNvPr id="22" name="TextBox 21"/>
          <p:cNvSpPr txBox="1"/>
          <p:nvPr/>
        </p:nvSpPr>
        <p:spPr>
          <a:xfrm>
            <a:off x="731520" y="55778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07</a:t>
            </a:r>
          </a:p>
        </p:txBody>
      </p:sp>
      <p:sp>
        <p:nvSpPr>
          <p:cNvPr id="23" name="TextBox 22"/>
          <p:cNvSpPr txBox="1"/>
          <p:nvPr/>
        </p:nvSpPr>
        <p:spPr>
          <a:xfrm>
            <a:off x="1371600" y="55778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Terraform Workflow</a:t>
            </a:r>
          </a:p>
        </p:txBody>
      </p:sp>
      <p:sp>
        <p:nvSpPr>
          <p:cNvPr id="24" name="TextBox 23"/>
          <p:cNvSpPr txBox="1"/>
          <p:nvPr/>
        </p:nvSpPr>
        <p:spPr>
          <a:xfrm>
            <a:off x="1371600" y="58521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Init → Plan → Apply lifecycle</a:t>
            </a:r>
          </a:p>
        </p:txBody>
      </p:sp>
      <p:sp>
        <p:nvSpPr>
          <p:cNvPr id="25" name="TextBox 24"/>
          <p:cNvSpPr txBox="1"/>
          <p:nvPr/>
        </p:nvSpPr>
        <p:spPr>
          <a:xfrm>
            <a:off x="6400800" y="14630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08</a:t>
            </a:r>
          </a:p>
        </p:txBody>
      </p:sp>
      <p:sp>
        <p:nvSpPr>
          <p:cNvPr id="26" name="TextBox 25"/>
          <p:cNvSpPr txBox="1"/>
          <p:nvPr/>
        </p:nvSpPr>
        <p:spPr>
          <a:xfrm>
            <a:off x="7040880" y="14630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Compute Automation</a:t>
            </a:r>
          </a:p>
        </p:txBody>
      </p:sp>
      <p:sp>
        <p:nvSpPr>
          <p:cNvPr id="27" name="TextBox 26"/>
          <p:cNvSpPr txBox="1"/>
          <p:nvPr/>
        </p:nvSpPr>
        <p:spPr>
          <a:xfrm>
            <a:off x="7040880" y="17373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User Data &amp; Nginx bootstrapping</a:t>
            </a:r>
          </a:p>
        </p:txBody>
      </p:sp>
      <p:sp>
        <p:nvSpPr>
          <p:cNvPr id="28" name="TextBox 27"/>
          <p:cNvSpPr txBox="1"/>
          <p:nvPr/>
        </p:nvSpPr>
        <p:spPr>
          <a:xfrm>
            <a:off x="6400800" y="21488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09</a:t>
            </a:r>
          </a:p>
        </p:txBody>
      </p:sp>
      <p:sp>
        <p:nvSpPr>
          <p:cNvPr id="29" name="TextBox 28"/>
          <p:cNvSpPr txBox="1"/>
          <p:nvPr/>
        </p:nvSpPr>
        <p:spPr>
          <a:xfrm>
            <a:off x="7040880" y="21488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Security Controls</a:t>
            </a:r>
          </a:p>
        </p:txBody>
      </p:sp>
      <p:sp>
        <p:nvSpPr>
          <p:cNvPr id="30" name="TextBox 29"/>
          <p:cNvSpPr txBox="1"/>
          <p:nvPr/>
        </p:nvSpPr>
        <p:spPr>
          <a:xfrm>
            <a:off x="7040880" y="24231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IAM, encryption, access controls</a:t>
            </a:r>
          </a:p>
        </p:txBody>
      </p:sp>
      <p:sp>
        <p:nvSpPr>
          <p:cNvPr id="31" name="TextBox 30"/>
          <p:cNvSpPr txBox="1"/>
          <p:nvPr/>
        </p:nvSpPr>
        <p:spPr>
          <a:xfrm>
            <a:off x="6400800" y="28346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10</a:t>
            </a:r>
          </a:p>
        </p:txBody>
      </p:sp>
      <p:sp>
        <p:nvSpPr>
          <p:cNvPr id="32" name="TextBox 31"/>
          <p:cNvSpPr txBox="1"/>
          <p:nvPr/>
        </p:nvSpPr>
        <p:spPr>
          <a:xfrm>
            <a:off x="7040880" y="28346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Live Results</a:t>
            </a:r>
          </a:p>
        </p:txBody>
      </p:sp>
      <p:sp>
        <p:nvSpPr>
          <p:cNvPr id="33" name="TextBox 32"/>
          <p:cNvSpPr txBox="1"/>
          <p:nvPr/>
        </p:nvSpPr>
        <p:spPr>
          <a:xfrm>
            <a:off x="7040880" y="31089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Deployment outputs &amp; verification</a:t>
            </a:r>
          </a:p>
        </p:txBody>
      </p:sp>
      <p:sp>
        <p:nvSpPr>
          <p:cNvPr id="34" name="TextBox 33"/>
          <p:cNvSpPr txBox="1"/>
          <p:nvPr/>
        </p:nvSpPr>
        <p:spPr>
          <a:xfrm>
            <a:off x="6400800" y="35204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11</a:t>
            </a:r>
          </a:p>
        </p:txBody>
      </p:sp>
      <p:sp>
        <p:nvSpPr>
          <p:cNvPr id="35" name="TextBox 34"/>
          <p:cNvSpPr txBox="1"/>
          <p:nvPr/>
        </p:nvSpPr>
        <p:spPr>
          <a:xfrm>
            <a:off x="7040880" y="35204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Advantages</a:t>
            </a:r>
          </a:p>
        </p:txBody>
      </p:sp>
      <p:sp>
        <p:nvSpPr>
          <p:cNvPr id="36" name="TextBox 35"/>
          <p:cNvSpPr txBox="1"/>
          <p:nvPr/>
        </p:nvSpPr>
        <p:spPr>
          <a:xfrm>
            <a:off x="7040880" y="37947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ClickOps vs IaC comparison</a:t>
            </a:r>
          </a:p>
        </p:txBody>
      </p:sp>
      <p:sp>
        <p:nvSpPr>
          <p:cNvPr id="37" name="TextBox 36"/>
          <p:cNvSpPr txBox="1"/>
          <p:nvPr/>
        </p:nvSpPr>
        <p:spPr>
          <a:xfrm>
            <a:off x="6400800" y="42062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12</a:t>
            </a:r>
          </a:p>
        </p:txBody>
      </p:sp>
      <p:sp>
        <p:nvSpPr>
          <p:cNvPr id="38" name="TextBox 37"/>
          <p:cNvSpPr txBox="1"/>
          <p:nvPr/>
        </p:nvSpPr>
        <p:spPr>
          <a:xfrm>
            <a:off x="7040880" y="42062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Limitations</a:t>
            </a:r>
          </a:p>
        </p:txBody>
      </p:sp>
      <p:sp>
        <p:nvSpPr>
          <p:cNvPr id="39" name="TextBox 38"/>
          <p:cNvSpPr txBox="1"/>
          <p:nvPr/>
        </p:nvSpPr>
        <p:spPr>
          <a:xfrm>
            <a:off x="7040880" y="44805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Current scope constraints</a:t>
            </a:r>
          </a:p>
        </p:txBody>
      </p:sp>
      <p:sp>
        <p:nvSpPr>
          <p:cNvPr id="40" name="TextBox 39"/>
          <p:cNvSpPr txBox="1"/>
          <p:nvPr/>
        </p:nvSpPr>
        <p:spPr>
          <a:xfrm>
            <a:off x="6400800" y="48920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13</a:t>
            </a:r>
          </a:p>
        </p:txBody>
      </p:sp>
      <p:sp>
        <p:nvSpPr>
          <p:cNvPr id="41" name="TextBox 40"/>
          <p:cNvSpPr txBox="1"/>
          <p:nvPr/>
        </p:nvSpPr>
        <p:spPr>
          <a:xfrm>
            <a:off x="7040880" y="48920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Future Scope</a:t>
            </a:r>
          </a:p>
        </p:txBody>
      </p:sp>
      <p:sp>
        <p:nvSpPr>
          <p:cNvPr id="42" name="TextBox 41"/>
          <p:cNvSpPr txBox="1"/>
          <p:nvPr/>
        </p:nvSpPr>
        <p:spPr>
          <a:xfrm>
            <a:off x="7040880" y="51663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Production roadmap</a:t>
            </a:r>
          </a:p>
        </p:txBody>
      </p:sp>
      <p:sp>
        <p:nvSpPr>
          <p:cNvPr id="43" name="TextBox 42"/>
          <p:cNvSpPr txBox="1"/>
          <p:nvPr/>
        </p:nvSpPr>
        <p:spPr>
          <a:xfrm>
            <a:off x="6400800" y="5577840"/>
            <a:ext cx="548640" cy="365760"/>
          </a:xfrm>
          <a:prstGeom prst="rect">
            <a:avLst/>
          </a:prstGeom>
          <a:noFill/>
        </p:spPr>
        <p:txBody>
          <a:bodyPr wrap="square">
            <a:spAutoFit/>
          </a:bodyPr>
          <a:lstStyle/>
          <a:p>
            <a:pPr algn="l">
              <a:defRPr sz="1600" b="1">
                <a:solidFill>
                  <a:srgbClr val="48CAE4"/>
                </a:solidFill>
                <a:latin typeface="Segoe UI" panose="020B0502040204020203"/>
              </a:defRPr>
            </a:pPr>
            <a:r>
              <a:t>14</a:t>
            </a:r>
          </a:p>
        </p:txBody>
      </p:sp>
      <p:sp>
        <p:nvSpPr>
          <p:cNvPr id="44" name="TextBox 43"/>
          <p:cNvSpPr txBox="1"/>
          <p:nvPr/>
        </p:nvSpPr>
        <p:spPr>
          <a:xfrm>
            <a:off x="7040880" y="5577840"/>
            <a:ext cx="4114800" cy="320040"/>
          </a:xfrm>
          <a:prstGeom prst="rect">
            <a:avLst/>
          </a:prstGeom>
          <a:noFill/>
        </p:spPr>
        <p:txBody>
          <a:bodyPr wrap="square">
            <a:spAutoFit/>
          </a:bodyPr>
          <a:lstStyle/>
          <a:p>
            <a:pPr algn="l">
              <a:defRPr sz="1600" b="1">
                <a:solidFill>
                  <a:srgbClr val="FFFFFF"/>
                </a:solidFill>
                <a:latin typeface="Segoe UI" panose="020B0502040204020203"/>
              </a:defRPr>
            </a:pPr>
            <a:r>
              <a:t>Conclusion &amp; Q&amp;A</a:t>
            </a:r>
          </a:p>
        </p:txBody>
      </p:sp>
      <p:sp>
        <p:nvSpPr>
          <p:cNvPr id="45" name="TextBox 44"/>
          <p:cNvSpPr txBox="1"/>
          <p:nvPr/>
        </p:nvSpPr>
        <p:spPr>
          <a:xfrm>
            <a:off x="7040880" y="5852160"/>
            <a:ext cx="4114800" cy="320040"/>
          </a:xfrm>
          <a:prstGeom prst="rect">
            <a:avLst/>
          </a:prstGeom>
          <a:noFill/>
        </p:spPr>
        <p:txBody>
          <a:bodyPr wrap="square">
            <a:spAutoFit/>
          </a:bodyPr>
          <a:lstStyle/>
          <a:p>
            <a:pPr algn="l">
              <a:defRPr sz="1200" b="0">
                <a:solidFill>
                  <a:srgbClr val="8D99AE"/>
                </a:solidFill>
                <a:latin typeface="Segoe UI" panose="020B0502040204020203"/>
              </a:defRPr>
            </a:pPr>
            <a:r>
              <a:t>Summary and questions</a:t>
            </a:r>
          </a:p>
        </p:txBody>
      </p:sp>
      <p:sp>
        <p:nvSpPr>
          <p:cNvPr id="46" name="TextBox 45"/>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2/15</a:t>
            </a:r>
          </a:p>
        </p:txBody>
      </p:sp>
      <p:sp>
        <p:nvSpPr>
          <p:cNvPr id="47" name="TextBox 46"/>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PROBLEM STATEMENT — Why IaC?</a:t>
            </a:r>
          </a:p>
        </p:txBody>
      </p:sp>
      <p:sp>
        <p:nvSpPr>
          <p:cNvPr id="3" name="Rectangle 2"/>
          <p:cNvSpPr/>
          <p:nvPr/>
        </p:nvSpPr>
        <p:spPr>
          <a:xfrm>
            <a:off x="731520" y="1097280"/>
            <a:ext cx="22860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698480" cy="6858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57200" cy="320040"/>
          </a:xfrm>
          <a:prstGeom prst="rect">
            <a:avLst/>
          </a:prstGeom>
          <a:noFill/>
        </p:spPr>
        <p:txBody>
          <a:bodyPr wrap="square">
            <a:spAutoFit/>
          </a:bodyPr>
          <a:lstStyle/>
          <a:p>
            <a:pPr algn="l">
              <a:defRPr sz="1800" b="0">
                <a:solidFill>
                  <a:srgbClr val="FFFFFF"/>
                </a:solidFill>
                <a:latin typeface="Segoe UI" panose="020B0502040204020203"/>
              </a:defRPr>
            </a:pPr>
            <a:r>
              <a:t>🔴</a:t>
            </a:r>
          </a:p>
        </p:txBody>
      </p:sp>
      <p:sp>
        <p:nvSpPr>
          <p:cNvPr id="6" name="TextBox 5"/>
          <p:cNvSpPr txBox="1"/>
          <p:nvPr/>
        </p:nvSpPr>
        <p:spPr>
          <a:xfrm>
            <a:off x="1463040" y="1536192"/>
            <a:ext cx="2743200" cy="274320"/>
          </a:xfrm>
          <a:prstGeom prst="rect">
            <a:avLst/>
          </a:prstGeom>
          <a:noFill/>
        </p:spPr>
        <p:txBody>
          <a:bodyPr wrap="square">
            <a:spAutoFit/>
          </a:bodyPr>
          <a:lstStyle/>
          <a:p>
            <a:pPr algn="l">
              <a:defRPr sz="1600" b="1">
                <a:solidFill>
                  <a:srgbClr val="48CAE4"/>
                </a:solidFill>
                <a:latin typeface="Segoe UI" panose="020B0502040204020203"/>
              </a:defRPr>
            </a:pPr>
            <a:r>
              <a:t>Configuration Drift</a:t>
            </a:r>
          </a:p>
        </p:txBody>
      </p:sp>
      <p:sp>
        <p:nvSpPr>
          <p:cNvPr id="7" name="TextBox 6"/>
          <p:cNvSpPr txBox="1"/>
          <p:nvPr/>
        </p:nvSpPr>
        <p:spPr>
          <a:xfrm>
            <a:off x="1463040" y="1810512"/>
            <a:ext cx="9601200" cy="320040"/>
          </a:xfrm>
          <a:prstGeom prst="rect">
            <a:avLst/>
          </a:prstGeom>
          <a:noFill/>
        </p:spPr>
        <p:txBody>
          <a:bodyPr wrap="square">
            <a:spAutoFit/>
          </a:bodyPr>
          <a:lstStyle/>
          <a:p>
            <a:pPr algn="l">
              <a:defRPr sz="1300" b="0">
                <a:solidFill>
                  <a:srgbClr val="E0E1DD"/>
                </a:solidFill>
                <a:latin typeface="Segoe UI" panose="020B0502040204020203"/>
              </a:defRPr>
            </a:pPr>
            <a:r>
              <a:t>Manual UI changes create undocumented infrastructure state — no one knows the true configuration</a:t>
            </a:r>
          </a:p>
        </p:txBody>
      </p:sp>
      <p:sp>
        <p:nvSpPr>
          <p:cNvPr id="8" name="Rounded Rectangle 7"/>
          <p:cNvSpPr/>
          <p:nvPr/>
        </p:nvSpPr>
        <p:spPr>
          <a:xfrm>
            <a:off x="731520" y="2286000"/>
            <a:ext cx="10698480" cy="6858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457200" cy="320040"/>
          </a:xfrm>
          <a:prstGeom prst="rect">
            <a:avLst/>
          </a:prstGeom>
          <a:noFill/>
        </p:spPr>
        <p:txBody>
          <a:bodyPr wrap="square">
            <a:spAutoFit/>
          </a:bodyPr>
          <a:lstStyle/>
          <a:p>
            <a:pPr algn="l">
              <a:defRPr sz="1800" b="0">
                <a:solidFill>
                  <a:srgbClr val="FFFFFF"/>
                </a:solidFill>
                <a:latin typeface="Segoe UI" panose="020B0502040204020203"/>
              </a:defRPr>
            </a:pPr>
            <a:r>
              <a:t>🔴</a:t>
            </a:r>
          </a:p>
        </p:txBody>
      </p:sp>
      <p:sp>
        <p:nvSpPr>
          <p:cNvPr id="10" name="TextBox 9"/>
          <p:cNvSpPr txBox="1"/>
          <p:nvPr/>
        </p:nvSpPr>
        <p:spPr>
          <a:xfrm>
            <a:off x="1463040" y="2359152"/>
            <a:ext cx="2743200" cy="274320"/>
          </a:xfrm>
          <a:prstGeom prst="rect">
            <a:avLst/>
          </a:prstGeom>
          <a:noFill/>
        </p:spPr>
        <p:txBody>
          <a:bodyPr wrap="square">
            <a:spAutoFit/>
          </a:bodyPr>
          <a:lstStyle/>
          <a:p>
            <a:pPr algn="l">
              <a:defRPr sz="1600" b="1">
                <a:solidFill>
                  <a:srgbClr val="48CAE4"/>
                </a:solidFill>
                <a:latin typeface="Segoe UI" panose="020B0502040204020203"/>
              </a:defRPr>
            </a:pPr>
            <a:r>
              <a:t>Human Error</a:t>
            </a:r>
          </a:p>
        </p:txBody>
      </p:sp>
      <p:sp>
        <p:nvSpPr>
          <p:cNvPr id="11" name="TextBox 10"/>
          <p:cNvSpPr txBox="1"/>
          <p:nvPr/>
        </p:nvSpPr>
        <p:spPr>
          <a:xfrm>
            <a:off x="1463040" y="2633472"/>
            <a:ext cx="9601200" cy="320040"/>
          </a:xfrm>
          <a:prstGeom prst="rect">
            <a:avLst/>
          </a:prstGeom>
          <a:noFill/>
        </p:spPr>
        <p:txBody>
          <a:bodyPr wrap="square">
            <a:spAutoFit/>
          </a:bodyPr>
          <a:lstStyle/>
          <a:p>
            <a:pPr algn="l">
              <a:defRPr sz="1300" b="0">
                <a:solidFill>
                  <a:srgbClr val="E0E1DD"/>
                </a:solidFill>
                <a:latin typeface="Segoe UI" panose="020B0502040204020203"/>
              </a:defRPr>
            </a:pPr>
            <a:r>
              <a:t>Mistyped CIDR blocks, accidentally open firewall ports, wrong AZ selections</a:t>
            </a:r>
          </a:p>
        </p:txBody>
      </p:sp>
      <p:sp>
        <p:nvSpPr>
          <p:cNvPr id="12" name="Rounded Rectangle 11"/>
          <p:cNvSpPr/>
          <p:nvPr/>
        </p:nvSpPr>
        <p:spPr>
          <a:xfrm>
            <a:off x="731520" y="3108960"/>
            <a:ext cx="10698480" cy="6858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54680"/>
            <a:ext cx="457200" cy="320040"/>
          </a:xfrm>
          <a:prstGeom prst="rect">
            <a:avLst/>
          </a:prstGeom>
          <a:noFill/>
        </p:spPr>
        <p:txBody>
          <a:bodyPr wrap="square">
            <a:spAutoFit/>
          </a:bodyPr>
          <a:lstStyle/>
          <a:p>
            <a:pPr algn="l">
              <a:defRPr sz="1800" b="0">
                <a:solidFill>
                  <a:srgbClr val="FFFFFF"/>
                </a:solidFill>
                <a:latin typeface="Segoe UI" panose="020B0502040204020203"/>
              </a:defRPr>
            </a:pPr>
            <a:r>
              <a:t>🟡</a:t>
            </a:r>
          </a:p>
        </p:txBody>
      </p:sp>
      <p:sp>
        <p:nvSpPr>
          <p:cNvPr id="14" name="TextBox 13"/>
          <p:cNvSpPr txBox="1"/>
          <p:nvPr/>
        </p:nvSpPr>
        <p:spPr>
          <a:xfrm>
            <a:off x="1463040" y="3182112"/>
            <a:ext cx="2743200" cy="274320"/>
          </a:xfrm>
          <a:prstGeom prst="rect">
            <a:avLst/>
          </a:prstGeom>
          <a:noFill/>
        </p:spPr>
        <p:txBody>
          <a:bodyPr wrap="square">
            <a:spAutoFit/>
          </a:bodyPr>
          <a:lstStyle/>
          <a:p>
            <a:pPr algn="l">
              <a:defRPr sz="1600" b="1">
                <a:solidFill>
                  <a:srgbClr val="48CAE4"/>
                </a:solidFill>
                <a:latin typeface="Segoe UI" panose="020B0502040204020203"/>
              </a:defRPr>
            </a:pPr>
            <a:r>
              <a:t>No Version Control</a:t>
            </a:r>
          </a:p>
        </p:txBody>
      </p:sp>
      <p:sp>
        <p:nvSpPr>
          <p:cNvPr id="15" name="TextBox 14"/>
          <p:cNvSpPr txBox="1"/>
          <p:nvPr/>
        </p:nvSpPr>
        <p:spPr>
          <a:xfrm>
            <a:off x="1463040" y="3456432"/>
            <a:ext cx="9601200" cy="320040"/>
          </a:xfrm>
          <a:prstGeom prst="rect">
            <a:avLst/>
          </a:prstGeom>
          <a:noFill/>
        </p:spPr>
        <p:txBody>
          <a:bodyPr wrap="square">
            <a:spAutoFit/>
          </a:bodyPr>
          <a:lstStyle/>
          <a:p>
            <a:pPr algn="l">
              <a:defRPr sz="1300" b="0">
                <a:solidFill>
                  <a:srgbClr val="E0E1DD"/>
                </a:solidFill>
                <a:latin typeface="Segoe UI" panose="020B0502040204020203"/>
              </a:defRPr>
            </a:pPr>
            <a:r>
              <a:t>Cannot review, roll back, or audit infrastructure changes via Git</a:t>
            </a:r>
          </a:p>
        </p:txBody>
      </p:sp>
      <p:sp>
        <p:nvSpPr>
          <p:cNvPr id="16" name="Rounded Rectangle 15"/>
          <p:cNvSpPr/>
          <p:nvPr/>
        </p:nvSpPr>
        <p:spPr>
          <a:xfrm>
            <a:off x="731520" y="3931920"/>
            <a:ext cx="10698480" cy="6858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77640"/>
            <a:ext cx="457200" cy="320040"/>
          </a:xfrm>
          <a:prstGeom prst="rect">
            <a:avLst/>
          </a:prstGeom>
          <a:noFill/>
        </p:spPr>
        <p:txBody>
          <a:bodyPr wrap="square">
            <a:spAutoFit/>
          </a:bodyPr>
          <a:lstStyle/>
          <a:p>
            <a:pPr algn="l">
              <a:defRPr sz="1800" b="0">
                <a:solidFill>
                  <a:srgbClr val="FFFFFF"/>
                </a:solidFill>
                <a:latin typeface="Segoe UI" panose="020B0502040204020203"/>
              </a:defRPr>
            </a:pPr>
            <a:r>
              <a:t>🟡</a:t>
            </a:r>
          </a:p>
        </p:txBody>
      </p:sp>
      <p:sp>
        <p:nvSpPr>
          <p:cNvPr id="18" name="TextBox 17"/>
          <p:cNvSpPr txBox="1"/>
          <p:nvPr/>
        </p:nvSpPr>
        <p:spPr>
          <a:xfrm>
            <a:off x="1463040" y="4005072"/>
            <a:ext cx="2743200" cy="274320"/>
          </a:xfrm>
          <a:prstGeom prst="rect">
            <a:avLst/>
          </a:prstGeom>
          <a:noFill/>
        </p:spPr>
        <p:txBody>
          <a:bodyPr wrap="square">
            <a:spAutoFit/>
          </a:bodyPr>
          <a:lstStyle/>
          <a:p>
            <a:pPr algn="l">
              <a:defRPr sz="1600" b="1">
                <a:solidFill>
                  <a:srgbClr val="48CAE4"/>
                </a:solidFill>
                <a:latin typeface="Segoe UI" panose="020B0502040204020203"/>
              </a:defRPr>
            </a:pPr>
            <a:r>
              <a:t>Environment Inconsistency</a:t>
            </a:r>
          </a:p>
        </p:txBody>
      </p:sp>
      <p:sp>
        <p:nvSpPr>
          <p:cNvPr id="19" name="TextBox 18"/>
          <p:cNvSpPr txBox="1"/>
          <p:nvPr/>
        </p:nvSpPr>
        <p:spPr>
          <a:xfrm>
            <a:off x="1463040" y="4279392"/>
            <a:ext cx="9601200" cy="320040"/>
          </a:xfrm>
          <a:prstGeom prst="rect">
            <a:avLst/>
          </a:prstGeom>
          <a:noFill/>
        </p:spPr>
        <p:txBody>
          <a:bodyPr wrap="square">
            <a:spAutoFit/>
          </a:bodyPr>
          <a:lstStyle/>
          <a:p>
            <a:pPr algn="l">
              <a:defRPr sz="1300" b="0">
                <a:solidFill>
                  <a:srgbClr val="E0E1DD"/>
                </a:solidFill>
                <a:latin typeface="Segoe UI" panose="020B0502040204020203"/>
              </a:defRPr>
            </a:pPr>
            <a:r>
              <a:t>"Works in dev, breaks in production" — environments diverge silently</a:t>
            </a:r>
          </a:p>
        </p:txBody>
      </p:sp>
      <p:sp>
        <p:nvSpPr>
          <p:cNvPr id="20" name="Rounded Rectangle 19"/>
          <p:cNvSpPr/>
          <p:nvPr/>
        </p:nvSpPr>
        <p:spPr>
          <a:xfrm>
            <a:off x="731520" y="4754880"/>
            <a:ext cx="10698480" cy="6858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00600"/>
            <a:ext cx="457200" cy="320040"/>
          </a:xfrm>
          <a:prstGeom prst="rect">
            <a:avLst/>
          </a:prstGeom>
          <a:noFill/>
        </p:spPr>
        <p:txBody>
          <a:bodyPr wrap="square">
            <a:spAutoFit/>
          </a:bodyPr>
          <a:lstStyle/>
          <a:p>
            <a:pPr algn="l">
              <a:defRPr sz="1800" b="0">
                <a:solidFill>
                  <a:srgbClr val="FFFFFF"/>
                </a:solidFill>
                <a:latin typeface="Segoe UI" panose="020B0502040204020203"/>
              </a:defRPr>
            </a:pPr>
            <a:r>
              <a:t>🟠</a:t>
            </a:r>
          </a:p>
        </p:txBody>
      </p:sp>
      <p:sp>
        <p:nvSpPr>
          <p:cNvPr id="22" name="TextBox 21"/>
          <p:cNvSpPr txBox="1"/>
          <p:nvPr/>
        </p:nvSpPr>
        <p:spPr>
          <a:xfrm>
            <a:off x="1463040" y="4828032"/>
            <a:ext cx="2743200" cy="274320"/>
          </a:xfrm>
          <a:prstGeom prst="rect">
            <a:avLst/>
          </a:prstGeom>
          <a:noFill/>
        </p:spPr>
        <p:txBody>
          <a:bodyPr wrap="square">
            <a:spAutoFit/>
          </a:bodyPr>
          <a:lstStyle/>
          <a:p>
            <a:pPr algn="l">
              <a:defRPr sz="1600" b="1">
                <a:solidFill>
                  <a:srgbClr val="48CAE4"/>
                </a:solidFill>
                <a:latin typeface="Segoe UI" panose="020B0502040204020203"/>
              </a:defRPr>
            </a:pPr>
            <a:r>
              <a:t>No Peer Review</a:t>
            </a:r>
          </a:p>
        </p:txBody>
      </p:sp>
      <p:sp>
        <p:nvSpPr>
          <p:cNvPr id="23" name="TextBox 22"/>
          <p:cNvSpPr txBox="1"/>
          <p:nvPr/>
        </p:nvSpPr>
        <p:spPr>
          <a:xfrm>
            <a:off x="1463040" y="5102352"/>
            <a:ext cx="9601200" cy="320040"/>
          </a:xfrm>
          <a:prstGeom prst="rect">
            <a:avLst/>
          </a:prstGeom>
          <a:noFill/>
        </p:spPr>
        <p:txBody>
          <a:bodyPr wrap="square">
            <a:spAutoFit/>
          </a:bodyPr>
          <a:lstStyle/>
          <a:p>
            <a:pPr algn="l">
              <a:defRPr sz="1300" b="0">
                <a:solidFill>
                  <a:srgbClr val="E0E1DD"/>
                </a:solidFill>
                <a:latin typeface="Segoe UI" panose="020B0502040204020203"/>
              </a:defRPr>
            </a:pPr>
            <a:r>
              <a:t>Infrastructure changes bypass code review processes entirely</a:t>
            </a:r>
          </a:p>
        </p:txBody>
      </p:sp>
      <p:sp>
        <p:nvSpPr>
          <p:cNvPr id="24" name="Rounded Rectangle 23"/>
          <p:cNvSpPr/>
          <p:nvPr/>
        </p:nvSpPr>
        <p:spPr>
          <a:xfrm>
            <a:off x="731520" y="5577840"/>
            <a:ext cx="10698480" cy="6858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23560"/>
            <a:ext cx="457200" cy="320040"/>
          </a:xfrm>
          <a:prstGeom prst="rect">
            <a:avLst/>
          </a:prstGeom>
          <a:noFill/>
        </p:spPr>
        <p:txBody>
          <a:bodyPr wrap="square">
            <a:spAutoFit/>
          </a:bodyPr>
          <a:lstStyle/>
          <a:p>
            <a:pPr algn="l">
              <a:defRPr sz="1800" b="0">
                <a:solidFill>
                  <a:srgbClr val="FFFFFF"/>
                </a:solidFill>
                <a:latin typeface="Segoe UI" panose="020B0502040204020203"/>
              </a:defRPr>
            </a:pPr>
            <a:r>
              <a:t>🟠</a:t>
            </a:r>
          </a:p>
        </p:txBody>
      </p:sp>
      <p:sp>
        <p:nvSpPr>
          <p:cNvPr id="26" name="TextBox 25"/>
          <p:cNvSpPr txBox="1"/>
          <p:nvPr/>
        </p:nvSpPr>
        <p:spPr>
          <a:xfrm>
            <a:off x="1463040" y="5650992"/>
            <a:ext cx="2743200" cy="274320"/>
          </a:xfrm>
          <a:prstGeom prst="rect">
            <a:avLst/>
          </a:prstGeom>
          <a:noFill/>
        </p:spPr>
        <p:txBody>
          <a:bodyPr wrap="square">
            <a:spAutoFit/>
          </a:bodyPr>
          <a:lstStyle/>
          <a:p>
            <a:pPr algn="l">
              <a:defRPr sz="1600" b="1">
                <a:solidFill>
                  <a:srgbClr val="48CAE4"/>
                </a:solidFill>
                <a:latin typeface="Segoe UI" panose="020B0502040204020203"/>
              </a:defRPr>
            </a:pPr>
            <a:r>
              <a:t>Slow Replication</a:t>
            </a:r>
          </a:p>
        </p:txBody>
      </p:sp>
      <p:sp>
        <p:nvSpPr>
          <p:cNvPr id="27" name="TextBox 26"/>
          <p:cNvSpPr txBox="1"/>
          <p:nvPr/>
        </p:nvSpPr>
        <p:spPr>
          <a:xfrm>
            <a:off x="1463040" y="5925312"/>
            <a:ext cx="9601200" cy="320040"/>
          </a:xfrm>
          <a:prstGeom prst="rect">
            <a:avLst/>
          </a:prstGeom>
          <a:noFill/>
        </p:spPr>
        <p:txBody>
          <a:bodyPr wrap="square">
            <a:spAutoFit/>
          </a:bodyPr>
          <a:lstStyle/>
          <a:p>
            <a:pPr algn="l">
              <a:defRPr sz="1300" b="0">
                <a:solidFill>
                  <a:srgbClr val="E0E1DD"/>
                </a:solidFill>
                <a:latin typeface="Segoe UI" panose="020B0502040204020203"/>
              </a:defRPr>
            </a:pPr>
            <a:r>
              <a:t>Reproducing a setup takes 30–45 minutes of manual clicking</a:t>
            </a:r>
          </a:p>
        </p:txBody>
      </p:sp>
      <p:sp>
        <p:nvSpPr>
          <p:cNvPr id="28" name="TextBox 27"/>
          <p:cNvSpPr txBox="1"/>
          <p:nvPr/>
        </p:nvSpPr>
        <p:spPr>
          <a:xfrm>
            <a:off x="2286000" y="6400800"/>
            <a:ext cx="7315200" cy="365760"/>
          </a:xfrm>
          <a:prstGeom prst="rect">
            <a:avLst/>
          </a:prstGeom>
          <a:noFill/>
        </p:spPr>
        <p:txBody>
          <a:bodyPr wrap="square">
            <a:spAutoFit/>
          </a:bodyPr>
          <a:lstStyle/>
          <a:p>
            <a:pPr algn="ctr">
              <a:defRPr sz="1400" b="0">
                <a:solidFill>
                  <a:srgbClr val="8D99AE"/>
                </a:solidFill>
                <a:latin typeface="Segoe UI" panose="020B0502040204020203"/>
              </a:defRPr>
            </a:pPr>
            <a:r>
              <a:t>"If your infrastructure isn't in code, it isn't under control."</a:t>
            </a:r>
          </a:p>
        </p:txBody>
      </p:sp>
      <p:sp>
        <p:nvSpPr>
          <p:cNvPr id="29" name="TextBox 28"/>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3/15</a:t>
            </a:r>
          </a:p>
        </p:txBody>
      </p:sp>
      <p:sp>
        <p:nvSpPr>
          <p:cNvPr id="30" name="TextBox 29"/>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4572000" cy="640080"/>
          </a:xfrm>
          <a:prstGeom prst="rect">
            <a:avLst/>
          </a:prstGeom>
          <a:noFill/>
        </p:spPr>
        <p:txBody>
          <a:bodyPr wrap="square">
            <a:spAutoFit/>
          </a:bodyPr>
          <a:lstStyle/>
          <a:p>
            <a:pPr algn="l">
              <a:defRPr sz="3200" b="1">
                <a:solidFill>
                  <a:srgbClr val="FFFFFF"/>
                </a:solidFill>
                <a:latin typeface="Segoe UI" panose="020B0502040204020203"/>
              </a:defRPr>
            </a:pPr>
            <a:r>
              <a:t>PROJECT OBJECTIVES</a:t>
            </a:r>
          </a:p>
        </p:txBody>
      </p:sp>
      <p:sp>
        <p:nvSpPr>
          <p:cNvPr id="3" name="Rectangle 2"/>
          <p:cNvSpPr/>
          <p:nvPr/>
        </p:nvSpPr>
        <p:spPr>
          <a:xfrm>
            <a:off x="731520" y="109728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5" name="TextBox 4"/>
          <p:cNvSpPr txBox="1"/>
          <p:nvPr/>
        </p:nvSpPr>
        <p:spPr>
          <a:xfrm>
            <a:off x="1463040" y="1371600"/>
            <a:ext cx="3657600" cy="320040"/>
          </a:xfrm>
          <a:prstGeom prst="rect">
            <a:avLst/>
          </a:prstGeom>
          <a:noFill/>
        </p:spPr>
        <p:txBody>
          <a:bodyPr wrap="square">
            <a:spAutoFit/>
          </a:bodyPr>
          <a:lstStyle/>
          <a:p>
            <a:pPr algn="l">
              <a:defRPr sz="1700" b="1">
                <a:solidFill>
                  <a:srgbClr val="FFFFFF"/>
                </a:solidFill>
                <a:latin typeface="Segoe UI" panose="020B0502040204020203"/>
              </a:defRPr>
            </a:pPr>
            <a:r>
              <a:t>Zero ClickOps</a:t>
            </a:r>
          </a:p>
        </p:txBody>
      </p:sp>
      <p:sp>
        <p:nvSpPr>
          <p:cNvPr id="6" name="TextBox 5"/>
          <p:cNvSpPr txBox="1"/>
          <p:nvPr/>
        </p:nvSpPr>
        <p:spPr>
          <a:xfrm>
            <a:off x="5303520" y="1371600"/>
            <a:ext cx="6217920" cy="320040"/>
          </a:xfrm>
          <a:prstGeom prst="rect">
            <a:avLst/>
          </a:prstGeom>
          <a:noFill/>
        </p:spPr>
        <p:txBody>
          <a:bodyPr wrap="square">
            <a:spAutoFit/>
          </a:bodyPr>
          <a:lstStyle/>
          <a:p>
            <a:pPr algn="l">
              <a:defRPr sz="1400" b="0">
                <a:solidFill>
                  <a:srgbClr val="E0E1DD"/>
                </a:solidFill>
                <a:latin typeface="Segoe UI" panose="020B0502040204020203"/>
              </a:defRPr>
            </a:pPr>
            <a:r>
              <a:t>100% of cloud resources provisioned via declarative HCL code</a:t>
            </a:r>
          </a:p>
        </p:txBody>
      </p:sp>
      <p:sp>
        <p:nvSpPr>
          <p:cNvPr id="7" name="Rounded Rectangle 6"/>
          <p:cNvSpPr/>
          <p:nvPr/>
        </p:nvSpPr>
        <p:spPr>
          <a:xfrm>
            <a:off x="914400" y="1874520"/>
            <a:ext cx="10515600" cy="12700"/>
          </a:xfrm>
          <a:prstGeom prst="roundRect">
            <a:avLst>
              <a:gd name="adj" fmla="val 5000"/>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84832"/>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9" name="TextBox 8"/>
          <p:cNvSpPr txBox="1"/>
          <p:nvPr/>
        </p:nvSpPr>
        <p:spPr>
          <a:xfrm>
            <a:off x="1463040" y="2084832"/>
            <a:ext cx="3657600" cy="320040"/>
          </a:xfrm>
          <a:prstGeom prst="rect">
            <a:avLst/>
          </a:prstGeom>
          <a:noFill/>
        </p:spPr>
        <p:txBody>
          <a:bodyPr wrap="square">
            <a:spAutoFit/>
          </a:bodyPr>
          <a:lstStyle/>
          <a:p>
            <a:pPr algn="l">
              <a:defRPr sz="1700" b="1">
                <a:solidFill>
                  <a:srgbClr val="FFFFFF"/>
                </a:solidFill>
                <a:latin typeface="Segoe UI" panose="020B0502040204020203"/>
              </a:defRPr>
            </a:pPr>
            <a:r>
              <a:t>Modular Architecture</a:t>
            </a:r>
          </a:p>
        </p:txBody>
      </p:sp>
      <p:sp>
        <p:nvSpPr>
          <p:cNvPr id="10" name="TextBox 9"/>
          <p:cNvSpPr txBox="1"/>
          <p:nvPr/>
        </p:nvSpPr>
        <p:spPr>
          <a:xfrm>
            <a:off x="5303520" y="2084832"/>
            <a:ext cx="6217920" cy="320040"/>
          </a:xfrm>
          <a:prstGeom prst="rect">
            <a:avLst/>
          </a:prstGeom>
          <a:noFill/>
        </p:spPr>
        <p:txBody>
          <a:bodyPr wrap="square">
            <a:spAutoFit/>
          </a:bodyPr>
          <a:lstStyle/>
          <a:p>
            <a:pPr algn="l">
              <a:defRPr sz="1400" b="0">
                <a:solidFill>
                  <a:srgbClr val="E0E1DD"/>
                </a:solidFill>
                <a:latin typeface="Segoe UI" panose="020B0502040204020203"/>
              </a:defRPr>
            </a:pPr>
            <a:r>
              <a:t>3 decoupled modules: networking, compute, storage</a:t>
            </a:r>
          </a:p>
        </p:txBody>
      </p:sp>
      <p:sp>
        <p:nvSpPr>
          <p:cNvPr id="11" name="Rounded Rectangle 10"/>
          <p:cNvSpPr/>
          <p:nvPr/>
        </p:nvSpPr>
        <p:spPr>
          <a:xfrm>
            <a:off x="914400" y="2587752"/>
            <a:ext cx="10515600" cy="12700"/>
          </a:xfrm>
          <a:prstGeom prst="roundRect">
            <a:avLst>
              <a:gd name="adj" fmla="val 5000"/>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98064"/>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13" name="TextBox 12"/>
          <p:cNvSpPr txBox="1"/>
          <p:nvPr/>
        </p:nvSpPr>
        <p:spPr>
          <a:xfrm>
            <a:off x="1463040" y="2798064"/>
            <a:ext cx="3657600" cy="320040"/>
          </a:xfrm>
          <a:prstGeom prst="rect">
            <a:avLst/>
          </a:prstGeom>
          <a:noFill/>
        </p:spPr>
        <p:txBody>
          <a:bodyPr wrap="square">
            <a:spAutoFit/>
          </a:bodyPr>
          <a:lstStyle/>
          <a:p>
            <a:pPr algn="l">
              <a:defRPr sz="1700" b="1">
                <a:solidFill>
                  <a:srgbClr val="FFFFFF"/>
                </a:solidFill>
                <a:latin typeface="Segoe UI" panose="020B0502040204020203"/>
              </a:defRPr>
            </a:pPr>
            <a:r>
              <a:t>Network Isolation</a:t>
            </a:r>
          </a:p>
        </p:txBody>
      </p:sp>
      <p:sp>
        <p:nvSpPr>
          <p:cNvPr id="14" name="TextBox 13"/>
          <p:cNvSpPr txBox="1"/>
          <p:nvPr/>
        </p:nvSpPr>
        <p:spPr>
          <a:xfrm>
            <a:off x="5303520" y="2798064"/>
            <a:ext cx="6217920" cy="320040"/>
          </a:xfrm>
          <a:prstGeom prst="rect">
            <a:avLst/>
          </a:prstGeom>
          <a:noFill/>
        </p:spPr>
        <p:txBody>
          <a:bodyPr wrap="square">
            <a:spAutoFit/>
          </a:bodyPr>
          <a:lstStyle/>
          <a:p>
            <a:pPr algn="l">
              <a:defRPr sz="1400" b="0">
                <a:solidFill>
                  <a:srgbClr val="E0E1DD"/>
                </a:solidFill>
                <a:latin typeface="Segoe UI" panose="020B0502040204020203"/>
              </a:defRPr>
            </a:pPr>
            <a:r>
              <a:t>VPC with public-private subnet segmentation</a:t>
            </a:r>
          </a:p>
        </p:txBody>
      </p:sp>
      <p:sp>
        <p:nvSpPr>
          <p:cNvPr id="15" name="Rounded Rectangle 14"/>
          <p:cNvSpPr/>
          <p:nvPr/>
        </p:nvSpPr>
        <p:spPr>
          <a:xfrm>
            <a:off x="914400" y="3300984"/>
            <a:ext cx="10515600" cy="12700"/>
          </a:xfrm>
          <a:prstGeom prst="roundRect">
            <a:avLst>
              <a:gd name="adj" fmla="val 5000"/>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511296"/>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17" name="TextBox 16"/>
          <p:cNvSpPr txBox="1"/>
          <p:nvPr/>
        </p:nvSpPr>
        <p:spPr>
          <a:xfrm>
            <a:off x="1463040" y="3511296"/>
            <a:ext cx="3657600" cy="320040"/>
          </a:xfrm>
          <a:prstGeom prst="rect">
            <a:avLst/>
          </a:prstGeom>
          <a:noFill/>
        </p:spPr>
        <p:txBody>
          <a:bodyPr wrap="square">
            <a:spAutoFit/>
          </a:bodyPr>
          <a:lstStyle/>
          <a:p>
            <a:pPr algn="l">
              <a:defRPr sz="1700" b="1">
                <a:solidFill>
                  <a:srgbClr val="FFFFFF"/>
                </a:solidFill>
                <a:latin typeface="Segoe UI" panose="020B0502040204020203"/>
              </a:defRPr>
            </a:pPr>
            <a:r>
              <a:t>Automated Web Server</a:t>
            </a:r>
          </a:p>
        </p:txBody>
      </p:sp>
      <p:sp>
        <p:nvSpPr>
          <p:cNvPr id="18" name="TextBox 17"/>
          <p:cNvSpPr txBox="1"/>
          <p:nvPr/>
        </p:nvSpPr>
        <p:spPr>
          <a:xfrm>
            <a:off x="5303520" y="3511296"/>
            <a:ext cx="6217920" cy="320040"/>
          </a:xfrm>
          <a:prstGeom prst="rect">
            <a:avLst/>
          </a:prstGeom>
          <a:noFill/>
        </p:spPr>
        <p:txBody>
          <a:bodyPr wrap="square">
            <a:spAutoFit/>
          </a:bodyPr>
          <a:lstStyle/>
          <a:p>
            <a:pPr algn="l">
              <a:defRPr sz="1400" b="0">
                <a:solidFill>
                  <a:srgbClr val="E0E1DD"/>
                </a:solidFill>
                <a:latin typeface="Segoe UI" panose="020B0502040204020203"/>
              </a:defRPr>
            </a:pPr>
            <a:r>
              <a:t>Nginx bootstrapped on EC2 via unattended user-data script</a:t>
            </a:r>
          </a:p>
        </p:txBody>
      </p:sp>
      <p:sp>
        <p:nvSpPr>
          <p:cNvPr id="19" name="Rounded Rectangle 18"/>
          <p:cNvSpPr/>
          <p:nvPr/>
        </p:nvSpPr>
        <p:spPr>
          <a:xfrm>
            <a:off x="914400" y="4014216"/>
            <a:ext cx="10515600" cy="12700"/>
          </a:xfrm>
          <a:prstGeom prst="roundRect">
            <a:avLst>
              <a:gd name="adj" fmla="val 5000"/>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224528"/>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21" name="TextBox 20"/>
          <p:cNvSpPr txBox="1"/>
          <p:nvPr/>
        </p:nvSpPr>
        <p:spPr>
          <a:xfrm>
            <a:off x="1463040" y="4224528"/>
            <a:ext cx="3657600" cy="320040"/>
          </a:xfrm>
          <a:prstGeom prst="rect">
            <a:avLst/>
          </a:prstGeom>
          <a:noFill/>
        </p:spPr>
        <p:txBody>
          <a:bodyPr wrap="square">
            <a:spAutoFit/>
          </a:bodyPr>
          <a:lstStyle/>
          <a:p>
            <a:pPr algn="l">
              <a:defRPr sz="1700" b="1">
                <a:solidFill>
                  <a:srgbClr val="FFFFFF"/>
                </a:solidFill>
                <a:latin typeface="Segoe UI" panose="020B0502040204020203"/>
              </a:defRPr>
            </a:pPr>
            <a:r>
              <a:t>Zero-Trust Storage</a:t>
            </a:r>
          </a:p>
        </p:txBody>
      </p:sp>
      <p:sp>
        <p:nvSpPr>
          <p:cNvPr id="22" name="TextBox 21"/>
          <p:cNvSpPr txBox="1"/>
          <p:nvPr/>
        </p:nvSpPr>
        <p:spPr>
          <a:xfrm>
            <a:off x="5303520" y="4224528"/>
            <a:ext cx="6217920" cy="320040"/>
          </a:xfrm>
          <a:prstGeom prst="rect">
            <a:avLst/>
          </a:prstGeom>
          <a:noFill/>
        </p:spPr>
        <p:txBody>
          <a:bodyPr wrap="square">
            <a:spAutoFit/>
          </a:bodyPr>
          <a:lstStyle/>
          <a:p>
            <a:pPr algn="l">
              <a:defRPr sz="1400" b="0">
                <a:solidFill>
                  <a:srgbClr val="E0E1DD"/>
                </a:solidFill>
                <a:latin typeface="Segoe UI" panose="020B0502040204020203"/>
              </a:defRPr>
            </a:pPr>
            <a:r>
              <a:t>S3 with AES-256 encryption, versioning, public access blocked</a:t>
            </a:r>
          </a:p>
        </p:txBody>
      </p:sp>
      <p:sp>
        <p:nvSpPr>
          <p:cNvPr id="23" name="Rounded Rectangle 22"/>
          <p:cNvSpPr/>
          <p:nvPr/>
        </p:nvSpPr>
        <p:spPr>
          <a:xfrm>
            <a:off x="914400" y="4727448"/>
            <a:ext cx="10515600" cy="12700"/>
          </a:xfrm>
          <a:prstGeom prst="roundRect">
            <a:avLst>
              <a:gd name="adj" fmla="val 5000"/>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937760"/>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25" name="TextBox 24"/>
          <p:cNvSpPr txBox="1"/>
          <p:nvPr/>
        </p:nvSpPr>
        <p:spPr>
          <a:xfrm>
            <a:off x="1463040" y="4937760"/>
            <a:ext cx="3657600" cy="320040"/>
          </a:xfrm>
          <a:prstGeom prst="rect">
            <a:avLst/>
          </a:prstGeom>
          <a:noFill/>
        </p:spPr>
        <p:txBody>
          <a:bodyPr wrap="square">
            <a:spAutoFit/>
          </a:bodyPr>
          <a:lstStyle/>
          <a:p>
            <a:pPr algn="l">
              <a:defRPr sz="1700" b="1">
                <a:solidFill>
                  <a:srgbClr val="FFFFFF"/>
                </a:solidFill>
                <a:latin typeface="Segoe UI" panose="020B0502040204020203"/>
              </a:defRPr>
            </a:pPr>
            <a:r>
              <a:t>Least-Privilege Security</a:t>
            </a:r>
          </a:p>
        </p:txBody>
      </p:sp>
      <p:sp>
        <p:nvSpPr>
          <p:cNvPr id="26" name="TextBox 25"/>
          <p:cNvSpPr txBox="1"/>
          <p:nvPr/>
        </p:nvSpPr>
        <p:spPr>
          <a:xfrm>
            <a:off x="5303520" y="4937760"/>
            <a:ext cx="6217920" cy="320040"/>
          </a:xfrm>
          <a:prstGeom prst="rect">
            <a:avLst/>
          </a:prstGeom>
          <a:noFill/>
        </p:spPr>
        <p:txBody>
          <a:bodyPr wrap="square">
            <a:spAutoFit/>
          </a:bodyPr>
          <a:lstStyle/>
          <a:p>
            <a:pPr algn="l">
              <a:defRPr sz="1400" b="0">
                <a:solidFill>
                  <a:srgbClr val="E0E1DD"/>
                </a:solidFill>
                <a:latin typeface="Segoe UI" panose="020B0502040204020203"/>
              </a:defRPr>
            </a:pPr>
            <a:r>
              <a:t>Dedicated IAM user (terraform-admin), not root account</a:t>
            </a:r>
          </a:p>
        </p:txBody>
      </p:sp>
      <p:sp>
        <p:nvSpPr>
          <p:cNvPr id="27" name="Rounded Rectangle 26"/>
          <p:cNvSpPr/>
          <p:nvPr/>
        </p:nvSpPr>
        <p:spPr>
          <a:xfrm>
            <a:off x="914400" y="5440680"/>
            <a:ext cx="10515600" cy="12700"/>
          </a:xfrm>
          <a:prstGeom prst="roundRect">
            <a:avLst>
              <a:gd name="adj" fmla="val 5000"/>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650992"/>
            <a:ext cx="457200" cy="320040"/>
          </a:xfrm>
          <a:prstGeom prst="rect">
            <a:avLst/>
          </a:prstGeom>
          <a:noFill/>
        </p:spPr>
        <p:txBody>
          <a:bodyPr wrap="square">
            <a:spAutoFit/>
          </a:bodyPr>
          <a:lstStyle/>
          <a:p>
            <a:pPr algn="l">
              <a:defRPr sz="1800" b="0">
                <a:solidFill>
                  <a:srgbClr val="06D6A0"/>
                </a:solidFill>
                <a:latin typeface="Segoe UI" panose="020B0502040204020203"/>
              </a:defRPr>
            </a:pPr>
            <a:r>
              <a:t>✅</a:t>
            </a:r>
          </a:p>
        </p:txBody>
      </p:sp>
      <p:sp>
        <p:nvSpPr>
          <p:cNvPr id="29" name="TextBox 28"/>
          <p:cNvSpPr txBox="1"/>
          <p:nvPr/>
        </p:nvSpPr>
        <p:spPr>
          <a:xfrm>
            <a:off x="1463040" y="5650992"/>
            <a:ext cx="3657600" cy="320040"/>
          </a:xfrm>
          <a:prstGeom prst="rect">
            <a:avLst/>
          </a:prstGeom>
          <a:noFill/>
        </p:spPr>
        <p:txBody>
          <a:bodyPr wrap="square">
            <a:spAutoFit/>
          </a:bodyPr>
          <a:lstStyle/>
          <a:p>
            <a:pPr algn="l">
              <a:defRPr sz="1700" b="1">
                <a:solidFill>
                  <a:srgbClr val="FFFFFF"/>
                </a:solidFill>
                <a:latin typeface="Segoe UI" panose="020B0502040204020203"/>
              </a:defRPr>
            </a:pPr>
            <a:r>
              <a:t>Clean Lifecycle</a:t>
            </a:r>
          </a:p>
        </p:txBody>
      </p:sp>
      <p:sp>
        <p:nvSpPr>
          <p:cNvPr id="30" name="TextBox 29"/>
          <p:cNvSpPr txBox="1"/>
          <p:nvPr/>
        </p:nvSpPr>
        <p:spPr>
          <a:xfrm>
            <a:off x="5303520" y="5650992"/>
            <a:ext cx="6217920" cy="320040"/>
          </a:xfrm>
          <a:prstGeom prst="rect">
            <a:avLst/>
          </a:prstGeom>
          <a:noFill/>
        </p:spPr>
        <p:txBody>
          <a:bodyPr wrap="square">
            <a:spAutoFit/>
          </a:bodyPr>
          <a:lstStyle/>
          <a:p>
            <a:pPr algn="l">
              <a:defRPr sz="1400" b="0">
                <a:solidFill>
                  <a:srgbClr val="E0E1DD"/>
                </a:solidFill>
                <a:latin typeface="Segoe UI" panose="020B0502040204020203"/>
              </a:defRPr>
            </a:pPr>
            <a:r>
              <a:t>Create, verify, destroy — all via single commands</a:t>
            </a:r>
          </a:p>
        </p:txBody>
      </p:sp>
      <p:sp>
        <p:nvSpPr>
          <p:cNvPr id="31" name="TextBox 30"/>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4/15</a:t>
            </a:r>
          </a:p>
        </p:txBody>
      </p:sp>
      <p:sp>
        <p:nvSpPr>
          <p:cNvPr id="32" name="TextBox 31"/>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BACKGROUND — IaC &amp; TERRAFORM</a:t>
            </a:r>
          </a:p>
        </p:txBody>
      </p:sp>
      <p:sp>
        <p:nvSpPr>
          <p:cNvPr id="3" name="Rectangle 2"/>
          <p:cNvSpPr/>
          <p:nvPr/>
        </p:nvSpPr>
        <p:spPr>
          <a:xfrm>
            <a:off x="731520" y="1097280"/>
            <a:ext cx="22860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457200"/>
          </a:xfrm>
          <a:prstGeom prst="rect">
            <a:avLst/>
          </a:prstGeom>
          <a:noFill/>
        </p:spPr>
        <p:txBody>
          <a:bodyPr wrap="square">
            <a:spAutoFit/>
          </a:bodyPr>
          <a:lstStyle/>
          <a:p>
            <a:pPr algn="l">
              <a:defRPr sz="2000" b="1">
                <a:solidFill>
                  <a:srgbClr val="48CAE4"/>
                </a:solidFill>
                <a:latin typeface="Segoe UI" panose="020B0502040204020203"/>
              </a:defRPr>
            </a:pPr>
            <a:r>
              <a:t>Imperative vs. Declarative IaC</a:t>
            </a:r>
          </a:p>
        </p:txBody>
      </p:sp>
      <p:graphicFrame>
        <p:nvGraphicFramePr>
          <p:cNvPr id="5" name="Table 4"/>
          <p:cNvGraphicFramePr>
            <a:graphicFrameLocks noGrp="1"/>
          </p:cNvGraphicFramePr>
          <p:nvPr/>
        </p:nvGraphicFramePr>
        <p:xfrm>
          <a:off x="731520" y="1920240"/>
          <a:ext cx="5029200" cy="2286000"/>
        </p:xfrm>
        <a:graphic>
          <a:graphicData uri="http://schemas.openxmlformats.org/drawingml/2006/table">
            <a:tbl>
              <a:tblPr firstRow="1" bandRow="1">
                <a:tableStyleId>{5C22544A-7EE6-4342-B048-85BDC9FD1C3A}</a:tableStyleId>
              </a:tblPr>
              <a:tblGrid>
                <a:gridCol w="1676400"/>
                <a:gridCol w="1676400"/>
                <a:gridCol w="1676400"/>
              </a:tblGrid>
              <a:tr h="457200">
                <a:tc>
                  <a:txBody>
                    <a:bodyPr/>
                    <a:lstStyle/>
                    <a:p>
                      <a:pPr>
                        <a:defRPr sz="1300" b="1">
                          <a:solidFill>
                            <a:srgbClr val="FFFFFF"/>
                          </a:solidFill>
                          <a:latin typeface="Segoe UI" panose="020B0502040204020203"/>
                        </a:defRPr>
                      </a:pPr>
                      <a:r>
                        <a:t>Aspect</a:t>
                      </a:r>
                    </a:p>
                  </a:txBody>
                  <a:tcPr>
                    <a:solidFill>
                      <a:srgbClr val="0077B6"/>
                    </a:solidFill>
                  </a:tcPr>
                </a:tc>
                <a:tc>
                  <a:txBody>
                    <a:bodyPr/>
                    <a:lstStyle/>
                    <a:p>
                      <a:pPr>
                        <a:defRPr sz="1300" b="1">
                          <a:solidFill>
                            <a:srgbClr val="FFFFFF"/>
                          </a:solidFill>
                          <a:latin typeface="Segoe UI" panose="020B0502040204020203"/>
                        </a:defRPr>
                      </a:pPr>
                      <a:r>
                        <a:t>Imperative (CLI/Ansible)</a:t>
                      </a:r>
                    </a:p>
                  </a:txBody>
                  <a:tcPr>
                    <a:solidFill>
                      <a:srgbClr val="0077B6"/>
                    </a:solidFill>
                  </a:tcPr>
                </a:tc>
                <a:tc>
                  <a:txBody>
                    <a:bodyPr/>
                    <a:lstStyle/>
                    <a:p>
                      <a:pPr>
                        <a:defRPr sz="1300" b="1">
                          <a:solidFill>
                            <a:srgbClr val="FFFFFF"/>
                          </a:solidFill>
                          <a:latin typeface="Segoe UI" panose="020B0502040204020203"/>
                        </a:defRPr>
                      </a:pPr>
                      <a:r>
                        <a:t>Declarative (Terraform)</a:t>
                      </a:r>
                    </a:p>
                  </a:txBody>
                  <a:tcPr>
                    <a:solidFill>
                      <a:srgbClr val="0077B6"/>
                    </a:solidFill>
                  </a:tcPr>
                </a:tc>
              </a:tr>
              <a:tr h="457200">
                <a:tc>
                  <a:txBody>
                    <a:bodyPr/>
                    <a:lstStyle/>
                    <a:p>
                      <a:pPr>
                        <a:defRPr sz="1300">
                          <a:solidFill>
                            <a:srgbClr val="E0E1DD"/>
                          </a:solidFill>
                          <a:latin typeface="Segoe UI" panose="020B0502040204020203"/>
                        </a:defRPr>
                      </a:pPr>
                      <a:r>
                        <a:t>Approach</a:t>
                      </a:r>
                    </a:p>
                  </a:txBody>
                  <a:tcPr>
                    <a:solidFill>
                      <a:srgbClr val="1C2541"/>
                    </a:solidFill>
                  </a:tcPr>
                </a:tc>
                <a:tc>
                  <a:txBody>
                    <a:bodyPr/>
                    <a:lstStyle/>
                    <a:p>
                      <a:pPr>
                        <a:defRPr sz="1300">
                          <a:solidFill>
                            <a:srgbClr val="E0E1DD"/>
                          </a:solidFill>
                          <a:latin typeface="Segoe UI" panose="020B0502040204020203"/>
                        </a:defRPr>
                      </a:pPr>
                      <a:r>
                        <a:t>Step-by-step commands</a:t>
                      </a:r>
                    </a:p>
                  </a:txBody>
                  <a:tcPr>
                    <a:solidFill>
                      <a:srgbClr val="1C2541"/>
                    </a:solidFill>
                  </a:tcPr>
                </a:tc>
                <a:tc>
                  <a:txBody>
                    <a:bodyPr/>
                    <a:lstStyle/>
                    <a:p>
                      <a:pPr>
                        <a:defRPr sz="1300">
                          <a:solidFill>
                            <a:srgbClr val="E0E1DD"/>
                          </a:solidFill>
                          <a:latin typeface="Segoe UI" panose="020B0502040204020203"/>
                        </a:defRPr>
                      </a:pPr>
                      <a:r>
                        <a:t>Define desired end state</a:t>
                      </a:r>
                    </a:p>
                  </a:txBody>
                  <a:tcPr>
                    <a:solidFill>
                      <a:srgbClr val="1C2541"/>
                    </a:solidFill>
                  </a:tcPr>
                </a:tc>
              </a:tr>
              <a:tr h="457200">
                <a:tc>
                  <a:txBody>
                    <a:bodyPr/>
                    <a:lstStyle/>
                    <a:p>
                      <a:pPr>
                        <a:defRPr sz="1300">
                          <a:solidFill>
                            <a:srgbClr val="E0E1DD"/>
                          </a:solidFill>
                          <a:latin typeface="Segoe UI" panose="020B0502040204020203"/>
                        </a:defRPr>
                      </a:pPr>
                      <a:r>
                        <a:t>Ordering</a:t>
                      </a:r>
                    </a:p>
                  </a:txBody>
                  <a:tcPr>
                    <a:solidFill>
                      <a:srgbClr val="162038"/>
                    </a:solidFill>
                  </a:tcPr>
                </a:tc>
                <a:tc>
                  <a:txBody>
                    <a:bodyPr/>
                    <a:lstStyle/>
                    <a:p>
                      <a:pPr>
                        <a:defRPr sz="1300">
                          <a:solidFill>
                            <a:srgbClr val="E0E1DD"/>
                          </a:solidFill>
                          <a:latin typeface="Segoe UI" panose="020B0502040204020203"/>
                        </a:defRPr>
                      </a:pPr>
                      <a:r>
                        <a:t>Engineer specifies order</a:t>
                      </a:r>
                    </a:p>
                  </a:txBody>
                  <a:tcPr>
                    <a:solidFill>
                      <a:srgbClr val="162038"/>
                    </a:solidFill>
                  </a:tcPr>
                </a:tc>
                <a:tc>
                  <a:txBody>
                    <a:bodyPr/>
                    <a:lstStyle/>
                    <a:p>
                      <a:pPr>
                        <a:defRPr sz="1300">
                          <a:solidFill>
                            <a:srgbClr val="E0E1DD"/>
                          </a:solidFill>
                          <a:latin typeface="Segoe UI" panose="020B0502040204020203"/>
                        </a:defRPr>
                      </a:pPr>
                      <a:r>
                        <a:t>Terraform calculates DAG</a:t>
                      </a:r>
                    </a:p>
                  </a:txBody>
                  <a:tcPr>
                    <a:solidFill>
                      <a:srgbClr val="162038"/>
                    </a:solidFill>
                  </a:tcPr>
                </a:tc>
              </a:tr>
              <a:tr h="457200">
                <a:tc>
                  <a:txBody>
                    <a:bodyPr/>
                    <a:lstStyle/>
                    <a:p>
                      <a:pPr>
                        <a:defRPr sz="1300">
                          <a:solidFill>
                            <a:srgbClr val="E0E1DD"/>
                          </a:solidFill>
                          <a:latin typeface="Segoe UI" panose="020B0502040204020203"/>
                        </a:defRPr>
                      </a:pPr>
                      <a:r>
                        <a:t>Drift Detection</a:t>
                      </a:r>
                    </a:p>
                  </a:txBody>
                  <a:tcPr>
                    <a:solidFill>
                      <a:srgbClr val="1C2541"/>
                    </a:solidFill>
                  </a:tcPr>
                </a:tc>
                <a:tc>
                  <a:txBody>
                    <a:bodyPr/>
                    <a:lstStyle/>
                    <a:p>
                      <a:pPr>
                        <a:defRPr sz="1300">
                          <a:solidFill>
                            <a:srgbClr val="E0E1DD"/>
                          </a:solidFill>
                          <a:latin typeface="Segoe UI" panose="020B0502040204020203"/>
                        </a:defRPr>
                      </a:pPr>
                      <a:r>
                        <a:t>Manual</a:t>
                      </a:r>
                    </a:p>
                  </a:txBody>
                  <a:tcPr>
                    <a:solidFill>
                      <a:srgbClr val="1C2541"/>
                    </a:solidFill>
                  </a:tcPr>
                </a:tc>
                <a:tc>
                  <a:txBody>
                    <a:bodyPr/>
                    <a:lstStyle/>
                    <a:p>
                      <a:pPr>
                        <a:defRPr sz="1300">
                          <a:solidFill>
                            <a:srgbClr val="E0E1DD"/>
                          </a:solidFill>
                          <a:latin typeface="Segoe UI" panose="020B0502040204020203"/>
                        </a:defRPr>
                      </a:pPr>
                      <a:r>
                        <a:t>Automated (terraform plan)</a:t>
                      </a:r>
                    </a:p>
                  </a:txBody>
                  <a:tcPr>
                    <a:solidFill>
                      <a:srgbClr val="1C2541"/>
                    </a:solidFill>
                  </a:tcPr>
                </a:tc>
              </a:tr>
              <a:tr h="457200">
                <a:tc>
                  <a:txBody>
                    <a:bodyPr/>
                    <a:lstStyle/>
                    <a:p>
                      <a:pPr>
                        <a:defRPr sz="1300">
                          <a:solidFill>
                            <a:srgbClr val="E0E1DD"/>
                          </a:solidFill>
                          <a:latin typeface="Segoe UI" panose="020B0502040204020203"/>
                        </a:defRPr>
                      </a:pPr>
                      <a:r>
                        <a:t>Idempotency</a:t>
                      </a:r>
                    </a:p>
                  </a:txBody>
                  <a:tcPr>
                    <a:solidFill>
                      <a:srgbClr val="162038"/>
                    </a:solidFill>
                  </a:tcPr>
                </a:tc>
                <a:tc>
                  <a:txBody>
                    <a:bodyPr/>
                    <a:lstStyle/>
                    <a:p>
                      <a:pPr>
                        <a:defRPr sz="1300">
                          <a:solidFill>
                            <a:srgbClr val="E0E1DD"/>
                          </a:solidFill>
                          <a:latin typeface="Segoe UI" panose="020B0502040204020203"/>
                        </a:defRPr>
                      </a:pPr>
                      <a:r>
                        <a:t>Must be engineered</a:t>
                      </a:r>
                    </a:p>
                  </a:txBody>
                  <a:tcPr>
                    <a:solidFill>
                      <a:srgbClr val="162038"/>
                    </a:solidFill>
                  </a:tcPr>
                </a:tc>
                <a:tc>
                  <a:txBody>
                    <a:bodyPr/>
                    <a:lstStyle/>
                    <a:p>
                      <a:pPr>
                        <a:defRPr sz="1300">
                          <a:solidFill>
                            <a:srgbClr val="E0E1DD"/>
                          </a:solidFill>
                          <a:latin typeface="Segoe UI" panose="020B0502040204020203"/>
                        </a:defRPr>
                      </a:pPr>
                      <a:r>
                        <a:t>Built-in</a:t>
                      </a:r>
                    </a:p>
                  </a:txBody>
                  <a:tcPr>
                    <a:solidFill>
                      <a:srgbClr val="162038"/>
                    </a:solidFill>
                  </a:tcPr>
                </a:tc>
              </a:tr>
            </a:tbl>
          </a:graphicData>
        </a:graphic>
      </p:graphicFrame>
      <p:sp>
        <p:nvSpPr>
          <p:cNvPr id="6" name="TextBox 5"/>
          <p:cNvSpPr txBox="1"/>
          <p:nvPr/>
        </p:nvSpPr>
        <p:spPr>
          <a:xfrm>
            <a:off x="6400800" y="1371600"/>
            <a:ext cx="5029200" cy="457200"/>
          </a:xfrm>
          <a:prstGeom prst="rect">
            <a:avLst/>
          </a:prstGeom>
          <a:noFill/>
        </p:spPr>
        <p:txBody>
          <a:bodyPr wrap="square">
            <a:spAutoFit/>
          </a:bodyPr>
          <a:lstStyle/>
          <a:p>
            <a:pPr algn="l">
              <a:defRPr sz="2000" b="1">
                <a:solidFill>
                  <a:srgbClr val="48CAE4"/>
                </a:solidFill>
                <a:latin typeface="Segoe UI" panose="020B0502040204020203"/>
              </a:defRPr>
            </a:pPr>
            <a:r>
              <a:t>Why Terraform?</a:t>
            </a:r>
          </a:p>
        </p:txBody>
      </p:sp>
      <p:graphicFrame>
        <p:nvGraphicFramePr>
          <p:cNvPr id="7" name="Table 6"/>
          <p:cNvGraphicFramePr>
            <a:graphicFrameLocks noGrp="1"/>
          </p:cNvGraphicFramePr>
          <p:nvPr/>
        </p:nvGraphicFramePr>
        <p:xfrm>
          <a:off x="6400800" y="1920240"/>
          <a:ext cx="5303520" cy="2286000"/>
        </p:xfrm>
        <a:graphic>
          <a:graphicData uri="http://schemas.openxmlformats.org/drawingml/2006/table">
            <a:tbl>
              <a:tblPr firstRow="1" bandRow="1">
                <a:tableStyleId>{5C22544A-7EE6-4342-B048-85BDC9FD1C3A}</a:tableStyleId>
              </a:tblPr>
              <a:tblGrid>
                <a:gridCol w="1325880"/>
                <a:gridCol w="1325880"/>
                <a:gridCol w="1325880"/>
                <a:gridCol w="1325880"/>
              </a:tblGrid>
              <a:tr h="457200">
                <a:tc>
                  <a:txBody>
                    <a:bodyPr/>
                    <a:lstStyle/>
                    <a:p>
                      <a:pPr>
                        <a:defRPr sz="1300" b="1">
                          <a:solidFill>
                            <a:srgbClr val="FFFFFF"/>
                          </a:solidFill>
                          <a:latin typeface="Segoe UI" panose="020B0502040204020203"/>
                        </a:defRPr>
                      </a:pPr>
                      <a:r>
                        <a:t>Criterion</a:t>
                      </a:r>
                    </a:p>
                  </a:txBody>
                  <a:tcPr>
                    <a:solidFill>
                      <a:srgbClr val="0077B6"/>
                    </a:solidFill>
                  </a:tcPr>
                </a:tc>
                <a:tc>
                  <a:txBody>
                    <a:bodyPr/>
                    <a:lstStyle/>
                    <a:p>
                      <a:pPr>
                        <a:defRPr sz="1300" b="1">
                          <a:solidFill>
                            <a:srgbClr val="FFFFFF"/>
                          </a:solidFill>
                          <a:latin typeface="Segoe UI" panose="020B0502040204020203"/>
                        </a:defRPr>
                      </a:pPr>
                      <a:r>
                        <a:t>Terraform</a:t>
                      </a:r>
                    </a:p>
                  </a:txBody>
                  <a:tcPr>
                    <a:solidFill>
                      <a:srgbClr val="0077B6"/>
                    </a:solidFill>
                  </a:tcPr>
                </a:tc>
                <a:tc>
                  <a:txBody>
                    <a:bodyPr/>
                    <a:lstStyle/>
                    <a:p>
                      <a:pPr>
                        <a:defRPr sz="1300" b="1">
                          <a:solidFill>
                            <a:srgbClr val="FFFFFF"/>
                          </a:solidFill>
                          <a:latin typeface="Segoe UI" panose="020B0502040204020203"/>
                        </a:defRPr>
                      </a:pPr>
                      <a:r>
                        <a:t>CloudFormation</a:t>
                      </a:r>
                    </a:p>
                  </a:txBody>
                  <a:tcPr>
                    <a:solidFill>
                      <a:srgbClr val="0077B6"/>
                    </a:solidFill>
                  </a:tcPr>
                </a:tc>
                <a:tc>
                  <a:txBody>
                    <a:bodyPr/>
                    <a:lstStyle/>
                    <a:p>
                      <a:pPr>
                        <a:defRPr sz="1300" b="1">
                          <a:solidFill>
                            <a:srgbClr val="FFFFFF"/>
                          </a:solidFill>
                          <a:latin typeface="Segoe UI" panose="020B0502040204020203"/>
                        </a:defRPr>
                      </a:pPr>
                      <a:r>
                        <a:t>Ansible</a:t>
                      </a:r>
                    </a:p>
                  </a:txBody>
                  <a:tcPr>
                    <a:solidFill>
                      <a:srgbClr val="0077B6"/>
                    </a:solidFill>
                  </a:tcPr>
                </a:tc>
              </a:tr>
              <a:tr h="457200">
                <a:tc>
                  <a:txBody>
                    <a:bodyPr/>
                    <a:lstStyle/>
                    <a:p>
                      <a:pPr>
                        <a:defRPr sz="1300">
                          <a:solidFill>
                            <a:srgbClr val="E0E1DD"/>
                          </a:solidFill>
                          <a:latin typeface="Segoe UI" panose="020B0502040204020203"/>
                        </a:defRPr>
                      </a:pPr>
                      <a:r>
                        <a:t>Multi-Cloud</a:t>
                      </a:r>
                    </a:p>
                  </a:txBody>
                  <a:tcPr>
                    <a:solidFill>
                      <a:srgbClr val="1C2541"/>
                    </a:solidFill>
                  </a:tcPr>
                </a:tc>
                <a:tc>
                  <a:txBody>
                    <a:bodyPr/>
                    <a:lstStyle/>
                    <a:p>
                      <a:pPr>
                        <a:defRPr sz="1300">
                          <a:solidFill>
                            <a:srgbClr val="E0E1DD"/>
                          </a:solidFill>
                          <a:latin typeface="Segoe UI" panose="020B0502040204020203"/>
                        </a:defRPr>
                      </a:pPr>
                      <a:r>
                        <a:t>✅ AWS/Azure/GCP</a:t>
                      </a:r>
                    </a:p>
                  </a:txBody>
                  <a:tcPr>
                    <a:solidFill>
                      <a:srgbClr val="1C2541"/>
                    </a:solidFill>
                  </a:tcPr>
                </a:tc>
                <a:tc>
                  <a:txBody>
                    <a:bodyPr/>
                    <a:lstStyle/>
                    <a:p>
                      <a:pPr>
                        <a:defRPr sz="1300">
                          <a:solidFill>
                            <a:srgbClr val="E0E1DD"/>
                          </a:solidFill>
                          <a:latin typeface="Segoe UI" panose="020B0502040204020203"/>
                        </a:defRPr>
                      </a:pPr>
                      <a:r>
                        <a:t>❌ AWS only</a:t>
                      </a:r>
                    </a:p>
                  </a:txBody>
                  <a:tcPr>
                    <a:solidFill>
                      <a:srgbClr val="1C2541"/>
                    </a:solidFill>
                  </a:tcPr>
                </a:tc>
                <a:tc>
                  <a:txBody>
                    <a:bodyPr/>
                    <a:lstStyle/>
                    <a:p>
                      <a:pPr>
                        <a:defRPr sz="1300">
                          <a:solidFill>
                            <a:srgbClr val="E0E1DD"/>
                          </a:solidFill>
                          <a:latin typeface="Segoe UI" panose="020B0502040204020203"/>
                        </a:defRPr>
                      </a:pPr>
                      <a:r>
                        <a:t>⚠️ Limited</a:t>
                      </a:r>
                    </a:p>
                  </a:txBody>
                  <a:tcPr>
                    <a:solidFill>
                      <a:srgbClr val="1C2541"/>
                    </a:solidFill>
                  </a:tcPr>
                </a:tc>
              </a:tr>
              <a:tr h="457200">
                <a:tc>
                  <a:txBody>
                    <a:bodyPr/>
                    <a:lstStyle/>
                    <a:p>
                      <a:pPr>
                        <a:defRPr sz="1300">
                          <a:solidFill>
                            <a:srgbClr val="E0E1DD"/>
                          </a:solidFill>
                          <a:latin typeface="Segoe UI" panose="020B0502040204020203"/>
                        </a:defRPr>
                      </a:pPr>
                      <a:r>
                        <a:t>Language</a:t>
                      </a:r>
                    </a:p>
                  </a:txBody>
                  <a:tcPr>
                    <a:solidFill>
                      <a:srgbClr val="162038"/>
                    </a:solidFill>
                  </a:tcPr>
                </a:tc>
                <a:tc>
                  <a:txBody>
                    <a:bodyPr/>
                    <a:lstStyle/>
                    <a:p>
                      <a:pPr>
                        <a:defRPr sz="1300">
                          <a:solidFill>
                            <a:srgbClr val="E0E1DD"/>
                          </a:solidFill>
                          <a:latin typeface="Segoe UI" panose="020B0502040204020203"/>
                        </a:defRPr>
                      </a:pPr>
                      <a:r>
                        <a:t>HCL (purpose-built)</a:t>
                      </a:r>
                    </a:p>
                  </a:txBody>
                  <a:tcPr>
                    <a:solidFill>
                      <a:srgbClr val="162038"/>
                    </a:solidFill>
                  </a:tcPr>
                </a:tc>
                <a:tc>
                  <a:txBody>
                    <a:bodyPr/>
                    <a:lstStyle/>
                    <a:p>
                      <a:pPr>
                        <a:defRPr sz="1300">
                          <a:solidFill>
                            <a:srgbClr val="E0E1DD"/>
                          </a:solidFill>
                          <a:latin typeface="Segoe UI" panose="020B0502040204020203"/>
                        </a:defRPr>
                      </a:pPr>
                      <a:r>
                        <a:t>JSON/YAML</a:t>
                      </a:r>
                    </a:p>
                  </a:txBody>
                  <a:tcPr>
                    <a:solidFill>
                      <a:srgbClr val="162038"/>
                    </a:solidFill>
                  </a:tcPr>
                </a:tc>
                <a:tc>
                  <a:txBody>
                    <a:bodyPr/>
                    <a:lstStyle/>
                    <a:p>
                      <a:pPr>
                        <a:defRPr sz="1300">
                          <a:solidFill>
                            <a:srgbClr val="E0E1DD"/>
                          </a:solidFill>
                          <a:latin typeface="Segoe UI" panose="020B0502040204020203"/>
                        </a:defRPr>
                      </a:pPr>
                      <a:r>
                        <a:t>YAML</a:t>
                      </a:r>
                    </a:p>
                  </a:txBody>
                  <a:tcPr>
                    <a:solidFill>
                      <a:srgbClr val="162038"/>
                    </a:solidFill>
                  </a:tcPr>
                </a:tc>
              </a:tr>
              <a:tr h="457200">
                <a:tc>
                  <a:txBody>
                    <a:bodyPr/>
                    <a:lstStyle/>
                    <a:p>
                      <a:pPr>
                        <a:defRPr sz="1300">
                          <a:solidFill>
                            <a:srgbClr val="E0E1DD"/>
                          </a:solidFill>
                          <a:latin typeface="Segoe UI" panose="020B0502040204020203"/>
                        </a:defRPr>
                      </a:pPr>
                      <a:r>
                        <a:t>State Mgmt</a:t>
                      </a:r>
                    </a:p>
                  </a:txBody>
                  <a:tcPr>
                    <a:solidFill>
                      <a:srgbClr val="1C2541"/>
                    </a:solidFill>
                  </a:tcPr>
                </a:tc>
                <a:tc>
                  <a:txBody>
                    <a:bodyPr/>
                    <a:lstStyle/>
                    <a:p>
                      <a:pPr>
                        <a:defRPr sz="1300">
                          <a:solidFill>
                            <a:srgbClr val="E0E1DD"/>
                          </a:solidFill>
                          <a:latin typeface="Segoe UI" panose="020B0502040204020203"/>
                        </a:defRPr>
                      </a:pPr>
                      <a:r>
                        <a:t>Built-in</a:t>
                      </a:r>
                    </a:p>
                  </a:txBody>
                  <a:tcPr>
                    <a:solidFill>
                      <a:srgbClr val="1C2541"/>
                    </a:solidFill>
                  </a:tcPr>
                </a:tc>
                <a:tc>
                  <a:txBody>
                    <a:bodyPr/>
                    <a:lstStyle/>
                    <a:p>
                      <a:pPr>
                        <a:defRPr sz="1300">
                          <a:solidFill>
                            <a:srgbClr val="E0E1DD"/>
                          </a:solidFill>
                          <a:latin typeface="Segoe UI" panose="020B0502040204020203"/>
                        </a:defRPr>
                      </a:pPr>
                      <a:r>
                        <a:t>AWS-managed</a:t>
                      </a:r>
                    </a:p>
                  </a:txBody>
                  <a:tcPr>
                    <a:solidFill>
                      <a:srgbClr val="1C2541"/>
                    </a:solidFill>
                  </a:tcPr>
                </a:tc>
                <a:tc>
                  <a:txBody>
                    <a:bodyPr/>
                    <a:lstStyle/>
                    <a:p>
                      <a:pPr>
                        <a:defRPr sz="1300">
                          <a:solidFill>
                            <a:srgbClr val="E0E1DD"/>
                          </a:solidFill>
                          <a:latin typeface="Segoe UI" panose="020B0502040204020203"/>
                        </a:defRPr>
                      </a:pPr>
                      <a:r>
                        <a:t>None</a:t>
                      </a:r>
                    </a:p>
                  </a:txBody>
                  <a:tcPr>
                    <a:solidFill>
                      <a:srgbClr val="1C2541"/>
                    </a:solidFill>
                  </a:tcPr>
                </a:tc>
              </a:tr>
              <a:tr h="457200">
                <a:tc>
                  <a:txBody>
                    <a:bodyPr/>
                    <a:lstStyle/>
                    <a:p>
                      <a:pPr>
                        <a:defRPr sz="1300">
                          <a:solidFill>
                            <a:srgbClr val="E0E1DD"/>
                          </a:solidFill>
                          <a:latin typeface="Segoe UI" panose="020B0502040204020203"/>
                        </a:defRPr>
                      </a:pPr>
                      <a:r>
                        <a:t>Adoption</a:t>
                      </a:r>
                    </a:p>
                  </a:txBody>
                  <a:tcPr>
                    <a:solidFill>
                      <a:srgbClr val="162038"/>
                    </a:solidFill>
                  </a:tcPr>
                </a:tc>
                <a:tc>
                  <a:txBody>
                    <a:bodyPr/>
                    <a:lstStyle/>
                    <a:p>
                      <a:pPr>
                        <a:defRPr sz="1300">
                          <a:solidFill>
                            <a:srgbClr val="E0E1DD"/>
                          </a:solidFill>
                          <a:latin typeface="Segoe UI" panose="020B0502040204020203"/>
                        </a:defRPr>
                      </a:pPr>
                      <a:r>
                        <a:t>#1 globally</a:t>
                      </a:r>
                    </a:p>
                  </a:txBody>
                  <a:tcPr>
                    <a:solidFill>
                      <a:srgbClr val="162038"/>
                    </a:solidFill>
                  </a:tcPr>
                </a:tc>
                <a:tc>
                  <a:txBody>
                    <a:bodyPr/>
                    <a:lstStyle/>
                    <a:p>
                      <a:pPr>
                        <a:defRPr sz="1300">
                          <a:solidFill>
                            <a:srgbClr val="E0E1DD"/>
                          </a:solidFill>
                          <a:latin typeface="Segoe UI" panose="020B0502040204020203"/>
                        </a:defRPr>
                      </a:pPr>
                      <a:r>
                        <a:t>AWS-centric</a:t>
                      </a:r>
                    </a:p>
                  </a:txBody>
                  <a:tcPr>
                    <a:solidFill>
                      <a:srgbClr val="162038"/>
                    </a:solidFill>
                  </a:tcPr>
                </a:tc>
                <a:tc>
                  <a:txBody>
                    <a:bodyPr/>
                    <a:lstStyle/>
                    <a:p>
                      <a:pPr>
                        <a:defRPr sz="1300">
                          <a:solidFill>
                            <a:srgbClr val="E0E1DD"/>
                          </a:solidFill>
                          <a:latin typeface="Segoe UI" panose="020B0502040204020203"/>
                        </a:defRPr>
                      </a:pPr>
                      <a:r>
                        <a:t>Config mgmt</a:t>
                      </a:r>
                    </a:p>
                  </a:txBody>
                  <a:tcPr>
                    <a:solidFill>
                      <a:srgbClr val="162038"/>
                    </a:solidFill>
                  </a:tcPr>
                </a:tc>
              </a:tr>
            </a:tbl>
          </a:graphicData>
        </a:graphic>
      </p:graphicFrame>
      <p:sp>
        <p:nvSpPr>
          <p:cNvPr id="8" name="Rounded Rectangle 7"/>
          <p:cNvSpPr/>
          <p:nvPr/>
        </p:nvSpPr>
        <p:spPr>
          <a:xfrm>
            <a:off x="731520" y="4754880"/>
            <a:ext cx="10698480" cy="1371600"/>
          </a:xfrm>
          <a:prstGeom prst="roundRect">
            <a:avLst>
              <a:gd name="adj" fmla="val 5000"/>
            </a:avLst>
          </a:prstGeom>
          <a:solidFill>
            <a:srgbClr val="1C2541"/>
          </a:solidFill>
          <a:ln w="12700">
            <a:solidFill>
              <a:srgbClr val="48C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46320"/>
            <a:ext cx="10241280" cy="352425"/>
          </a:xfrm>
          <a:prstGeom prst="rect">
            <a:avLst/>
          </a:prstGeom>
          <a:noFill/>
        </p:spPr>
        <p:txBody>
          <a:bodyPr wrap="square">
            <a:spAutoFit/>
          </a:bodyPr>
          <a:lstStyle/>
          <a:p>
            <a:pPr algn="l">
              <a:defRPr sz="1700" b="1">
                <a:solidFill>
                  <a:srgbClr val="48CAE4"/>
                </a:solidFill>
                <a:latin typeface="Segoe UI" panose="020B0502040204020203"/>
              </a:defRPr>
            </a:pPr>
            <a:r>
              <a:t>🔑 </a:t>
            </a:r>
            <a:r>
              <a:rPr lang="en-IN"/>
              <a:t> </a:t>
            </a:r>
            <a:r>
              <a:t>Key Concept: Terraform State File</a:t>
            </a:r>
          </a:p>
        </p:txBody>
      </p:sp>
      <p:sp>
        <p:nvSpPr>
          <p:cNvPr id="10" name="TextBox 9"/>
          <p:cNvSpPr txBox="1"/>
          <p:nvPr/>
        </p:nvSpPr>
        <p:spPr>
          <a:xfrm>
            <a:off x="1005840" y="5303520"/>
            <a:ext cx="10241280" cy="731520"/>
          </a:xfrm>
          <a:prstGeom prst="rect">
            <a:avLst/>
          </a:prstGeom>
          <a:noFill/>
        </p:spPr>
        <p:txBody>
          <a:bodyPr wrap="square">
            <a:spAutoFit/>
          </a:bodyPr>
          <a:lstStyle/>
          <a:p>
            <a:pPr algn="l">
              <a:defRPr sz="1300" b="0">
                <a:solidFill>
                  <a:srgbClr val="E0E1DD"/>
                </a:solidFill>
                <a:latin typeface="Segoe UI" panose="020B0502040204020203"/>
              </a:defRPr>
            </a:pPr>
            <a:r>
              <a:t>Terraform maintains a state file (terraform.tfstate) that maps HCL definitions to real AWS resource IDs. During 'terraform plan', it queries AWS APIs, compares actual vs. desired state, and generates an execution plan — enabling automatic drift detection.</a:t>
            </a:r>
          </a:p>
        </p:txBody>
      </p:sp>
      <p:sp>
        <p:nvSpPr>
          <p:cNvPr id="11" name="TextBox 10"/>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5/15</a:t>
            </a:r>
          </a:p>
        </p:txBody>
      </p:sp>
      <p:sp>
        <p:nvSpPr>
          <p:cNvPr id="12" name="TextBox 11"/>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SYSTEM ARCHITECTURE</a:t>
            </a:r>
          </a:p>
        </p:txBody>
      </p:sp>
      <p:sp>
        <p:nvSpPr>
          <p:cNvPr id="3" name="TextBox 2"/>
          <p:cNvSpPr txBox="1"/>
          <p:nvPr/>
        </p:nvSpPr>
        <p:spPr>
          <a:xfrm>
            <a:off x="731520" y="1005840"/>
            <a:ext cx="7315200" cy="365760"/>
          </a:xfrm>
          <a:prstGeom prst="rect">
            <a:avLst/>
          </a:prstGeom>
          <a:noFill/>
        </p:spPr>
        <p:txBody>
          <a:bodyPr wrap="square">
            <a:spAutoFit/>
          </a:bodyPr>
          <a:lstStyle/>
          <a:p>
            <a:pPr algn="l">
              <a:defRPr sz="1600" b="0">
                <a:solidFill>
                  <a:srgbClr val="8D99AE"/>
                </a:solidFill>
                <a:latin typeface="Segoe UI" panose="020B0502040204020203"/>
              </a:defRPr>
            </a:pPr>
            <a:r>
              <a:t>AWS Region: ap-south-1 (Mumbai)</a:t>
            </a:r>
          </a:p>
        </p:txBody>
      </p:sp>
      <p:sp>
        <p:nvSpPr>
          <p:cNvPr id="4" name="Rectangle 3"/>
          <p:cNvSpPr/>
          <p:nvPr/>
        </p:nvSpPr>
        <p:spPr>
          <a:xfrm>
            <a:off x="731520" y="137160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698480" cy="4114800"/>
          </a:xfrm>
          <a:prstGeom prst="roundRect">
            <a:avLst>
              <a:gd name="adj" fmla="val 5000"/>
            </a:avLst>
          </a:prstGeom>
          <a:solidFill>
            <a:srgbClr val="141E33"/>
          </a:solidFill>
          <a:ln w="25400">
            <a:solidFill>
              <a:srgbClr val="48C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657600" cy="365760"/>
          </a:xfrm>
          <a:prstGeom prst="rect">
            <a:avLst/>
          </a:prstGeom>
          <a:noFill/>
        </p:spPr>
        <p:txBody>
          <a:bodyPr wrap="square">
            <a:spAutoFit/>
          </a:bodyPr>
          <a:lstStyle/>
          <a:p>
            <a:pPr algn="l">
              <a:defRPr sz="1800" b="1">
                <a:solidFill>
                  <a:srgbClr val="48CAE4"/>
                </a:solidFill>
                <a:latin typeface="Segoe UI" panose="020B0502040204020203"/>
              </a:defRPr>
            </a:pPr>
            <a:r>
              <a:t>VPC — 10.0.0.0/16</a:t>
            </a:r>
          </a:p>
        </p:txBody>
      </p:sp>
      <p:sp>
        <p:nvSpPr>
          <p:cNvPr id="7" name="Rounded Rectangle 6"/>
          <p:cNvSpPr/>
          <p:nvPr/>
        </p:nvSpPr>
        <p:spPr>
          <a:xfrm>
            <a:off x="1097280" y="2286000"/>
            <a:ext cx="4572000" cy="2926080"/>
          </a:xfrm>
          <a:prstGeom prst="roundRect">
            <a:avLst>
              <a:gd name="adj" fmla="val 5000"/>
            </a:avLst>
          </a:prstGeom>
          <a:solidFill>
            <a:srgbClr val="1C2541"/>
          </a:solidFill>
          <a:ln w="254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377440"/>
            <a:ext cx="4114800" cy="320040"/>
          </a:xfrm>
          <a:prstGeom prst="rect">
            <a:avLst/>
          </a:prstGeom>
          <a:noFill/>
        </p:spPr>
        <p:txBody>
          <a:bodyPr wrap="square">
            <a:spAutoFit/>
          </a:bodyPr>
          <a:lstStyle/>
          <a:p>
            <a:pPr algn="l">
              <a:defRPr sz="1400" b="1">
                <a:solidFill>
                  <a:srgbClr val="06D6A0"/>
                </a:solidFill>
                <a:latin typeface="Segoe UI" panose="020B0502040204020203"/>
              </a:defRPr>
            </a:pPr>
            <a:r>
              <a:t>PUBLIC SUBNET — 10.0.1.0/24</a:t>
            </a:r>
          </a:p>
        </p:txBody>
      </p:sp>
      <p:sp>
        <p:nvSpPr>
          <p:cNvPr id="9" name="Rounded Rectangle 8"/>
          <p:cNvSpPr/>
          <p:nvPr/>
        </p:nvSpPr>
        <p:spPr>
          <a:xfrm>
            <a:off x="1371600" y="2926080"/>
            <a:ext cx="4023360" cy="1828800"/>
          </a:xfrm>
          <a:prstGeom prst="roundRect">
            <a:avLst>
              <a:gd name="adj" fmla="val 5000"/>
            </a:avLst>
          </a:prstGeom>
          <a:solidFill>
            <a:srgbClr val="10182C"/>
          </a:solidFill>
          <a:ln w="12700">
            <a:solidFill>
              <a:srgbClr val="3A50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3063240"/>
            <a:ext cx="3657600" cy="320040"/>
          </a:xfrm>
          <a:prstGeom prst="rect">
            <a:avLst/>
          </a:prstGeom>
          <a:noFill/>
        </p:spPr>
        <p:txBody>
          <a:bodyPr wrap="square">
            <a:spAutoFit/>
          </a:bodyPr>
          <a:lstStyle/>
          <a:p>
            <a:pPr algn="l">
              <a:defRPr sz="1300" b="0">
                <a:solidFill>
                  <a:srgbClr val="E0E1DD"/>
                </a:solidFill>
                <a:latin typeface="Segoe UI" panose="020B0502040204020203"/>
              </a:defRPr>
            </a:pPr>
            <a:r>
              <a:t>⚡ EC2 Instance (t3.micro)</a:t>
            </a:r>
          </a:p>
        </p:txBody>
      </p:sp>
      <p:sp>
        <p:nvSpPr>
          <p:cNvPr id="11" name="TextBox 10"/>
          <p:cNvSpPr txBox="1"/>
          <p:nvPr/>
        </p:nvSpPr>
        <p:spPr>
          <a:xfrm>
            <a:off x="1554480" y="3429000"/>
            <a:ext cx="3657600" cy="320040"/>
          </a:xfrm>
          <a:prstGeom prst="rect">
            <a:avLst/>
          </a:prstGeom>
          <a:noFill/>
        </p:spPr>
        <p:txBody>
          <a:bodyPr wrap="square">
            <a:spAutoFit/>
          </a:bodyPr>
          <a:lstStyle/>
          <a:p>
            <a:pPr algn="l">
              <a:defRPr sz="1300" b="0">
                <a:solidFill>
                  <a:srgbClr val="E0E1DD"/>
                </a:solidFill>
                <a:latin typeface="Segoe UI" panose="020B0502040204020203"/>
              </a:defRPr>
            </a:pPr>
            <a:r>
              <a:t>🖥️ Amazon Linux 2023</a:t>
            </a:r>
          </a:p>
        </p:txBody>
      </p:sp>
      <p:sp>
        <p:nvSpPr>
          <p:cNvPr id="12" name="TextBox 11"/>
          <p:cNvSpPr txBox="1"/>
          <p:nvPr/>
        </p:nvSpPr>
        <p:spPr>
          <a:xfrm>
            <a:off x="1554480" y="3794760"/>
            <a:ext cx="3657600" cy="320040"/>
          </a:xfrm>
          <a:prstGeom prst="rect">
            <a:avLst/>
          </a:prstGeom>
          <a:noFill/>
        </p:spPr>
        <p:txBody>
          <a:bodyPr wrap="square">
            <a:spAutoFit/>
          </a:bodyPr>
          <a:lstStyle/>
          <a:p>
            <a:pPr algn="l">
              <a:defRPr sz="1300" b="0">
                <a:solidFill>
                  <a:srgbClr val="E0E1DD"/>
                </a:solidFill>
                <a:latin typeface="Segoe UI" panose="020B0502040204020203"/>
              </a:defRPr>
            </a:pPr>
            <a:r>
              <a:t>🌐 Nginx Web Server (Port 80)</a:t>
            </a:r>
          </a:p>
        </p:txBody>
      </p:sp>
      <p:sp>
        <p:nvSpPr>
          <p:cNvPr id="13" name="TextBox 12"/>
          <p:cNvSpPr txBox="1"/>
          <p:nvPr/>
        </p:nvSpPr>
        <p:spPr>
          <a:xfrm>
            <a:off x="1554480" y="4160520"/>
            <a:ext cx="3657600" cy="320040"/>
          </a:xfrm>
          <a:prstGeom prst="rect">
            <a:avLst/>
          </a:prstGeom>
          <a:noFill/>
        </p:spPr>
        <p:txBody>
          <a:bodyPr wrap="square">
            <a:spAutoFit/>
          </a:bodyPr>
          <a:lstStyle/>
          <a:p>
            <a:pPr algn="l">
              <a:defRPr sz="1300" b="0">
                <a:solidFill>
                  <a:srgbClr val="E0E1DD"/>
                </a:solidFill>
                <a:latin typeface="Segoe UI" panose="020B0502040204020203"/>
              </a:defRPr>
            </a:pPr>
            <a:r>
              <a:t>📌 Elastic IP (Static Public IPv4)</a:t>
            </a:r>
          </a:p>
        </p:txBody>
      </p:sp>
      <p:sp>
        <p:nvSpPr>
          <p:cNvPr id="14" name="Rounded Rectangle 13"/>
          <p:cNvSpPr/>
          <p:nvPr/>
        </p:nvSpPr>
        <p:spPr>
          <a:xfrm>
            <a:off x="1371600" y="4846320"/>
            <a:ext cx="4023360" cy="32004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4846320"/>
            <a:ext cx="3840480" cy="320040"/>
          </a:xfrm>
          <a:prstGeom prst="rect">
            <a:avLst/>
          </a:prstGeom>
          <a:noFill/>
        </p:spPr>
        <p:txBody>
          <a:bodyPr wrap="square">
            <a:spAutoFit/>
          </a:bodyPr>
          <a:lstStyle/>
          <a:p>
            <a:pPr algn="ctr">
              <a:defRPr sz="1100" b="1">
                <a:solidFill>
                  <a:srgbClr val="FFFFFF"/>
                </a:solidFill>
                <a:latin typeface="Segoe UI" panose="020B0502040204020203"/>
              </a:defRPr>
            </a:pPr>
            <a:r>
              <a:t>Security Group: HTTP(80)  HTTPS(443)  SSH(22)</a:t>
            </a:r>
          </a:p>
        </p:txBody>
      </p:sp>
      <p:sp>
        <p:nvSpPr>
          <p:cNvPr id="16" name="Rounded Rectangle 15"/>
          <p:cNvSpPr/>
          <p:nvPr/>
        </p:nvSpPr>
        <p:spPr>
          <a:xfrm>
            <a:off x="6217920" y="2286000"/>
            <a:ext cx="4846320" cy="2926080"/>
          </a:xfrm>
          <a:prstGeom prst="roundRect">
            <a:avLst>
              <a:gd name="adj" fmla="val 5000"/>
            </a:avLst>
          </a:prstGeom>
          <a:solidFill>
            <a:srgbClr val="1C2541"/>
          </a:solidFill>
          <a:ln w="25400">
            <a:solidFill>
              <a:srgbClr val="FFB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377440"/>
            <a:ext cx="4572000" cy="320040"/>
          </a:xfrm>
          <a:prstGeom prst="rect">
            <a:avLst/>
          </a:prstGeom>
          <a:noFill/>
        </p:spPr>
        <p:txBody>
          <a:bodyPr wrap="square">
            <a:spAutoFit/>
          </a:bodyPr>
          <a:lstStyle/>
          <a:p>
            <a:pPr algn="l">
              <a:defRPr sz="1400" b="1">
                <a:solidFill>
                  <a:srgbClr val="FFBE0B"/>
                </a:solidFill>
                <a:latin typeface="Segoe UI" panose="020B0502040204020203"/>
              </a:defRPr>
            </a:pPr>
            <a:r>
              <a:t>PRIVATE SUBNET — 10.0.2.0/24</a:t>
            </a:r>
          </a:p>
        </p:txBody>
      </p:sp>
      <p:sp>
        <p:nvSpPr>
          <p:cNvPr id="18" name="TextBox 17"/>
          <p:cNvSpPr txBox="1"/>
          <p:nvPr/>
        </p:nvSpPr>
        <p:spPr>
          <a:xfrm>
            <a:off x="6583680" y="3017520"/>
            <a:ext cx="4114800" cy="320040"/>
          </a:xfrm>
          <a:prstGeom prst="rect">
            <a:avLst/>
          </a:prstGeom>
          <a:noFill/>
        </p:spPr>
        <p:txBody>
          <a:bodyPr wrap="square">
            <a:spAutoFit/>
          </a:bodyPr>
          <a:lstStyle/>
          <a:p>
            <a:pPr algn="l">
              <a:defRPr sz="1300" b="0">
                <a:solidFill>
                  <a:srgbClr val="E0E1DD"/>
                </a:solidFill>
                <a:latin typeface="Segoe UI" panose="020B0502040204020203"/>
              </a:defRPr>
            </a:pPr>
            <a:r>
              <a:t>🔒 No Internet Access</a:t>
            </a:r>
          </a:p>
        </p:txBody>
      </p:sp>
      <p:sp>
        <p:nvSpPr>
          <p:cNvPr id="19" name="TextBox 18"/>
          <p:cNvSpPr txBox="1"/>
          <p:nvPr/>
        </p:nvSpPr>
        <p:spPr>
          <a:xfrm>
            <a:off x="6583680" y="3364991"/>
            <a:ext cx="4114800" cy="320040"/>
          </a:xfrm>
          <a:prstGeom prst="rect">
            <a:avLst/>
          </a:prstGeom>
          <a:noFill/>
        </p:spPr>
        <p:txBody>
          <a:bodyPr wrap="square">
            <a:spAutoFit/>
          </a:bodyPr>
          <a:lstStyle/>
          <a:p>
            <a:pPr algn="l">
              <a:defRPr sz="1300" b="0">
                <a:solidFill>
                  <a:srgbClr val="E0E1DD"/>
                </a:solidFill>
                <a:latin typeface="Segoe UI" panose="020B0502040204020203"/>
              </a:defRPr>
            </a:pPr>
            <a:r>
              <a:t>Reserved for:</a:t>
            </a:r>
          </a:p>
        </p:txBody>
      </p:sp>
      <p:sp>
        <p:nvSpPr>
          <p:cNvPr id="20" name="TextBox 19"/>
          <p:cNvSpPr txBox="1"/>
          <p:nvPr/>
        </p:nvSpPr>
        <p:spPr>
          <a:xfrm>
            <a:off x="6583680" y="3712463"/>
            <a:ext cx="4114800" cy="320040"/>
          </a:xfrm>
          <a:prstGeom prst="rect">
            <a:avLst/>
          </a:prstGeom>
          <a:noFill/>
        </p:spPr>
        <p:txBody>
          <a:bodyPr wrap="square">
            <a:spAutoFit/>
          </a:bodyPr>
          <a:lstStyle/>
          <a:p>
            <a:pPr algn="l">
              <a:defRPr sz="1300" b="0">
                <a:solidFill>
                  <a:srgbClr val="E0E1DD"/>
                </a:solidFill>
                <a:latin typeface="Segoe UI" panose="020B0502040204020203"/>
              </a:defRPr>
            </a:pPr>
            <a:r>
              <a:t>    • RDS Database</a:t>
            </a:r>
          </a:p>
        </p:txBody>
      </p:sp>
      <p:sp>
        <p:nvSpPr>
          <p:cNvPr id="21" name="TextBox 20"/>
          <p:cNvSpPr txBox="1"/>
          <p:nvPr/>
        </p:nvSpPr>
        <p:spPr>
          <a:xfrm>
            <a:off x="6583680" y="4059935"/>
            <a:ext cx="4114800" cy="320040"/>
          </a:xfrm>
          <a:prstGeom prst="rect">
            <a:avLst/>
          </a:prstGeom>
          <a:noFill/>
        </p:spPr>
        <p:txBody>
          <a:bodyPr wrap="square">
            <a:spAutoFit/>
          </a:bodyPr>
          <a:lstStyle/>
          <a:p>
            <a:pPr algn="l">
              <a:defRPr sz="1300" b="0">
                <a:solidFill>
                  <a:srgbClr val="E0E1DD"/>
                </a:solidFill>
                <a:latin typeface="Segoe UI" panose="020B0502040204020203"/>
              </a:defRPr>
            </a:pPr>
            <a:r>
              <a:t>    • Internal APIs</a:t>
            </a:r>
          </a:p>
        </p:txBody>
      </p:sp>
      <p:sp>
        <p:nvSpPr>
          <p:cNvPr id="22" name="TextBox 21"/>
          <p:cNvSpPr txBox="1"/>
          <p:nvPr/>
        </p:nvSpPr>
        <p:spPr>
          <a:xfrm>
            <a:off x="6583680" y="4407408"/>
            <a:ext cx="4114800" cy="320040"/>
          </a:xfrm>
          <a:prstGeom prst="rect">
            <a:avLst/>
          </a:prstGeom>
          <a:noFill/>
        </p:spPr>
        <p:txBody>
          <a:bodyPr wrap="square">
            <a:spAutoFit/>
          </a:bodyPr>
          <a:lstStyle/>
          <a:p>
            <a:pPr algn="l">
              <a:defRPr sz="1300" b="0">
                <a:solidFill>
                  <a:srgbClr val="E0E1DD"/>
                </a:solidFill>
                <a:latin typeface="Segoe UI" panose="020B0502040204020203"/>
              </a:defRPr>
            </a:pPr>
            <a:r>
              <a:t>    • Backend Workers</a:t>
            </a:r>
          </a:p>
        </p:txBody>
      </p:sp>
      <p:sp>
        <p:nvSpPr>
          <p:cNvPr id="23" name="Rounded Rectangle 22"/>
          <p:cNvSpPr/>
          <p:nvPr/>
        </p:nvSpPr>
        <p:spPr>
          <a:xfrm>
            <a:off x="731520" y="5943600"/>
            <a:ext cx="5029200" cy="64008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943600"/>
            <a:ext cx="4846320" cy="640080"/>
          </a:xfrm>
          <a:prstGeom prst="rect">
            <a:avLst/>
          </a:prstGeom>
          <a:noFill/>
        </p:spPr>
        <p:txBody>
          <a:bodyPr wrap="square">
            <a:spAutoFit/>
          </a:bodyPr>
          <a:lstStyle/>
          <a:p>
            <a:pPr algn="ctr">
              <a:defRPr sz="1300" b="1">
                <a:solidFill>
                  <a:srgbClr val="FFFFFF"/>
                </a:solidFill>
                <a:latin typeface="Segoe UI" panose="020B0502040204020203"/>
              </a:defRPr>
            </a:pPr>
            <a:r>
              <a:t>🌐  Internet Gateway  →  Route: 0.0.0.0/0 → IGW  →  Public Internet</a:t>
            </a:r>
          </a:p>
        </p:txBody>
      </p:sp>
      <p:sp>
        <p:nvSpPr>
          <p:cNvPr id="25" name="Rounded Rectangle 24"/>
          <p:cNvSpPr/>
          <p:nvPr/>
        </p:nvSpPr>
        <p:spPr>
          <a:xfrm>
            <a:off x="6217920" y="5943600"/>
            <a:ext cx="5212080" cy="640080"/>
          </a:xfrm>
          <a:prstGeom prst="roundRect">
            <a:avLst>
              <a:gd name="adj" fmla="val 5000"/>
            </a:avLst>
          </a:prstGeom>
          <a:solidFill>
            <a:srgbClr val="523A00"/>
          </a:solidFill>
          <a:ln w="12700">
            <a:solidFill>
              <a:srgbClr val="FFB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5943600"/>
            <a:ext cx="5029200" cy="640080"/>
          </a:xfrm>
          <a:prstGeom prst="rect">
            <a:avLst/>
          </a:prstGeom>
          <a:noFill/>
        </p:spPr>
        <p:txBody>
          <a:bodyPr wrap="square">
            <a:spAutoFit/>
          </a:bodyPr>
          <a:lstStyle/>
          <a:p>
            <a:pPr algn="ctr">
              <a:defRPr sz="1300" b="1">
                <a:solidFill>
                  <a:srgbClr val="FFBE0B"/>
                </a:solidFill>
                <a:latin typeface="Segoe UI" panose="020B0502040204020203"/>
              </a:defRPr>
            </a:pPr>
            <a:r>
              <a:t>🪣  S3 Bucket  │  AES-256 SSE  │  Versioning: ON  │  Public: BLOCKED</a:t>
            </a:r>
          </a:p>
        </p:txBody>
      </p:sp>
      <p:sp>
        <p:nvSpPr>
          <p:cNvPr id="27" name="TextBox 26"/>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6/15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AWS SERVICES BREAKDOWN</a:t>
            </a:r>
          </a:p>
        </p:txBody>
      </p:sp>
      <p:sp>
        <p:nvSpPr>
          <p:cNvPr id="3" name="Rectangle 2"/>
          <p:cNvSpPr/>
          <p:nvPr/>
        </p:nvSpPr>
        <p:spPr>
          <a:xfrm>
            <a:off x="731520" y="109728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71600"/>
          <a:ext cx="10698480" cy="4389120"/>
        </p:xfrm>
        <a:graphic>
          <a:graphicData uri="http://schemas.openxmlformats.org/drawingml/2006/table">
            <a:tbl>
              <a:tblPr firstRow="1" bandRow="1">
                <a:tableStyleId>{5C22544A-7EE6-4342-B048-85BDC9FD1C3A}</a:tableStyleId>
              </a:tblPr>
              <a:tblGrid>
                <a:gridCol w="3566160"/>
                <a:gridCol w="3566160"/>
                <a:gridCol w="3566160"/>
              </a:tblGrid>
              <a:tr h="438912">
                <a:tc>
                  <a:txBody>
                    <a:bodyPr/>
                    <a:lstStyle/>
                    <a:p>
                      <a:pPr>
                        <a:defRPr sz="1300" b="1">
                          <a:solidFill>
                            <a:srgbClr val="FFFFFF"/>
                          </a:solidFill>
                          <a:latin typeface="Segoe UI" panose="020B0502040204020203"/>
                        </a:defRPr>
                      </a:pPr>
                      <a:r>
                        <a:t>Service</a:t>
                      </a:r>
                    </a:p>
                  </a:txBody>
                  <a:tcPr>
                    <a:solidFill>
                      <a:srgbClr val="0077B6"/>
                    </a:solidFill>
                  </a:tcPr>
                </a:tc>
                <a:tc>
                  <a:txBody>
                    <a:bodyPr/>
                    <a:lstStyle/>
                    <a:p>
                      <a:pPr>
                        <a:defRPr sz="1300" b="1">
                          <a:solidFill>
                            <a:srgbClr val="FFFFFF"/>
                          </a:solidFill>
                          <a:latin typeface="Segoe UI" panose="020B0502040204020203"/>
                        </a:defRPr>
                      </a:pPr>
                      <a:r>
                        <a:t>Architecture Role</a:t>
                      </a:r>
                    </a:p>
                  </a:txBody>
                  <a:tcPr>
                    <a:solidFill>
                      <a:srgbClr val="0077B6"/>
                    </a:solidFill>
                  </a:tcPr>
                </a:tc>
                <a:tc>
                  <a:txBody>
                    <a:bodyPr/>
                    <a:lstStyle/>
                    <a:p>
                      <a:pPr>
                        <a:defRPr sz="1300" b="1">
                          <a:solidFill>
                            <a:srgbClr val="FFFFFF"/>
                          </a:solidFill>
                          <a:latin typeface="Segoe UI" panose="020B0502040204020203"/>
                        </a:defRPr>
                      </a:pPr>
                      <a:r>
                        <a:t>Key Configuration</a:t>
                      </a:r>
                    </a:p>
                  </a:txBody>
                  <a:tcPr>
                    <a:solidFill>
                      <a:srgbClr val="0077B6"/>
                    </a:solidFill>
                  </a:tcPr>
                </a:tc>
              </a:tr>
              <a:tr h="438912">
                <a:tc>
                  <a:txBody>
                    <a:bodyPr/>
                    <a:lstStyle/>
                    <a:p>
                      <a:pPr>
                        <a:defRPr sz="1300">
                          <a:solidFill>
                            <a:srgbClr val="E0E1DD"/>
                          </a:solidFill>
                          <a:latin typeface="Segoe UI" panose="020B0502040204020203"/>
                        </a:defRPr>
                      </a:pPr>
                      <a:r>
                        <a:t>Amazon VPC</a:t>
                      </a:r>
                    </a:p>
                  </a:txBody>
                  <a:tcPr>
                    <a:solidFill>
                      <a:srgbClr val="1C2541"/>
                    </a:solidFill>
                  </a:tcPr>
                </a:tc>
                <a:tc>
                  <a:txBody>
                    <a:bodyPr/>
                    <a:lstStyle/>
                    <a:p>
                      <a:pPr>
                        <a:defRPr sz="1300">
                          <a:solidFill>
                            <a:srgbClr val="E0E1DD"/>
                          </a:solidFill>
                          <a:latin typeface="Segoe UI" panose="020B0502040204020203"/>
                        </a:defRPr>
                      </a:pPr>
                      <a:r>
                        <a:t>Network boundary &amp; isolation</a:t>
                      </a:r>
                    </a:p>
                  </a:txBody>
                  <a:tcPr>
                    <a:solidFill>
                      <a:srgbClr val="1C2541"/>
                    </a:solidFill>
                  </a:tcPr>
                </a:tc>
                <a:tc>
                  <a:txBody>
                    <a:bodyPr/>
                    <a:lstStyle/>
                    <a:p>
                      <a:pPr>
                        <a:defRPr sz="1300">
                          <a:solidFill>
                            <a:srgbClr val="E0E1DD"/>
                          </a:solidFill>
                          <a:latin typeface="Segoe UI" panose="020B0502040204020203"/>
                        </a:defRPr>
                      </a:pPr>
                      <a:r>
                        <a:t>CIDR 10.0.0.0/16, DNS enabled</a:t>
                      </a:r>
                    </a:p>
                  </a:txBody>
                  <a:tcPr>
                    <a:solidFill>
                      <a:srgbClr val="1C2541"/>
                    </a:solidFill>
                  </a:tcPr>
                </a:tc>
              </a:tr>
              <a:tr h="438912">
                <a:tc>
                  <a:txBody>
                    <a:bodyPr/>
                    <a:lstStyle/>
                    <a:p>
                      <a:pPr>
                        <a:defRPr sz="1300">
                          <a:solidFill>
                            <a:srgbClr val="E0E1DD"/>
                          </a:solidFill>
                          <a:latin typeface="Segoe UI" panose="020B0502040204020203"/>
                        </a:defRPr>
                      </a:pPr>
                      <a:r>
                        <a:t>Subnets (×2)</a:t>
                      </a:r>
                    </a:p>
                  </a:txBody>
                  <a:tcPr>
                    <a:solidFill>
                      <a:srgbClr val="162038"/>
                    </a:solidFill>
                  </a:tcPr>
                </a:tc>
                <a:tc>
                  <a:txBody>
                    <a:bodyPr/>
                    <a:lstStyle/>
                    <a:p>
                      <a:pPr>
                        <a:defRPr sz="1300">
                          <a:solidFill>
                            <a:srgbClr val="E0E1DD"/>
                          </a:solidFill>
                          <a:latin typeface="Segoe UI" panose="020B0502040204020203"/>
                        </a:defRPr>
                      </a:pPr>
                      <a:r>
                        <a:t>Public/private segmentation</a:t>
                      </a:r>
                    </a:p>
                  </a:txBody>
                  <a:tcPr>
                    <a:solidFill>
                      <a:srgbClr val="162038"/>
                    </a:solidFill>
                  </a:tcPr>
                </a:tc>
                <a:tc>
                  <a:txBody>
                    <a:bodyPr/>
                    <a:lstStyle/>
                    <a:p>
                      <a:pPr>
                        <a:defRPr sz="1300">
                          <a:solidFill>
                            <a:srgbClr val="E0E1DD"/>
                          </a:solidFill>
                          <a:latin typeface="Segoe UI" panose="020B0502040204020203"/>
                        </a:defRPr>
                      </a:pPr>
                      <a:r>
                        <a:t>10.0.1.0/24 + 10.0.2.0/24</a:t>
                      </a:r>
                    </a:p>
                  </a:txBody>
                  <a:tcPr>
                    <a:solidFill>
                      <a:srgbClr val="162038"/>
                    </a:solidFill>
                  </a:tcPr>
                </a:tc>
              </a:tr>
              <a:tr h="438912">
                <a:tc>
                  <a:txBody>
                    <a:bodyPr/>
                    <a:lstStyle/>
                    <a:p>
                      <a:pPr>
                        <a:defRPr sz="1300">
                          <a:solidFill>
                            <a:srgbClr val="E0E1DD"/>
                          </a:solidFill>
                          <a:latin typeface="Segoe UI" panose="020B0502040204020203"/>
                        </a:defRPr>
                      </a:pPr>
                      <a:r>
                        <a:t>Internet Gateway</a:t>
                      </a:r>
                    </a:p>
                  </a:txBody>
                  <a:tcPr>
                    <a:solidFill>
                      <a:srgbClr val="1C2541"/>
                    </a:solidFill>
                  </a:tcPr>
                </a:tc>
                <a:tc>
                  <a:txBody>
                    <a:bodyPr/>
                    <a:lstStyle/>
                    <a:p>
                      <a:pPr>
                        <a:defRPr sz="1300">
                          <a:solidFill>
                            <a:srgbClr val="E0E1DD"/>
                          </a:solidFill>
                          <a:latin typeface="Segoe UI" panose="020B0502040204020203"/>
                        </a:defRPr>
                      </a:pPr>
                      <a:r>
                        <a:t>VPC ↔ Internet bridge</a:t>
                      </a:r>
                    </a:p>
                  </a:txBody>
                  <a:tcPr>
                    <a:solidFill>
                      <a:srgbClr val="1C2541"/>
                    </a:solidFill>
                  </a:tcPr>
                </a:tc>
                <a:tc>
                  <a:txBody>
                    <a:bodyPr/>
                    <a:lstStyle/>
                    <a:p>
                      <a:pPr>
                        <a:defRPr sz="1300">
                          <a:solidFill>
                            <a:srgbClr val="E0E1DD"/>
                          </a:solidFill>
                          <a:latin typeface="Segoe UI" panose="020B0502040204020203"/>
                        </a:defRPr>
                      </a:pPr>
                      <a:r>
                        <a:t>Attached to VPC</a:t>
                      </a:r>
                    </a:p>
                  </a:txBody>
                  <a:tcPr>
                    <a:solidFill>
                      <a:srgbClr val="1C2541"/>
                    </a:solidFill>
                  </a:tcPr>
                </a:tc>
              </a:tr>
              <a:tr h="438912">
                <a:tc>
                  <a:txBody>
                    <a:bodyPr/>
                    <a:lstStyle/>
                    <a:p>
                      <a:pPr>
                        <a:defRPr sz="1300">
                          <a:solidFill>
                            <a:srgbClr val="E0E1DD"/>
                          </a:solidFill>
                          <a:latin typeface="Segoe UI" panose="020B0502040204020203"/>
                        </a:defRPr>
                      </a:pPr>
                      <a:r>
                        <a:t>Route Table</a:t>
                      </a:r>
                    </a:p>
                  </a:txBody>
                  <a:tcPr>
                    <a:solidFill>
                      <a:srgbClr val="162038"/>
                    </a:solidFill>
                  </a:tcPr>
                </a:tc>
                <a:tc>
                  <a:txBody>
                    <a:bodyPr/>
                    <a:lstStyle/>
                    <a:p>
                      <a:pPr>
                        <a:defRPr sz="1300">
                          <a:solidFill>
                            <a:srgbClr val="E0E1DD"/>
                          </a:solidFill>
                          <a:latin typeface="Segoe UI" panose="020B0502040204020203"/>
                        </a:defRPr>
                      </a:pPr>
                      <a:r>
                        <a:t>Traffic routing rules</a:t>
                      </a:r>
                    </a:p>
                  </a:txBody>
                  <a:tcPr>
                    <a:solidFill>
                      <a:srgbClr val="162038"/>
                    </a:solidFill>
                  </a:tcPr>
                </a:tc>
                <a:tc>
                  <a:txBody>
                    <a:bodyPr/>
                    <a:lstStyle/>
                    <a:p>
                      <a:pPr>
                        <a:defRPr sz="1300">
                          <a:solidFill>
                            <a:srgbClr val="E0E1DD"/>
                          </a:solidFill>
                          <a:latin typeface="Segoe UI" panose="020B0502040204020203"/>
                        </a:defRPr>
                      </a:pPr>
                      <a:r>
                        <a:t>0.0.0.0/0 → IGW (public only)</a:t>
                      </a:r>
                    </a:p>
                  </a:txBody>
                  <a:tcPr>
                    <a:solidFill>
                      <a:srgbClr val="162038"/>
                    </a:solidFill>
                  </a:tcPr>
                </a:tc>
              </a:tr>
              <a:tr h="438912">
                <a:tc>
                  <a:txBody>
                    <a:bodyPr/>
                    <a:lstStyle/>
                    <a:p>
                      <a:pPr>
                        <a:defRPr sz="1300">
                          <a:solidFill>
                            <a:srgbClr val="E0E1DD"/>
                          </a:solidFill>
                          <a:latin typeface="Segoe UI" panose="020B0502040204020203"/>
                        </a:defRPr>
                      </a:pPr>
                      <a:r>
                        <a:t>Security Group</a:t>
                      </a:r>
                    </a:p>
                  </a:txBody>
                  <a:tcPr>
                    <a:solidFill>
                      <a:srgbClr val="1C2541"/>
                    </a:solidFill>
                  </a:tcPr>
                </a:tc>
                <a:tc>
                  <a:txBody>
                    <a:bodyPr/>
                    <a:lstStyle/>
                    <a:p>
                      <a:pPr>
                        <a:defRPr sz="1300">
                          <a:solidFill>
                            <a:srgbClr val="E0E1DD"/>
                          </a:solidFill>
                          <a:latin typeface="Segoe UI" panose="020B0502040204020203"/>
                        </a:defRPr>
                      </a:pPr>
                      <a:r>
                        <a:t>Stateful instance firewall</a:t>
                      </a:r>
                    </a:p>
                  </a:txBody>
                  <a:tcPr>
                    <a:solidFill>
                      <a:srgbClr val="1C2541"/>
                    </a:solidFill>
                  </a:tcPr>
                </a:tc>
                <a:tc>
                  <a:txBody>
                    <a:bodyPr/>
                    <a:lstStyle/>
                    <a:p>
                      <a:pPr>
                        <a:defRPr sz="1300">
                          <a:solidFill>
                            <a:srgbClr val="E0E1DD"/>
                          </a:solidFill>
                          <a:latin typeface="Segoe UI" panose="020B0502040204020203"/>
                        </a:defRPr>
                      </a:pPr>
                      <a:r>
                        <a:t>Ports 80, 443, 22 inbound</a:t>
                      </a:r>
                    </a:p>
                  </a:txBody>
                  <a:tcPr>
                    <a:solidFill>
                      <a:srgbClr val="1C2541"/>
                    </a:solidFill>
                  </a:tcPr>
                </a:tc>
              </a:tr>
              <a:tr h="438912">
                <a:tc>
                  <a:txBody>
                    <a:bodyPr/>
                    <a:lstStyle/>
                    <a:p>
                      <a:pPr>
                        <a:defRPr sz="1300">
                          <a:solidFill>
                            <a:srgbClr val="E0E1DD"/>
                          </a:solidFill>
                          <a:latin typeface="Segoe UI" panose="020B0502040204020203"/>
                        </a:defRPr>
                      </a:pPr>
                      <a:r>
                        <a:t>EC2 Instance</a:t>
                      </a:r>
                    </a:p>
                  </a:txBody>
                  <a:tcPr>
                    <a:solidFill>
                      <a:srgbClr val="162038"/>
                    </a:solidFill>
                  </a:tcPr>
                </a:tc>
                <a:tc>
                  <a:txBody>
                    <a:bodyPr/>
                    <a:lstStyle/>
                    <a:p>
                      <a:pPr>
                        <a:defRPr sz="1300">
                          <a:solidFill>
                            <a:srgbClr val="E0E1DD"/>
                          </a:solidFill>
                          <a:latin typeface="Segoe UI" panose="020B0502040204020203"/>
                        </a:defRPr>
                      </a:pPr>
                      <a:r>
                        <a:t>Compute (web server)</a:t>
                      </a:r>
                    </a:p>
                  </a:txBody>
                  <a:tcPr>
                    <a:solidFill>
                      <a:srgbClr val="162038"/>
                    </a:solidFill>
                  </a:tcPr>
                </a:tc>
                <a:tc>
                  <a:txBody>
                    <a:bodyPr/>
                    <a:lstStyle/>
                    <a:p>
                      <a:pPr>
                        <a:defRPr sz="1300">
                          <a:solidFill>
                            <a:srgbClr val="E0E1DD"/>
                          </a:solidFill>
                          <a:latin typeface="Segoe UI" panose="020B0502040204020203"/>
                        </a:defRPr>
                      </a:pPr>
                      <a:r>
                        <a:t>t3.micro, Amazon Linux 2023</a:t>
                      </a:r>
                    </a:p>
                  </a:txBody>
                  <a:tcPr>
                    <a:solidFill>
                      <a:srgbClr val="162038"/>
                    </a:solidFill>
                  </a:tcPr>
                </a:tc>
              </a:tr>
              <a:tr h="438912">
                <a:tc>
                  <a:txBody>
                    <a:bodyPr/>
                    <a:lstStyle/>
                    <a:p>
                      <a:pPr>
                        <a:defRPr sz="1300">
                          <a:solidFill>
                            <a:srgbClr val="E0E1DD"/>
                          </a:solidFill>
                          <a:latin typeface="Segoe UI" panose="020B0502040204020203"/>
                        </a:defRPr>
                      </a:pPr>
                      <a:r>
                        <a:t>Elastic IP</a:t>
                      </a:r>
                    </a:p>
                  </a:txBody>
                  <a:tcPr>
                    <a:solidFill>
                      <a:srgbClr val="1C2541"/>
                    </a:solidFill>
                  </a:tcPr>
                </a:tc>
                <a:tc>
                  <a:txBody>
                    <a:bodyPr/>
                    <a:lstStyle/>
                    <a:p>
                      <a:pPr>
                        <a:defRPr sz="1300">
                          <a:solidFill>
                            <a:srgbClr val="E0E1DD"/>
                          </a:solidFill>
                          <a:latin typeface="Segoe UI" panose="020B0502040204020203"/>
                        </a:defRPr>
                      </a:pPr>
                      <a:r>
                        <a:t>Static public IPv4</a:t>
                      </a:r>
                    </a:p>
                  </a:txBody>
                  <a:tcPr>
                    <a:solidFill>
                      <a:srgbClr val="1C2541"/>
                    </a:solidFill>
                  </a:tcPr>
                </a:tc>
                <a:tc>
                  <a:txBody>
                    <a:bodyPr/>
                    <a:lstStyle/>
                    <a:p>
                      <a:pPr>
                        <a:defRPr sz="1300">
                          <a:solidFill>
                            <a:srgbClr val="E0E1DD"/>
                          </a:solidFill>
                          <a:latin typeface="Segoe UI" panose="020B0502040204020203"/>
                        </a:defRPr>
                      </a:pPr>
                      <a:r>
                        <a:t>Persists across stop/start</a:t>
                      </a:r>
                    </a:p>
                  </a:txBody>
                  <a:tcPr>
                    <a:solidFill>
                      <a:srgbClr val="1C2541"/>
                    </a:solidFill>
                  </a:tcPr>
                </a:tc>
              </a:tr>
              <a:tr h="438912">
                <a:tc>
                  <a:txBody>
                    <a:bodyPr/>
                    <a:lstStyle/>
                    <a:p>
                      <a:pPr>
                        <a:defRPr sz="1300">
                          <a:solidFill>
                            <a:srgbClr val="E0E1DD"/>
                          </a:solidFill>
                          <a:latin typeface="Segoe UI" panose="020B0502040204020203"/>
                        </a:defRPr>
                      </a:pPr>
                      <a:r>
                        <a:t>Amazon S3</a:t>
                      </a:r>
                    </a:p>
                  </a:txBody>
                  <a:tcPr>
                    <a:solidFill>
                      <a:srgbClr val="162038"/>
                    </a:solidFill>
                  </a:tcPr>
                </a:tc>
                <a:tc>
                  <a:txBody>
                    <a:bodyPr/>
                    <a:lstStyle/>
                    <a:p>
                      <a:pPr>
                        <a:defRPr sz="1300">
                          <a:solidFill>
                            <a:srgbClr val="E0E1DD"/>
                          </a:solidFill>
                          <a:latin typeface="Segoe UI" panose="020B0502040204020203"/>
                        </a:defRPr>
                      </a:pPr>
                      <a:r>
                        <a:t>Encrypted object storage</a:t>
                      </a:r>
                    </a:p>
                  </a:txBody>
                  <a:tcPr>
                    <a:solidFill>
                      <a:srgbClr val="162038"/>
                    </a:solidFill>
                  </a:tcPr>
                </a:tc>
                <a:tc>
                  <a:txBody>
                    <a:bodyPr/>
                    <a:lstStyle/>
                    <a:p>
                      <a:pPr>
                        <a:defRPr sz="1300">
                          <a:solidFill>
                            <a:srgbClr val="E0E1DD"/>
                          </a:solidFill>
                          <a:latin typeface="Segoe UI" panose="020B0502040204020203"/>
                        </a:defRPr>
                      </a:pPr>
                      <a:r>
                        <a:t>AES-256, versioning, public block</a:t>
                      </a:r>
                    </a:p>
                  </a:txBody>
                  <a:tcPr>
                    <a:solidFill>
                      <a:srgbClr val="162038"/>
                    </a:solidFill>
                  </a:tcPr>
                </a:tc>
              </a:tr>
              <a:tr h="438912">
                <a:tc>
                  <a:txBody>
                    <a:bodyPr/>
                    <a:lstStyle/>
                    <a:p>
                      <a:pPr>
                        <a:defRPr sz="1300">
                          <a:solidFill>
                            <a:srgbClr val="E0E1DD"/>
                          </a:solidFill>
                          <a:latin typeface="Segoe UI" panose="020B0502040204020203"/>
                        </a:defRPr>
                      </a:pPr>
                      <a:r>
                        <a:t>IAM</a:t>
                      </a:r>
                    </a:p>
                  </a:txBody>
                  <a:tcPr>
                    <a:solidFill>
                      <a:srgbClr val="1C2541"/>
                    </a:solidFill>
                  </a:tcPr>
                </a:tc>
                <a:tc>
                  <a:txBody>
                    <a:bodyPr/>
                    <a:lstStyle/>
                    <a:p>
                      <a:pPr>
                        <a:defRPr sz="1300">
                          <a:solidFill>
                            <a:srgbClr val="E0E1DD"/>
                          </a:solidFill>
                          <a:latin typeface="Segoe UI" panose="020B0502040204020203"/>
                        </a:defRPr>
                      </a:pPr>
                      <a:r>
                        <a:t>Least-privilege access</a:t>
                      </a:r>
                    </a:p>
                  </a:txBody>
                  <a:tcPr>
                    <a:solidFill>
                      <a:srgbClr val="1C2541"/>
                    </a:solidFill>
                  </a:tcPr>
                </a:tc>
                <a:tc>
                  <a:txBody>
                    <a:bodyPr/>
                    <a:lstStyle/>
                    <a:p>
                      <a:pPr>
                        <a:defRPr sz="1300">
                          <a:solidFill>
                            <a:srgbClr val="E0E1DD"/>
                          </a:solidFill>
                          <a:latin typeface="Segoe UI" panose="020B0502040204020203"/>
                        </a:defRPr>
                      </a:pPr>
                      <a:r>
                        <a:t>terraform-admin user (not root)</a:t>
                      </a:r>
                    </a:p>
                  </a:txBody>
                  <a:tcPr>
                    <a:solidFill>
                      <a:srgbClr val="1C2541"/>
                    </a:solidFill>
                  </a:tcPr>
                </a:tc>
              </a:tr>
            </a:tbl>
          </a:graphicData>
        </a:graphic>
      </p:graphicFrame>
      <p:sp>
        <p:nvSpPr>
          <p:cNvPr id="5" name="Rounded Rectangle 4"/>
          <p:cNvSpPr/>
          <p:nvPr/>
        </p:nvSpPr>
        <p:spPr>
          <a:xfrm>
            <a:off x="3657600" y="5943600"/>
            <a:ext cx="4846320" cy="54864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5943600"/>
            <a:ext cx="4846320" cy="548640"/>
          </a:xfrm>
          <a:prstGeom prst="rect">
            <a:avLst/>
          </a:prstGeom>
          <a:noFill/>
        </p:spPr>
        <p:txBody>
          <a:bodyPr wrap="square">
            <a:spAutoFit/>
          </a:bodyPr>
          <a:lstStyle/>
          <a:p>
            <a:pPr algn="ctr">
              <a:defRPr sz="1600" b="1">
                <a:solidFill>
                  <a:srgbClr val="FFFFFF"/>
                </a:solidFill>
                <a:latin typeface="Segoe UI" panose="020B0502040204020203"/>
              </a:defRPr>
            </a:pPr>
            <a:r>
              <a:t>Total AWS Resources Managed: 15   |   Cost: $0.00 (Free Tier)</a:t>
            </a:r>
          </a:p>
        </p:txBody>
      </p:sp>
      <p:sp>
        <p:nvSpPr>
          <p:cNvPr id="7" name="TextBox 6"/>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7/15</a:t>
            </a:r>
          </a:p>
        </p:txBody>
      </p:sp>
      <p:sp>
        <p:nvSpPr>
          <p:cNvPr id="8" name="TextBox 7"/>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MODULAR CODE STRUCTURE</a:t>
            </a:r>
          </a:p>
        </p:txBody>
      </p:sp>
      <p:sp>
        <p:nvSpPr>
          <p:cNvPr id="3" name="Rectangle 2"/>
          <p:cNvSpPr/>
          <p:nvPr/>
        </p:nvSpPr>
        <p:spPr>
          <a:xfrm>
            <a:off x="731520" y="109728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486400" cy="467741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5120640" cy="228600"/>
          </a:xfrm>
          <a:prstGeom prst="rect">
            <a:avLst/>
          </a:prstGeom>
          <a:noFill/>
        </p:spPr>
        <p:txBody>
          <a:bodyPr wrap="square">
            <a:spAutoFit/>
          </a:bodyPr>
          <a:lstStyle/>
          <a:p>
            <a:pPr algn="l">
              <a:defRPr sz="1100" b="1">
                <a:solidFill>
                  <a:srgbClr val="48CAE4"/>
                </a:solidFill>
                <a:latin typeface="Consolas" panose="020B0609020204030204"/>
              </a:defRPr>
            </a:pPr>
            <a:r>
              <a:t>terraform-aws-iac/</a:t>
            </a:r>
          </a:p>
        </p:txBody>
      </p:sp>
      <p:sp>
        <p:nvSpPr>
          <p:cNvPr id="6" name="TextBox 5"/>
          <p:cNvSpPr txBox="1"/>
          <p:nvPr/>
        </p:nvSpPr>
        <p:spPr>
          <a:xfrm>
            <a:off x="914400" y="1691640"/>
            <a:ext cx="5120640" cy="228600"/>
          </a:xfrm>
          <a:prstGeom prst="rect">
            <a:avLst/>
          </a:prstGeom>
          <a:noFill/>
        </p:spPr>
        <p:txBody>
          <a:bodyPr wrap="square">
            <a:spAutoFit/>
          </a:bodyPr>
          <a:lstStyle/>
          <a:p>
            <a:pPr algn="l">
              <a:defRPr sz="1100" b="1">
                <a:solidFill>
                  <a:srgbClr val="48CAE4"/>
                </a:solidFill>
                <a:latin typeface="Consolas" panose="020B0609020204030204"/>
              </a:defRPr>
            </a:pPr>
            <a:r>
              <a:t>├── modules/</a:t>
            </a:r>
          </a:p>
        </p:txBody>
      </p:sp>
      <p:sp>
        <p:nvSpPr>
          <p:cNvPr id="7" name="TextBox 6"/>
          <p:cNvSpPr txBox="1"/>
          <p:nvPr/>
        </p:nvSpPr>
        <p:spPr>
          <a:xfrm>
            <a:off x="914400" y="19202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networking/</a:t>
            </a:r>
          </a:p>
        </p:txBody>
      </p:sp>
      <p:sp>
        <p:nvSpPr>
          <p:cNvPr id="8" name="TextBox 7"/>
          <p:cNvSpPr txBox="1"/>
          <p:nvPr/>
        </p:nvSpPr>
        <p:spPr>
          <a:xfrm>
            <a:off x="914400" y="21488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main.tf         (118 lines)</a:t>
            </a:r>
          </a:p>
        </p:txBody>
      </p:sp>
      <p:sp>
        <p:nvSpPr>
          <p:cNvPr id="9" name="TextBox 8"/>
          <p:cNvSpPr txBox="1"/>
          <p:nvPr/>
        </p:nvSpPr>
        <p:spPr>
          <a:xfrm>
            <a:off x="914400" y="23774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variables.tf    (36 lines)</a:t>
            </a:r>
          </a:p>
        </p:txBody>
      </p:sp>
      <p:sp>
        <p:nvSpPr>
          <p:cNvPr id="10" name="TextBox 9"/>
          <p:cNvSpPr txBox="1"/>
          <p:nvPr/>
        </p:nvSpPr>
        <p:spPr>
          <a:xfrm>
            <a:off x="914400" y="26060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outputs.tf      (20 lines)</a:t>
            </a:r>
          </a:p>
        </p:txBody>
      </p:sp>
      <p:sp>
        <p:nvSpPr>
          <p:cNvPr id="11" name="TextBox 10"/>
          <p:cNvSpPr txBox="1"/>
          <p:nvPr/>
        </p:nvSpPr>
        <p:spPr>
          <a:xfrm>
            <a:off x="914400" y="28346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compute/</a:t>
            </a:r>
          </a:p>
        </p:txBody>
      </p:sp>
      <p:sp>
        <p:nvSpPr>
          <p:cNvPr id="12" name="TextBox 11"/>
          <p:cNvSpPr txBox="1"/>
          <p:nvPr/>
        </p:nvSpPr>
        <p:spPr>
          <a:xfrm>
            <a:off x="914400" y="30632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main.tf         (49 lines)</a:t>
            </a:r>
          </a:p>
        </p:txBody>
      </p:sp>
      <p:sp>
        <p:nvSpPr>
          <p:cNvPr id="13" name="TextBox 12"/>
          <p:cNvSpPr txBox="1"/>
          <p:nvPr/>
        </p:nvSpPr>
        <p:spPr>
          <a:xfrm>
            <a:off x="914400" y="32918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variables.tf    (28 lines)</a:t>
            </a:r>
          </a:p>
        </p:txBody>
      </p:sp>
      <p:sp>
        <p:nvSpPr>
          <p:cNvPr id="14" name="TextBox 13"/>
          <p:cNvSpPr txBox="1"/>
          <p:nvPr/>
        </p:nvSpPr>
        <p:spPr>
          <a:xfrm>
            <a:off x="914400" y="35204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outputs.tf      (15 lines)</a:t>
            </a:r>
          </a:p>
        </p:txBody>
      </p:sp>
      <p:sp>
        <p:nvSpPr>
          <p:cNvPr id="15" name="TextBox 14"/>
          <p:cNvSpPr txBox="1"/>
          <p:nvPr/>
        </p:nvSpPr>
        <p:spPr>
          <a:xfrm>
            <a:off x="914400" y="3749039"/>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 user_data.sh    (151 lines)</a:t>
            </a:r>
          </a:p>
        </p:txBody>
      </p:sp>
      <p:sp>
        <p:nvSpPr>
          <p:cNvPr id="16" name="TextBox 15"/>
          <p:cNvSpPr txBox="1"/>
          <p:nvPr/>
        </p:nvSpPr>
        <p:spPr>
          <a:xfrm>
            <a:off x="914400" y="3977639"/>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storage/</a:t>
            </a:r>
          </a:p>
        </p:txBody>
      </p:sp>
      <p:sp>
        <p:nvSpPr>
          <p:cNvPr id="17" name="TextBox 16"/>
          <p:cNvSpPr txBox="1"/>
          <p:nvPr/>
        </p:nvSpPr>
        <p:spPr>
          <a:xfrm>
            <a:off x="914400" y="42062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main.tf         (46 lines)</a:t>
            </a:r>
          </a:p>
        </p:txBody>
      </p:sp>
      <p:sp>
        <p:nvSpPr>
          <p:cNvPr id="18" name="TextBox 17"/>
          <p:cNvSpPr txBox="1"/>
          <p:nvPr/>
        </p:nvSpPr>
        <p:spPr>
          <a:xfrm>
            <a:off x="914400" y="44348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variables.tf    (18 lines)</a:t>
            </a:r>
          </a:p>
        </p:txBody>
      </p:sp>
      <p:sp>
        <p:nvSpPr>
          <p:cNvPr id="19" name="TextBox 18"/>
          <p:cNvSpPr txBox="1"/>
          <p:nvPr/>
        </p:nvSpPr>
        <p:spPr>
          <a:xfrm>
            <a:off x="914400" y="46634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outputs.tf      (15 lines)</a:t>
            </a:r>
          </a:p>
        </p:txBody>
      </p:sp>
      <p:sp>
        <p:nvSpPr>
          <p:cNvPr id="20" name="TextBox 19"/>
          <p:cNvSpPr txBox="1"/>
          <p:nvPr/>
        </p:nvSpPr>
        <p:spPr>
          <a:xfrm>
            <a:off x="914400" y="4892040"/>
            <a:ext cx="5120640" cy="228600"/>
          </a:xfrm>
          <a:prstGeom prst="rect">
            <a:avLst/>
          </a:prstGeom>
          <a:noFill/>
        </p:spPr>
        <p:txBody>
          <a:bodyPr wrap="square">
            <a:spAutoFit/>
          </a:bodyPr>
          <a:lstStyle/>
          <a:p>
            <a:pPr algn="l">
              <a:defRPr sz="1100" b="1">
                <a:solidFill>
                  <a:srgbClr val="48CAE4"/>
                </a:solidFill>
                <a:latin typeface="Consolas" panose="020B0609020204030204"/>
              </a:defRPr>
            </a:pPr>
            <a:r>
              <a:t>└── environments/dev/</a:t>
            </a:r>
          </a:p>
        </p:txBody>
      </p:sp>
      <p:sp>
        <p:nvSpPr>
          <p:cNvPr id="21" name="TextBox 20"/>
          <p:cNvSpPr txBox="1"/>
          <p:nvPr/>
        </p:nvSpPr>
        <p:spPr>
          <a:xfrm>
            <a:off x="914400" y="51206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main.tf    (root module)</a:t>
            </a:r>
          </a:p>
        </p:txBody>
      </p:sp>
      <p:sp>
        <p:nvSpPr>
          <p:cNvPr id="22" name="TextBox 21"/>
          <p:cNvSpPr txBox="1"/>
          <p:nvPr/>
        </p:nvSpPr>
        <p:spPr>
          <a:xfrm>
            <a:off x="914400" y="53492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variables.tf / outputs.tf</a:t>
            </a:r>
          </a:p>
        </p:txBody>
      </p:sp>
      <p:sp>
        <p:nvSpPr>
          <p:cNvPr id="23" name="TextBox 22"/>
          <p:cNvSpPr txBox="1"/>
          <p:nvPr/>
        </p:nvSpPr>
        <p:spPr>
          <a:xfrm>
            <a:off x="914400" y="5577840"/>
            <a:ext cx="5120640" cy="228600"/>
          </a:xfrm>
          <a:prstGeom prst="rect">
            <a:avLst/>
          </a:prstGeom>
          <a:noFill/>
        </p:spPr>
        <p:txBody>
          <a:bodyPr wrap="square">
            <a:spAutoFit/>
          </a:bodyPr>
          <a:lstStyle/>
          <a:p>
            <a:pPr algn="l">
              <a:defRPr sz="1100" b="0">
                <a:solidFill>
                  <a:srgbClr val="E0E1DD"/>
                </a:solidFill>
                <a:latin typeface="Consolas" panose="020B0609020204030204"/>
              </a:defRPr>
            </a:pPr>
            <a:r>
              <a:t>    ├── providers.tf / versions.tf</a:t>
            </a:r>
          </a:p>
        </p:txBody>
      </p:sp>
      <p:sp>
        <p:nvSpPr>
          <p:cNvPr id="24" name="TextBox 23"/>
          <p:cNvSpPr txBox="1"/>
          <p:nvPr/>
        </p:nvSpPr>
        <p:spPr>
          <a:xfrm>
            <a:off x="6583680" y="1371600"/>
            <a:ext cx="5029200" cy="457200"/>
          </a:xfrm>
          <a:prstGeom prst="rect">
            <a:avLst/>
          </a:prstGeom>
          <a:noFill/>
        </p:spPr>
        <p:txBody>
          <a:bodyPr wrap="square">
            <a:spAutoFit/>
          </a:bodyPr>
          <a:lstStyle/>
          <a:p>
            <a:pPr algn="l">
              <a:defRPr sz="2200" b="1">
                <a:solidFill>
                  <a:srgbClr val="48CAE4"/>
                </a:solidFill>
                <a:latin typeface="Segoe UI" panose="020B0502040204020203"/>
              </a:defRPr>
            </a:pPr>
            <a:r>
              <a:t>Why Modules?</a:t>
            </a:r>
          </a:p>
        </p:txBody>
      </p:sp>
      <p:sp>
        <p:nvSpPr>
          <p:cNvPr id="25" name="Rounded Rectangle 24"/>
          <p:cNvSpPr/>
          <p:nvPr/>
        </p:nvSpPr>
        <p:spPr>
          <a:xfrm>
            <a:off x="6583680" y="2011680"/>
            <a:ext cx="5029200" cy="77724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0" y="2240280"/>
            <a:ext cx="457200" cy="320040"/>
          </a:xfrm>
          <a:prstGeom prst="rect">
            <a:avLst/>
          </a:prstGeom>
          <a:noFill/>
        </p:spPr>
        <p:txBody>
          <a:bodyPr wrap="square">
            <a:spAutoFit/>
          </a:bodyPr>
          <a:lstStyle/>
          <a:p>
            <a:pPr algn="l">
              <a:defRPr sz="1600" b="0">
                <a:solidFill>
                  <a:srgbClr val="FFFFFF"/>
                </a:solidFill>
                <a:latin typeface="Segoe UI" panose="020B0502040204020203"/>
              </a:defRPr>
            </a:pPr>
            <a:r>
              <a:t>🔄</a:t>
            </a:r>
          </a:p>
        </p:txBody>
      </p:sp>
      <p:sp>
        <p:nvSpPr>
          <p:cNvPr id="27" name="TextBox 26"/>
          <p:cNvSpPr txBox="1"/>
          <p:nvPr/>
        </p:nvSpPr>
        <p:spPr>
          <a:xfrm>
            <a:off x="7315200" y="2011680"/>
            <a:ext cx="4114800" cy="320040"/>
          </a:xfrm>
          <a:prstGeom prst="rect">
            <a:avLst/>
          </a:prstGeom>
          <a:noFill/>
        </p:spPr>
        <p:txBody>
          <a:bodyPr wrap="square">
            <a:spAutoFit/>
          </a:bodyPr>
          <a:lstStyle/>
          <a:p>
            <a:pPr algn="l">
              <a:defRPr sz="1500" b="1">
                <a:solidFill>
                  <a:srgbClr val="FFFFFF"/>
                </a:solidFill>
                <a:latin typeface="Segoe UI" panose="020B0502040204020203"/>
              </a:defRPr>
            </a:pPr>
            <a:r>
              <a:t>Reusability</a:t>
            </a:r>
          </a:p>
        </p:txBody>
      </p:sp>
      <p:sp>
        <p:nvSpPr>
          <p:cNvPr id="28" name="TextBox 27"/>
          <p:cNvSpPr txBox="1"/>
          <p:nvPr/>
        </p:nvSpPr>
        <p:spPr>
          <a:xfrm>
            <a:off x="7315200" y="2331720"/>
            <a:ext cx="4114800" cy="365760"/>
          </a:xfrm>
          <a:prstGeom prst="rect">
            <a:avLst/>
          </a:prstGeom>
          <a:noFill/>
        </p:spPr>
        <p:txBody>
          <a:bodyPr wrap="square">
            <a:spAutoFit/>
          </a:bodyPr>
          <a:lstStyle/>
          <a:p>
            <a:pPr algn="l">
              <a:defRPr sz="1200" b="0">
                <a:solidFill>
                  <a:srgbClr val="8D99AE"/>
                </a:solidFill>
                <a:latin typeface="Segoe UI" panose="020B0502040204020203"/>
              </a:defRPr>
            </a:pPr>
            <a:r>
              <a:t>Same modules, different environment parameters (dev/staging/prod)</a:t>
            </a:r>
          </a:p>
        </p:txBody>
      </p:sp>
      <p:sp>
        <p:nvSpPr>
          <p:cNvPr id="29" name="Rounded Rectangle 28"/>
          <p:cNvSpPr/>
          <p:nvPr/>
        </p:nvSpPr>
        <p:spPr>
          <a:xfrm>
            <a:off x="6583680" y="2926080"/>
            <a:ext cx="5029200" cy="77724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58305" y="3154680"/>
            <a:ext cx="457200" cy="320040"/>
          </a:xfrm>
          <a:prstGeom prst="rect">
            <a:avLst/>
          </a:prstGeom>
          <a:noFill/>
        </p:spPr>
        <p:txBody>
          <a:bodyPr wrap="square">
            <a:spAutoFit/>
          </a:bodyPr>
          <a:lstStyle/>
          <a:p>
            <a:pPr algn="l">
              <a:defRPr sz="1600" b="0">
                <a:solidFill>
                  <a:srgbClr val="FFFFFF"/>
                </a:solidFill>
                <a:latin typeface="Segoe UI" panose="020B0502040204020203"/>
              </a:defRPr>
            </a:pPr>
            <a:r>
              <a:t>📦</a:t>
            </a:r>
          </a:p>
        </p:txBody>
      </p:sp>
      <p:sp>
        <p:nvSpPr>
          <p:cNvPr id="31" name="TextBox 30"/>
          <p:cNvSpPr txBox="1"/>
          <p:nvPr/>
        </p:nvSpPr>
        <p:spPr>
          <a:xfrm>
            <a:off x="7315200" y="2926080"/>
            <a:ext cx="4114800" cy="320040"/>
          </a:xfrm>
          <a:prstGeom prst="rect">
            <a:avLst/>
          </a:prstGeom>
          <a:noFill/>
        </p:spPr>
        <p:txBody>
          <a:bodyPr wrap="square">
            <a:spAutoFit/>
          </a:bodyPr>
          <a:lstStyle/>
          <a:p>
            <a:pPr algn="l">
              <a:defRPr sz="1500" b="1">
                <a:solidFill>
                  <a:srgbClr val="FFFFFF"/>
                </a:solidFill>
                <a:latin typeface="Segoe UI" panose="020B0502040204020203"/>
              </a:defRPr>
            </a:pPr>
            <a:r>
              <a:t>Encapsulation</a:t>
            </a:r>
          </a:p>
        </p:txBody>
      </p:sp>
      <p:sp>
        <p:nvSpPr>
          <p:cNvPr id="32" name="TextBox 31"/>
          <p:cNvSpPr txBox="1"/>
          <p:nvPr/>
        </p:nvSpPr>
        <p:spPr>
          <a:xfrm>
            <a:off x="7315200" y="3246120"/>
            <a:ext cx="4114800" cy="365760"/>
          </a:xfrm>
          <a:prstGeom prst="rect">
            <a:avLst/>
          </a:prstGeom>
          <a:noFill/>
        </p:spPr>
        <p:txBody>
          <a:bodyPr wrap="square">
            <a:spAutoFit/>
          </a:bodyPr>
          <a:lstStyle/>
          <a:p>
            <a:pPr algn="l">
              <a:defRPr sz="1200" b="0">
                <a:solidFill>
                  <a:srgbClr val="8D99AE"/>
                </a:solidFill>
                <a:latin typeface="Segoe UI" panose="020B0502040204020203"/>
              </a:defRPr>
            </a:pPr>
            <a:r>
              <a:t>Each module is a black box with clean inputs/outputs interface</a:t>
            </a:r>
          </a:p>
        </p:txBody>
      </p:sp>
      <p:sp>
        <p:nvSpPr>
          <p:cNvPr id="33" name="Rounded Rectangle 32"/>
          <p:cNvSpPr/>
          <p:nvPr/>
        </p:nvSpPr>
        <p:spPr>
          <a:xfrm>
            <a:off x="6583680" y="3840480"/>
            <a:ext cx="5029200" cy="77724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0" y="4069080"/>
            <a:ext cx="457200" cy="320040"/>
          </a:xfrm>
          <a:prstGeom prst="rect">
            <a:avLst/>
          </a:prstGeom>
          <a:noFill/>
        </p:spPr>
        <p:txBody>
          <a:bodyPr wrap="square">
            <a:spAutoFit/>
          </a:bodyPr>
          <a:lstStyle/>
          <a:p>
            <a:pPr algn="l">
              <a:defRPr sz="1600" b="0">
                <a:solidFill>
                  <a:srgbClr val="FFFFFF"/>
                </a:solidFill>
                <a:latin typeface="Segoe UI" panose="020B0502040204020203"/>
              </a:defRPr>
            </a:pPr>
            <a:r>
              <a:t>🧱</a:t>
            </a:r>
          </a:p>
        </p:txBody>
      </p:sp>
      <p:sp>
        <p:nvSpPr>
          <p:cNvPr id="35" name="TextBox 34"/>
          <p:cNvSpPr txBox="1"/>
          <p:nvPr/>
        </p:nvSpPr>
        <p:spPr>
          <a:xfrm>
            <a:off x="7315200" y="3886200"/>
            <a:ext cx="4114800" cy="320040"/>
          </a:xfrm>
          <a:prstGeom prst="rect">
            <a:avLst/>
          </a:prstGeom>
          <a:noFill/>
        </p:spPr>
        <p:txBody>
          <a:bodyPr wrap="square">
            <a:spAutoFit/>
          </a:bodyPr>
          <a:lstStyle/>
          <a:p>
            <a:pPr algn="l">
              <a:defRPr sz="1500" b="1">
                <a:solidFill>
                  <a:srgbClr val="FFFFFF"/>
                </a:solidFill>
                <a:latin typeface="Segoe UI" panose="020B0502040204020203"/>
              </a:defRPr>
            </a:pPr>
            <a:r>
              <a:t>DRY Principle</a:t>
            </a:r>
          </a:p>
        </p:txBody>
      </p:sp>
      <p:sp>
        <p:nvSpPr>
          <p:cNvPr id="36" name="TextBox 35"/>
          <p:cNvSpPr txBox="1"/>
          <p:nvPr/>
        </p:nvSpPr>
        <p:spPr>
          <a:xfrm>
            <a:off x="7315200" y="4206240"/>
            <a:ext cx="4114800" cy="365760"/>
          </a:xfrm>
          <a:prstGeom prst="rect">
            <a:avLst/>
          </a:prstGeom>
          <a:noFill/>
        </p:spPr>
        <p:txBody>
          <a:bodyPr wrap="square">
            <a:spAutoFit/>
          </a:bodyPr>
          <a:lstStyle/>
          <a:p>
            <a:pPr algn="l">
              <a:defRPr sz="1200" b="0">
                <a:solidFill>
                  <a:srgbClr val="8D99AE"/>
                </a:solidFill>
                <a:latin typeface="Segoe UI" panose="020B0502040204020203"/>
              </a:defRPr>
            </a:pPr>
            <a:r>
              <a:t>Write once, deploy everywhere — no code duplication</a:t>
            </a:r>
          </a:p>
        </p:txBody>
      </p:sp>
      <p:sp>
        <p:nvSpPr>
          <p:cNvPr id="37" name="Rounded Rectangle 36"/>
          <p:cNvSpPr/>
          <p:nvPr/>
        </p:nvSpPr>
        <p:spPr>
          <a:xfrm>
            <a:off x="6583680" y="4754880"/>
            <a:ext cx="5029200" cy="77724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66560" y="4983480"/>
            <a:ext cx="457200" cy="320040"/>
          </a:xfrm>
          <a:prstGeom prst="rect">
            <a:avLst/>
          </a:prstGeom>
          <a:noFill/>
        </p:spPr>
        <p:txBody>
          <a:bodyPr wrap="square">
            <a:spAutoFit/>
          </a:bodyPr>
          <a:lstStyle/>
          <a:p>
            <a:pPr algn="l">
              <a:defRPr sz="1600" b="0">
                <a:solidFill>
                  <a:srgbClr val="FFFFFF"/>
                </a:solidFill>
                <a:latin typeface="Segoe UI" panose="020B0502040204020203"/>
              </a:defRPr>
            </a:pPr>
            <a:r>
              <a:t>🧪</a:t>
            </a:r>
          </a:p>
        </p:txBody>
      </p:sp>
      <p:sp>
        <p:nvSpPr>
          <p:cNvPr id="39" name="TextBox 38"/>
          <p:cNvSpPr txBox="1"/>
          <p:nvPr/>
        </p:nvSpPr>
        <p:spPr>
          <a:xfrm>
            <a:off x="7315200" y="4800600"/>
            <a:ext cx="4114800" cy="320040"/>
          </a:xfrm>
          <a:prstGeom prst="rect">
            <a:avLst/>
          </a:prstGeom>
          <a:noFill/>
        </p:spPr>
        <p:txBody>
          <a:bodyPr wrap="square">
            <a:spAutoFit/>
          </a:bodyPr>
          <a:lstStyle/>
          <a:p>
            <a:pPr algn="l">
              <a:defRPr sz="1500" b="1">
                <a:solidFill>
                  <a:srgbClr val="FFFFFF"/>
                </a:solidFill>
                <a:latin typeface="Segoe UI" panose="020B0502040204020203"/>
              </a:defRPr>
            </a:pPr>
            <a:r>
              <a:t>Testability</a:t>
            </a:r>
          </a:p>
        </p:txBody>
      </p:sp>
      <p:sp>
        <p:nvSpPr>
          <p:cNvPr id="40" name="TextBox 39"/>
          <p:cNvSpPr txBox="1"/>
          <p:nvPr/>
        </p:nvSpPr>
        <p:spPr>
          <a:xfrm>
            <a:off x="7315200" y="5120640"/>
            <a:ext cx="4114800" cy="365760"/>
          </a:xfrm>
          <a:prstGeom prst="rect">
            <a:avLst/>
          </a:prstGeom>
          <a:noFill/>
        </p:spPr>
        <p:txBody>
          <a:bodyPr wrap="square">
            <a:spAutoFit/>
          </a:bodyPr>
          <a:lstStyle/>
          <a:p>
            <a:pPr algn="l">
              <a:defRPr sz="1200" b="0">
                <a:solidFill>
                  <a:srgbClr val="8D99AE"/>
                </a:solidFill>
                <a:latin typeface="Segoe UI" panose="020B0502040204020203"/>
              </a:defRPr>
            </a:pPr>
            <a:r>
              <a:t>Modules can be independently validated and planned</a:t>
            </a:r>
          </a:p>
        </p:txBody>
      </p:sp>
      <p:sp>
        <p:nvSpPr>
          <p:cNvPr id="41" name="Rounded Rectangle 40"/>
          <p:cNvSpPr/>
          <p:nvPr/>
        </p:nvSpPr>
        <p:spPr>
          <a:xfrm>
            <a:off x="6583680" y="5669280"/>
            <a:ext cx="5029200" cy="73152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0" y="5806440"/>
            <a:ext cx="457200" cy="320040"/>
          </a:xfrm>
          <a:prstGeom prst="rect">
            <a:avLst/>
          </a:prstGeom>
          <a:noFill/>
        </p:spPr>
        <p:txBody>
          <a:bodyPr wrap="square">
            <a:spAutoFit/>
          </a:bodyPr>
          <a:lstStyle/>
          <a:p>
            <a:pPr algn="l">
              <a:defRPr sz="1600" b="0">
                <a:solidFill>
                  <a:srgbClr val="FFFFFF"/>
                </a:solidFill>
                <a:latin typeface="Segoe UI" panose="020B0502040204020203"/>
              </a:defRPr>
            </a:pPr>
            <a:r>
              <a:t>📐</a:t>
            </a:r>
          </a:p>
        </p:txBody>
      </p:sp>
      <p:sp>
        <p:nvSpPr>
          <p:cNvPr id="43" name="TextBox 42"/>
          <p:cNvSpPr txBox="1"/>
          <p:nvPr/>
        </p:nvSpPr>
        <p:spPr>
          <a:xfrm>
            <a:off x="7315200" y="5669280"/>
            <a:ext cx="4114800" cy="320040"/>
          </a:xfrm>
          <a:prstGeom prst="rect">
            <a:avLst/>
          </a:prstGeom>
          <a:noFill/>
        </p:spPr>
        <p:txBody>
          <a:bodyPr wrap="square">
            <a:spAutoFit/>
          </a:bodyPr>
          <a:lstStyle/>
          <a:p>
            <a:pPr algn="l">
              <a:defRPr sz="1500" b="1">
                <a:solidFill>
                  <a:srgbClr val="FFFFFF"/>
                </a:solidFill>
                <a:latin typeface="Segoe UI" panose="020B0502040204020203"/>
              </a:defRPr>
            </a:pPr>
            <a:r>
              <a:t>Separation of Concerns</a:t>
            </a:r>
          </a:p>
        </p:txBody>
      </p:sp>
      <p:sp>
        <p:nvSpPr>
          <p:cNvPr id="44" name="TextBox 43"/>
          <p:cNvSpPr txBox="1"/>
          <p:nvPr/>
        </p:nvSpPr>
        <p:spPr>
          <a:xfrm>
            <a:off x="7315200" y="5989320"/>
            <a:ext cx="4114800" cy="365760"/>
          </a:xfrm>
          <a:prstGeom prst="rect">
            <a:avLst/>
          </a:prstGeom>
          <a:noFill/>
        </p:spPr>
        <p:txBody>
          <a:bodyPr wrap="square">
            <a:spAutoFit/>
          </a:bodyPr>
          <a:lstStyle/>
          <a:p>
            <a:pPr algn="l">
              <a:defRPr sz="1200" b="0">
                <a:solidFill>
                  <a:srgbClr val="8D99AE"/>
                </a:solidFill>
                <a:latin typeface="Segoe UI" panose="020B0502040204020203"/>
              </a:defRPr>
            </a:pPr>
            <a:r>
              <a:t>Networking, compute, storage — each module has one job</a:t>
            </a:r>
          </a:p>
        </p:txBody>
      </p:sp>
      <p:sp>
        <p:nvSpPr>
          <p:cNvPr id="45" name="TextBox 44"/>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8/15</a:t>
            </a:r>
          </a:p>
        </p:txBody>
      </p:sp>
      <p:sp>
        <p:nvSpPr>
          <p:cNvPr id="46" name="TextBox 45"/>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TERRAFORM WORKFLOW</a:t>
            </a:r>
          </a:p>
        </p:txBody>
      </p:sp>
      <p:sp>
        <p:nvSpPr>
          <p:cNvPr id="3" name="Rectangle 2"/>
          <p:cNvSpPr/>
          <p:nvPr/>
        </p:nvSpPr>
        <p:spPr>
          <a:xfrm>
            <a:off x="731520" y="109728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508760"/>
            <a:ext cx="457200" cy="45720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36192"/>
            <a:ext cx="457200" cy="411480"/>
          </a:xfrm>
          <a:prstGeom prst="rect">
            <a:avLst/>
          </a:prstGeom>
          <a:noFill/>
        </p:spPr>
        <p:txBody>
          <a:bodyPr wrap="square">
            <a:spAutoFit/>
          </a:bodyPr>
          <a:lstStyle/>
          <a:p>
            <a:pPr algn="ctr">
              <a:defRPr sz="1600" b="1">
                <a:solidFill>
                  <a:srgbClr val="FFFFFF"/>
                </a:solidFill>
                <a:latin typeface="Segoe UI" panose="020B0502040204020203"/>
              </a:defRPr>
            </a:pPr>
            <a:r>
              <a:t>1</a:t>
            </a:r>
          </a:p>
        </p:txBody>
      </p:sp>
      <p:sp>
        <p:nvSpPr>
          <p:cNvPr id="6" name="Rounded Rectangle 5"/>
          <p:cNvSpPr/>
          <p:nvPr/>
        </p:nvSpPr>
        <p:spPr>
          <a:xfrm>
            <a:off x="1645920" y="1463040"/>
            <a:ext cx="2926080" cy="50292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554480"/>
            <a:ext cx="2743200" cy="320040"/>
          </a:xfrm>
          <a:prstGeom prst="rect">
            <a:avLst/>
          </a:prstGeom>
          <a:noFill/>
        </p:spPr>
        <p:txBody>
          <a:bodyPr wrap="square">
            <a:spAutoFit/>
          </a:bodyPr>
          <a:lstStyle/>
          <a:p>
            <a:pPr algn="l">
              <a:defRPr sz="1400" b="1">
                <a:solidFill>
                  <a:srgbClr val="06D6A0"/>
                </a:solidFill>
                <a:latin typeface="Consolas" panose="020B0609020204030204"/>
              </a:defRPr>
            </a:pPr>
            <a:r>
              <a:t>terraform init</a:t>
            </a:r>
          </a:p>
        </p:txBody>
      </p:sp>
      <p:sp>
        <p:nvSpPr>
          <p:cNvPr id="8" name="TextBox 7"/>
          <p:cNvSpPr txBox="1"/>
          <p:nvPr/>
        </p:nvSpPr>
        <p:spPr>
          <a:xfrm>
            <a:off x="4663440" y="1554480"/>
            <a:ext cx="365760" cy="320040"/>
          </a:xfrm>
          <a:prstGeom prst="rect">
            <a:avLst/>
          </a:prstGeom>
          <a:noFill/>
        </p:spPr>
        <p:txBody>
          <a:bodyPr wrap="square">
            <a:spAutoFit/>
          </a:bodyPr>
          <a:lstStyle/>
          <a:p>
            <a:pPr algn="l">
              <a:defRPr sz="1800" b="0">
                <a:solidFill>
                  <a:srgbClr val="8D99AE"/>
                </a:solidFill>
                <a:latin typeface="Segoe UI" panose="020B0502040204020203"/>
              </a:defRPr>
            </a:pPr>
            <a:r>
              <a:t>→</a:t>
            </a:r>
          </a:p>
        </p:txBody>
      </p:sp>
      <p:sp>
        <p:nvSpPr>
          <p:cNvPr id="9" name="TextBox 8"/>
          <p:cNvSpPr txBox="1"/>
          <p:nvPr/>
        </p:nvSpPr>
        <p:spPr>
          <a:xfrm>
            <a:off x="5029200" y="155448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Download providers, initialize modules</a:t>
            </a:r>
          </a:p>
        </p:txBody>
      </p:sp>
      <p:sp>
        <p:nvSpPr>
          <p:cNvPr id="10" name="Rounded Rectangle 9"/>
          <p:cNvSpPr/>
          <p:nvPr/>
        </p:nvSpPr>
        <p:spPr>
          <a:xfrm>
            <a:off x="9875520" y="1508760"/>
            <a:ext cx="1645920" cy="411480"/>
          </a:xfrm>
          <a:prstGeom prst="roundRect">
            <a:avLst>
              <a:gd name="adj" fmla="val 5000"/>
            </a:avLst>
          </a:prstGeom>
          <a:solidFill>
            <a:srgbClr val="1C2541"/>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0" y="1554480"/>
            <a:ext cx="1645920" cy="320040"/>
          </a:xfrm>
          <a:prstGeom prst="rect">
            <a:avLst/>
          </a:prstGeom>
          <a:noFill/>
        </p:spPr>
        <p:txBody>
          <a:bodyPr wrap="square">
            <a:spAutoFit/>
          </a:bodyPr>
          <a:lstStyle/>
          <a:p>
            <a:pPr algn="ctr">
              <a:defRPr sz="1200" b="0">
                <a:solidFill>
                  <a:srgbClr val="06D6A0"/>
                </a:solidFill>
                <a:latin typeface="Segoe UI" panose="020B0502040204020203"/>
              </a:defRPr>
            </a:pPr>
            <a:r>
              <a:t>Setup</a:t>
            </a:r>
          </a:p>
        </p:txBody>
      </p:sp>
      <p:sp>
        <p:nvSpPr>
          <p:cNvPr id="12" name="Rectangle 11"/>
          <p:cNvSpPr/>
          <p:nvPr/>
        </p:nvSpPr>
        <p:spPr>
          <a:xfrm>
            <a:off x="1115568" y="1965960"/>
            <a:ext cx="25400" cy="320040"/>
          </a:xfrm>
          <a:prstGeom prst="rect">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2331720"/>
            <a:ext cx="457200" cy="45720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59152"/>
            <a:ext cx="457200" cy="411480"/>
          </a:xfrm>
          <a:prstGeom prst="rect">
            <a:avLst/>
          </a:prstGeom>
          <a:noFill/>
        </p:spPr>
        <p:txBody>
          <a:bodyPr wrap="square">
            <a:spAutoFit/>
          </a:bodyPr>
          <a:lstStyle/>
          <a:p>
            <a:pPr algn="ctr">
              <a:defRPr sz="1600" b="1">
                <a:solidFill>
                  <a:srgbClr val="FFFFFF"/>
                </a:solidFill>
                <a:latin typeface="Segoe UI" panose="020B0502040204020203"/>
              </a:defRPr>
            </a:pPr>
            <a:r>
              <a:t>2</a:t>
            </a:r>
          </a:p>
        </p:txBody>
      </p:sp>
      <p:sp>
        <p:nvSpPr>
          <p:cNvPr id="15" name="Rounded Rectangle 14"/>
          <p:cNvSpPr/>
          <p:nvPr/>
        </p:nvSpPr>
        <p:spPr>
          <a:xfrm>
            <a:off x="1645920" y="2286000"/>
            <a:ext cx="2926080" cy="50292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2377440"/>
            <a:ext cx="2743200" cy="320040"/>
          </a:xfrm>
          <a:prstGeom prst="rect">
            <a:avLst/>
          </a:prstGeom>
          <a:noFill/>
        </p:spPr>
        <p:txBody>
          <a:bodyPr wrap="square">
            <a:spAutoFit/>
          </a:bodyPr>
          <a:lstStyle/>
          <a:p>
            <a:pPr algn="l">
              <a:defRPr sz="1400" b="1">
                <a:solidFill>
                  <a:srgbClr val="06D6A0"/>
                </a:solidFill>
                <a:latin typeface="Consolas" panose="020B0609020204030204"/>
              </a:defRPr>
            </a:pPr>
            <a:r>
              <a:t>terraform fmt</a:t>
            </a:r>
          </a:p>
        </p:txBody>
      </p:sp>
      <p:sp>
        <p:nvSpPr>
          <p:cNvPr id="17" name="TextBox 16"/>
          <p:cNvSpPr txBox="1"/>
          <p:nvPr/>
        </p:nvSpPr>
        <p:spPr>
          <a:xfrm>
            <a:off x="4663440" y="2377440"/>
            <a:ext cx="365760" cy="320040"/>
          </a:xfrm>
          <a:prstGeom prst="rect">
            <a:avLst/>
          </a:prstGeom>
          <a:noFill/>
        </p:spPr>
        <p:txBody>
          <a:bodyPr wrap="square">
            <a:spAutoFit/>
          </a:bodyPr>
          <a:lstStyle/>
          <a:p>
            <a:pPr algn="l">
              <a:defRPr sz="1800" b="0">
                <a:solidFill>
                  <a:srgbClr val="8D99AE"/>
                </a:solidFill>
                <a:latin typeface="Segoe UI" panose="020B0502040204020203"/>
              </a:defRPr>
            </a:pPr>
            <a:r>
              <a:t>→</a:t>
            </a:r>
          </a:p>
        </p:txBody>
      </p:sp>
      <p:sp>
        <p:nvSpPr>
          <p:cNvPr id="18" name="TextBox 17"/>
          <p:cNvSpPr txBox="1"/>
          <p:nvPr/>
        </p:nvSpPr>
        <p:spPr>
          <a:xfrm>
            <a:off x="5029200" y="237744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Format code to HashiCorp style</a:t>
            </a:r>
          </a:p>
        </p:txBody>
      </p:sp>
      <p:sp>
        <p:nvSpPr>
          <p:cNvPr id="19" name="Rounded Rectangle 18"/>
          <p:cNvSpPr/>
          <p:nvPr/>
        </p:nvSpPr>
        <p:spPr>
          <a:xfrm>
            <a:off x="9875520" y="2331720"/>
            <a:ext cx="1645920" cy="411480"/>
          </a:xfrm>
          <a:prstGeom prst="roundRect">
            <a:avLst>
              <a:gd name="adj" fmla="val 5000"/>
            </a:avLst>
          </a:prstGeom>
          <a:solidFill>
            <a:srgbClr val="1C2541"/>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377440"/>
            <a:ext cx="1645920" cy="320040"/>
          </a:xfrm>
          <a:prstGeom prst="rect">
            <a:avLst/>
          </a:prstGeom>
          <a:noFill/>
        </p:spPr>
        <p:txBody>
          <a:bodyPr wrap="square">
            <a:spAutoFit/>
          </a:bodyPr>
          <a:lstStyle/>
          <a:p>
            <a:pPr algn="ctr">
              <a:defRPr sz="1200" b="0">
                <a:solidFill>
                  <a:srgbClr val="06D6A0"/>
                </a:solidFill>
                <a:latin typeface="Segoe UI" panose="020B0502040204020203"/>
              </a:defRPr>
            </a:pPr>
            <a:r>
              <a:t>Style</a:t>
            </a:r>
          </a:p>
        </p:txBody>
      </p:sp>
      <p:sp>
        <p:nvSpPr>
          <p:cNvPr id="21" name="Rectangle 20"/>
          <p:cNvSpPr/>
          <p:nvPr/>
        </p:nvSpPr>
        <p:spPr>
          <a:xfrm>
            <a:off x="1115568" y="2788920"/>
            <a:ext cx="25400" cy="320040"/>
          </a:xfrm>
          <a:prstGeom prst="rect">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3154680"/>
            <a:ext cx="457200" cy="45720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182112"/>
            <a:ext cx="457200" cy="411480"/>
          </a:xfrm>
          <a:prstGeom prst="rect">
            <a:avLst/>
          </a:prstGeom>
          <a:noFill/>
        </p:spPr>
        <p:txBody>
          <a:bodyPr wrap="square">
            <a:spAutoFit/>
          </a:bodyPr>
          <a:lstStyle/>
          <a:p>
            <a:pPr algn="ctr">
              <a:defRPr sz="1600" b="1">
                <a:solidFill>
                  <a:srgbClr val="FFFFFF"/>
                </a:solidFill>
                <a:latin typeface="Segoe UI" panose="020B0502040204020203"/>
              </a:defRPr>
            </a:pPr>
            <a:r>
              <a:t>3</a:t>
            </a:r>
          </a:p>
        </p:txBody>
      </p:sp>
      <p:sp>
        <p:nvSpPr>
          <p:cNvPr id="24" name="Rounded Rectangle 23"/>
          <p:cNvSpPr/>
          <p:nvPr/>
        </p:nvSpPr>
        <p:spPr>
          <a:xfrm>
            <a:off x="1645920" y="3108960"/>
            <a:ext cx="2926080" cy="50292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0" y="3200400"/>
            <a:ext cx="2743200" cy="320040"/>
          </a:xfrm>
          <a:prstGeom prst="rect">
            <a:avLst/>
          </a:prstGeom>
          <a:noFill/>
        </p:spPr>
        <p:txBody>
          <a:bodyPr wrap="square">
            <a:spAutoFit/>
          </a:bodyPr>
          <a:lstStyle/>
          <a:p>
            <a:pPr algn="l">
              <a:defRPr sz="1400" b="1">
                <a:solidFill>
                  <a:srgbClr val="06D6A0"/>
                </a:solidFill>
                <a:latin typeface="Consolas" panose="020B0609020204030204"/>
              </a:defRPr>
            </a:pPr>
            <a:r>
              <a:t>terraform validate</a:t>
            </a:r>
          </a:p>
        </p:txBody>
      </p:sp>
      <p:sp>
        <p:nvSpPr>
          <p:cNvPr id="26" name="TextBox 25"/>
          <p:cNvSpPr txBox="1"/>
          <p:nvPr/>
        </p:nvSpPr>
        <p:spPr>
          <a:xfrm>
            <a:off x="4663440" y="3200400"/>
            <a:ext cx="365760" cy="320040"/>
          </a:xfrm>
          <a:prstGeom prst="rect">
            <a:avLst/>
          </a:prstGeom>
          <a:noFill/>
        </p:spPr>
        <p:txBody>
          <a:bodyPr wrap="square">
            <a:spAutoFit/>
          </a:bodyPr>
          <a:lstStyle/>
          <a:p>
            <a:pPr algn="l">
              <a:defRPr sz="1800" b="0">
                <a:solidFill>
                  <a:srgbClr val="8D99AE"/>
                </a:solidFill>
                <a:latin typeface="Segoe UI" panose="020B0502040204020203"/>
              </a:defRPr>
            </a:pPr>
            <a:r>
              <a:t>→</a:t>
            </a:r>
          </a:p>
        </p:txBody>
      </p:sp>
      <p:sp>
        <p:nvSpPr>
          <p:cNvPr id="27" name="TextBox 26"/>
          <p:cNvSpPr txBox="1"/>
          <p:nvPr/>
        </p:nvSpPr>
        <p:spPr>
          <a:xfrm>
            <a:off x="5029200" y="320040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Check syntax &amp; internal consistency</a:t>
            </a:r>
          </a:p>
        </p:txBody>
      </p:sp>
      <p:sp>
        <p:nvSpPr>
          <p:cNvPr id="28" name="Rounded Rectangle 27"/>
          <p:cNvSpPr/>
          <p:nvPr/>
        </p:nvSpPr>
        <p:spPr>
          <a:xfrm>
            <a:off x="9875520" y="3154680"/>
            <a:ext cx="1645920" cy="411480"/>
          </a:xfrm>
          <a:prstGeom prst="roundRect">
            <a:avLst>
              <a:gd name="adj" fmla="val 5000"/>
            </a:avLst>
          </a:prstGeom>
          <a:solidFill>
            <a:srgbClr val="1C2541"/>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3200400"/>
            <a:ext cx="1645920" cy="320040"/>
          </a:xfrm>
          <a:prstGeom prst="rect">
            <a:avLst/>
          </a:prstGeom>
          <a:noFill/>
        </p:spPr>
        <p:txBody>
          <a:bodyPr wrap="square">
            <a:spAutoFit/>
          </a:bodyPr>
          <a:lstStyle/>
          <a:p>
            <a:pPr algn="ctr">
              <a:defRPr sz="1200" b="0">
                <a:solidFill>
                  <a:srgbClr val="06D6A0"/>
                </a:solidFill>
                <a:latin typeface="Segoe UI" panose="020B0502040204020203"/>
              </a:defRPr>
            </a:pPr>
            <a:r>
              <a:t>✅ Success!</a:t>
            </a:r>
          </a:p>
        </p:txBody>
      </p:sp>
      <p:sp>
        <p:nvSpPr>
          <p:cNvPr id="30" name="Rectangle 29"/>
          <p:cNvSpPr/>
          <p:nvPr/>
        </p:nvSpPr>
        <p:spPr>
          <a:xfrm>
            <a:off x="1115568" y="3611880"/>
            <a:ext cx="25400" cy="320040"/>
          </a:xfrm>
          <a:prstGeom prst="rect">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14400" y="3977640"/>
            <a:ext cx="457200" cy="45720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4005072"/>
            <a:ext cx="457200" cy="411480"/>
          </a:xfrm>
          <a:prstGeom prst="rect">
            <a:avLst/>
          </a:prstGeom>
          <a:noFill/>
        </p:spPr>
        <p:txBody>
          <a:bodyPr wrap="square">
            <a:spAutoFit/>
          </a:bodyPr>
          <a:lstStyle/>
          <a:p>
            <a:pPr algn="ctr">
              <a:defRPr sz="1600" b="1">
                <a:solidFill>
                  <a:srgbClr val="FFFFFF"/>
                </a:solidFill>
                <a:latin typeface="Segoe UI" panose="020B0502040204020203"/>
              </a:defRPr>
            </a:pPr>
            <a:r>
              <a:t>4</a:t>
            </a:r>
          </a:p>
        </p:txBody>
      </p:sp>
      <p:sp>
        <p:nvSpPr>
          <p:cNvPr id="33" name="Rounded Rectangle 32"/>
          <p:cNvSpPr/>
          <p:nvPr/>
        </p:nvSpPr>
        <p:spPr>
          <a:xfrm>
            <a:off x="1645920" y="3931920"/>
            <a:ext cx="2926080" cy="50292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28800" y="4023360"/>
            <a:ext cx="2743200" cy="320040"/>
          </a:xfrm>
          <a:prstGeom prst="rect">
            <a:avLst/>
          </a:prstGeom>
          <a:noFill/>
        </p:spPr>
        <p:txBody>
          <a:bodyPr wrap="square">
            <a:spAutoFit/>
          </a:bodyPr>
          <a:lstStyle/>
          <a:p>
            <a:pPr algn="l">
              <a:defRPr sz="1400" b="1">
                <a:solidFill>
                  <a:srgbClr val="06D6A0"/>
                </a:solidFill>
                <a:latin typeface="Consolas" panose="020B0609020204030204"/>
              </a:defRPr>
            </a:pPr>
            <a:r>
              <a:t>terraform plan</a:t>
            </a:r>
          </a:p>
        </p:txBody>
      </p:sp>
      <p:sp>
        <p:nvSpPr>
          <p:cNvPr id="35" name="TextBox 34"/>
          <p:cNvSpPr txBox="1"/>
          <p:nvPr/>
        </p:nvSpPr>
        <p:spPr>
          <a:xfrm>
            <a:off x="4663440" y="4023360"/>
            <a:ext cx="365760" cy="320040"/>
          </a:xfrm>
          <a:prstGeom prst="rect">
            <a:avLst/>
          </a:prstGeom>
          <a:noFill/>
        </p:spPr>
        <p:txBody>
          <a:bodyPr wrap="square">
            <a:spAutoFit/>
          </a:bodyPr>
          <a:lstStyle/>
          <a:p>
            <a:pPr algn="l">
              <a:defRPr sz="1800" b="0">
                <a:solidFill>
                  <a:srgbClr val="8D99AE"/>
                </a:solidFill>
                <a:latin typeface="Segoe UI" panose="020B0502040204020203"/>
              </a:defRPr>
            </a:pPr>
            <a:r>
              <a:t>→</a:t>
            </a:r>
          </a:p>
        </p:txBody>
      </p:sp>
      <p:sp>
        <p:nvSpPr>
          <p:cNvPr id="36" name="TextBox 35"/>
          <p:cNvSpPr txBox="1"/>
          <p:nvPr/>
        </p:nvSpPr>
        <p:spPr>
          <a:xfrm>
            <a:off x="5029200" y="402336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Preview changes (dry run, no modifications)</a:t>
            </a:r>
          </a:p>
        </p:txBody>
      </p:sp>
      <p:sp>
        <p:nvSpPr>
          <p:cNvPr id="37" name="Rounded Rectangle 36"/>
          <p:cNvSpPr/>
          <p:nvPr/>
        </p:nvSpPr>
        <p:spPr>
          <a:xfrm>
            <a:off x="9875520" y="3977640"/>
            <a:ext cx="1645920" cy="411480"/>
          </a:xfrm>
          <a:prstGeom prst="roundRect">
            <a:avLst>
              <a:gd name="adj" fmla="val 5000"/>
            </a:avLst>
          </a:prstGeom>
          <a:solidFill>
            <a:srgbClr val="1C2541"/>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0" y="4023360"/>
            <a:ext cx="1645920" cy="320040"/>
          </a:xfrm>
          <a:prstGeom prst="rect">
            <a:avLst/>
          </a:prstGeom>
          <a:noFill/>
        </p:spPr>
        <p:txBody>
          <a:bodyPr wrap="square">
            <a:spAutoFit/>
          </a:bodyPr>
          <a:lstStyle/>
          <a:p>
            <a:pPr algn="ctr">
              <a:defRPr sz="1200" b="0">
                <a:solidFill>
                  <a:srgbClr val="06D6A0"/>
                </a:solidFill>
                <a:latin typeface="Segoe UI" panose="020B0502040204020203"/>
              </a:defRPr>
            </a:pPr>
            <a:r>
              <a:t>15 to add</a:t>
            </a:r>
          </a:p>
        </p:txBody>
      </p:sp>
      <p:sp>
        <p:nvSpPr>
          <p:cNvPr id="39" name="Rectangle 38"/>
          <p:cNvSpPr/>
          <p:nvPr/>
        </p:nvSpPr>
        <p:spPr>
          <a:xfrm>
            <a:off x="1115568" y="4434840"/>
            <a:ext cx="25400" cy="320040"/>
          </a:xfrm>
          <a:prstGeom prst="rect">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14400" y="4800600"/>
            <a:ext cx="457200" cy="45720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828032"/>
            <a:ext cx="457200" cy="411480"/>
          </a:xfrm>
          <a:prstGeom prst="rect">
            <a:avLst/>
          </a:prstGeom>
          <a:noFill/>
        </p:spPr>
        <p:txBody>
          <a:bodyPr wrap="square">
            <a:spAutoFit/>
          </a:bodyPr>
          <a:lstStyle/>
          <a:p>
            <a:pPr algn="ctr">
              <a:defRPr sz="1600" b="1">
                <a:solidFill>
                  <a:srgbClr val="FFFFFF"/>
                </a:solidFill>
                <a:latin typeface="Segoe UI" panose="020B0502040204020203"/>
              </a:defRPr>
            </a:pPr>
            <a:r>
              <a:t>5</a:t>
            </a:r>
          </a:p>
        </p:txBody>
      </p:sp>
      <p:sp>
        <p:nvSpPr>
          <p:cNvPr id="42" name="Rounded Rectangle 41"/>
          <p:cNvSpPr/>
          <p:nvPr/>
        </p:nvSpPr>
        <p:spPr>
          <a:xfrm>
            <a:off x="1645920" y="4754880"/>
            <a:ext cx="2926080" cy="50292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0" y="4846320"/>
            <a:ext cx="2743200" cy="320040"/>
          </a:xfrm>
          <a:prstGeom prst="rect">
            <a:avLst/>
          </a:prstGeom>
          <a:noFill/>
        </p:spPr>
        <p:txBody>
          <a:bodyPr wrap="square">
            <a:spAutoFit/>
          </a:bodyPr>
          <a:lstStyle/>
          <a:p>
            <a:pPr algn="l">
              <a:defRPr sz="1400" b="1">
                <a:solidFill>
                  <a:srgbClr val="06D6A0"/>
                </a:solidFill>
                <a:latin typeface="Consolas" panose="020B0609020204030204"/>
              </a:defRPr>
            </a:pPr>
            <a:r>
              <a:t>terraform apply</a:t>
            </a:r>
          </a:p>
        </p:txBody>
      </p:sp>
      <p:sp>
        <p:nvSpPr>
          <p:cNvPr id="44" name="TextBox 43"/>
          <p:cNvSpPr txBox="1"/>
          <p:nvPr/>
        </p:nvSpPr>
        <p:spPr>
          <a:xfrm>
            <a:off x="4663440" y="4846320"/>
            <a:ext cx="365760" cy="320040"/>
          </a:xfrm>
          <a:prstGeom prst="rect">
            <a:avLst/>
          </a:prstGeom>
          <a:noFill/>
        </p:spPr>
        <p:txBody>
          <a:bodyPr wrap="square">
            <a:spAutoFit/>
          </a:bodyPr>
          <a:lstStyle/>
          <a:p>
            <a:pPr algn="l">
              <a:defRPr sz="1800" b="0">
                <a:solidFill>
                  <a:srgbClr val="8D99AE"/>
                </a:solidFill>
                <a:latin typeface="Segoe UI" panose="020B0502040204020203"/>
              </a:defRPr>
            </a:pPr>
            <a:r>
              <a:t>→</a:t>
            </a:r>
          </a:p>
        </p:txBody>
      </p:sp>
      <p:sp>
        <p:nvSpPr>
          <p:cNvPr id="45" name="TextBox 44"/>
          <p:cNvSpPr txBox="1"/>
          <p:nvPr/>
        </p:nvSpPr>
        <p:spPr>
          <a:xfrm>
            <a:off x="5029200" y="484632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Execute plan — create resources in AWS</a:t>
            </a:r>
          </a:p>
        </p:txBody>
      </p:sp>
      <p:sp>
        <p:nvSpPr>
          <p:cNvPr id="46" name="Rounded Rectangle 45"/>
          <p:cNvSpPr/>
          <p:nvPr/>
        </p:nvSpPr>
        <p:spPr>
          <a:xfrm>
            <a:off x="9875520" y="4800600"/>
            <a:ext cx="1645920" cy="411480"/>
          </a:xfrm>
          <a:prstGeom prst="roundRect">
            <a:avLst>
              <a:gd name="adj" fmla="val 5000"/>
            </a:avLst>
          </a:prstGeom>
          <a:solidFill>
            <a:srgbClr val="1C2541"/>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75520" y="4846320"/>
            <a:ext cx="1645920" cy="320040"/>
          </a:xfrm>
          <a:prstGeom prst="rect">
            <a:avLst/>
          </a:prstGeom>
          <a:noFill/>
        </p:spPr>
        <p:txBody>
          <a:bodyPr wrap="square">
            <a:spAutoFit/>
          </a:bodyPr>
          <a:lstStyle/>
          <a:p>
            <a:pPr algn="ctr">
              <a:defRPr sz="1200" b="0">
                <a:solidFill>
                  <a:srgbClr val="06D6A0"/>
                </a:solidFill>
                <a:latin typeface="Segoe UI" panose="020B0502040204020203"/>
              </a:defRPr>
            </a:pPr>
            <a:r>
              <a:t>15 added</a:t>
            </a:r>
          </a:p>
        </p:txBody>
      </p:sp>
      <p:sp>
        <p:nvSpPr>
          <p:cNvPr id="48" name="Rectangle 47"/>
          <p:cNvSpPr/>
          <p:nvPr/>
        </p:nvSpPr>
        <p:spPr>
          <a:xfrm>
            <a:off x="1115568" y="5257800"/>
            <a:ext cx="25400" cy="320040"/>
          </a:xfrm>
          <a:prstGeom prst="rect">
            <a:avLst/>
          </a:prstGeom>
          <a:solidFill>
            <a:srgbClr val="2A3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14400" y="5623560"/>
            <a:ext cx="457200" cy="45720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650992"/>
            <a:ext cx="457200" cy="411480"/>
          </a:xfrm>
          <a:prstGeom prst="rect">
            <a:avLst/>
          </a:prstGeom>
          <a:noFill/>
        </p:spPr>
        <p:txBody>
          <a:bodyPr wrap="square">
            <a:spAutoFit/>
          </a:bodyPr>
          <a:lstStyle/>
          <a:p>
            <a:pPr algn="ctr">
              <a:defRPr sz="1600" b="1">
                <a:solidFill>
                  <a:srgbClr val="FFFFFF"/>
                </a:solidFill>
                <a:latin typeface="Segoe UI" panose="020B0502040204020203"/>
              </a:defRPr>
            </a:pPr>
            <a:r>
              <a:t>6</a:t>
            </a:r>
          </a:p>
        </p:txBody>
      </p:sp>
      <p:sp>
        <p:nvSpPr>
          <p:cNvPr id="51" name="Rounded Rectangle 50"/>
          <p:cNvSpPr/>
          <p:nvPr/>
        </p:nvSpPr>
        <p:spPr>
          <a:xfrm>
            <a:off x="1645920" y="5577840"/>
            <a:ext cx="2926080" cy="50292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828800" y="5669280"/>
            <a:ext cx="2743200" cy="320040"/>
          </a:xfrm>
          <a:prstGeom prst="rect">
            <a:avLst/>
          </a:prstGeom>
          <a:noFill/>
        </p:spPr>
        <p:txBody>
          <a:bodyPr wrap="square">
            <a:spAutoFit/>
          </a:bodyPr>
          <a:lstStyle/>
          <a:p>
            <a:pPr algn="l">
              <a:defRPr sz="1400" b="1">
                <a:solidFill>
                  <a:srgbClr val="06D6A0"/>
                </a:solidFill>
                <a:latin typeface="Consolas" panose="020B0609020204030204"/>
              </a:defRPr>
            </a:pPr>
            <a:r>
              <a:t>terraform destroy</a:t>
            </a:r>
          </a:p>
        </p:txBody>
      </p:sp>
      <p:sp>
        <p:nvSpPr>
          <p:cNvPr id="53" name="TextBox 52"/>
          <p:cNvSpPr txBox="1"/>
          <p:nvPr/>
        </p:nvSpPr>
        <p:spPr>
          <a:xfrm>
            <a:off x="4663440" y="5669280"/>
            <a:ext cx="365760" cy="320040"/>
          </a:xfrm>
          <a:prstGeom prst="rect">
            <a:avLst/>
          </a:prstGeom>
          <a:noFill/>
        </p:spPr>
        <p:txBody>
          <a:bodyPr wrap="square">
            <a:spAutoFit/>
          </a:bodyPr>
          <a:lstStyle/>
          <a:p>
            <a:pPr algn="l">
              <a:defRPr sz="1800" b="0">
                <a:solidFill>
                  <a:srgbClr val="8D99AE"/>
                </a:solidFill>
                <a:latin typeface="Segoe UI" panose="020B0502040204020203"/>
              </a:defRPr>
            </a:pPr>
            <a:r>
              <a:t>→</a:t>
            </a:r>
          </a:p>
        </p:txBody>
      </p:sp>
      <p:sp>
        <p:nvSpPr>
          <p:cNvPr id="54" name="TextBox 53"/>
          <p:cNvSpPr txBox="1"/>
          <p:nvPr/>
        </p:nvSpPr>
        <p:spPr>
          <a:xfrm>
            <a:off x="5029200" y="566928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Delete all managed resources</a:t>
            </a:r>
          </a:p>
        </p:txBody>
      </p:sp>
      <p:sp>
        <p:nvSpPr>
          <p:cNvPr id="55" name="Rounded Rectangle 54"/>
          <p:cNvSpPr/>
          <p:nvPr/>
        </p:nvSpPr>
        <p:spPr>
          <a:xfrm>
            <a:off x="9875520" y="5623560"/>
            <a:ext cx="1645920" cy="411480"/>
          </a:xfrm>
          <a:prstGeom prst="roundRect">
            <a:avLst>
              <a:gd name="adj" fmla="val 5000"/>
            </a:avLst>
          </a:prstGeom>
          <a:solidFill>
            <a:srgbClr val="1C2541"/>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75520" y="5669280"/>
            <a:ext cx="1645920" cy="320040"/>
          </a:xfrm>
          <a:prstGeom prst="rect">
            <a:avLst/>
          </a:prstGeom>
          <a:noFill/>
        </p:spPr>
        <p:txBody>
          <a:bodyPr wrap="square">
            <a:spAutoFit/>
          </a:bodyPr>
          <a:lstStyle/>
          <a:p>
            <a:pPr algn="ctr">
              <a:defRPr sz="1200" b="0">
                <a:solidFill>
                  <a:srgbClr val="06D6A0"/>
                </a:solidFill>
                <a:latin typeface="Segoe UI" panose="020B0502040204020203"/>
              </a:defRPr>
            </a:pPr>
            <a:r>
              <a:t>15 destroyed</a:t>
            </a:r>
          </a:p>
        </p:txBody>
      </p:sp>
      <p:sp>
        <p:nvSpPr>
          <p:cNvPr id="57" name="TextBox 56"/>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9/15</a:t>
            </a:r>
          </a:p>
        </p:txBody>
      </p:sp>
      <p:sp>
        <p:nvSpPr>
          <p:cNvPr id="58" name="TextBox 57"/>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355600"/>
            <a:ext cx="9868535" cy="583565"/>
          </a:xfrm>
          <a:prstGeom prst="rect">
            <a:avLst/>
          </a:prstGeom>
          <a:noFill/>
        </p:spPr>
        <p:txBody>
          <a:bodyPr wrap="square">
            <a:spAutoFit/>
          </a:bodyPr>
          <a:lstStyle/>
          <a:p>
            <a:pPr algn="l">
              <a:defRPr sz="3200" b="1">
                <a:solidFill>
                  <a:srgbClr val="FFFFFF"/>
                </a:solidFill>
                <a:latin typeface="Segoe UI" panose="020B0502040204020203"/>
              </a:defRPr>
            </a:pPr>
            <a:r>
              <a:t>COMPUTE AUTOMATION — User Data</a:t>
            </a:r>
          </a:p>
        </p:txBody>
      </p:sp>
      <p:sp>
        <p:nvSpPr>
          <p:cNvPr id="3" name="Rectangle 2"/>
          <p:cNvSpPr/>
          <p:nvPr/>
        </p:nvSpPr>
        <p:spPr>
          <a:xfrm>
            <a:off x="731520" y="1097280"/>
            <a:ext cx="22860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34770"/>
            <a:ext cx="5943600" cy="4572000"/>
          </a:xfrm>
          <a:prstGeom prst="roundRect">
            <a:avLst>
              <a:gd name="adj" fmla="val 5000"/>
            </a:avLst>
          </a:prstGeom>
          <a:solidFill>
            <a:srgbClr val="141E33"/>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06195"/>
            <a:ext cx="2743200" cy="274320"/>
          </a:xfrm>
          <a:prstGeom prst="rect">
            <a:avLst/>
          </a:prstGeom>
          <a:noFill/>
        </p:spPr>
        <p:txBody>
          <a:bodyPr wrap="square">
            <a:spAutoFit/>
          </a:bodyPr>
          <a:lstStyle/>
          <a:p>
            <a:pPr algn="l">
              <a:defRPr sz="1200" b="1">
                <a:solidFill>
                  <a:srgbClr val="06D6A0"/>
                </a:solidFill>
                <a:latin typeface="Consolas" panose="020B0609020204030204"/>
              </a:defRPr>
            </a:pPr>
            <a:r>
              <a:t>user_data.sh</a:t>
            </a:r>
          </a:p>
        </p:txBody>
      </p:sp>
      <p:sp>
        <p:nvSpPr>
          <p:cNvPr id="6" name="TextBox 5"/>
          <p:cNvSpPr txBox="1"/>
          <p:nvPr/>
        </p:nvSpPr>
        <p:spPr>
          <a:xfrm>
            <a:off x="914400" y="1626235"/>
            <a:ext cx="5577840" cy="201168"/>
          </a:xfrm>
          <a:prstGeom prst="rect">
            <a:avLst/>
          </a:prstGeom>
          <a:noFill/>
        </p:spPr>
        <p:txBody>
          <a:bodyPr wrap="square">
            <a:spAutoFit/>
          </a:bodyPr>
          <a:lstStyle/>
          <a:p>
            <a:pPr algn="l">
              <a:defRPr sz="1000" b="0">
                <a:solidFill>
                  <a:srgbClr val="48CAE4"/>
                </a:solidFill>
                <a:latin typeface="Consolas" panose="020B0609020204030204"/>
              </a:defRPr>
            </a:pPr>
            <a:r>
              <a:t>#!/bin/bash</a:t>
            </a:r>
          </a:p>
        </p:txBody>
      </p:sp>
      <p:sp>
        <p:nvSpPr>
          <p:cNvPr id="7" name="TextBox 6"/>
          <p:cNvSpPr txBox="1"/>
          <p:nvPr/>
        </p:nvSpPr>
        <p:spPr>
          <a:xfrm>
            <a:off x="914400" y="1777873"/>
            <a:ext cx="5577840" cy="201168"/>
          </a:xfrm>
          <a:prstGeom prst="rect">
            <a:avLst/>
          </a:prstGeom>
          <a:noFill/>
        </p:spPr>
        <p:txBody>
          <a:bodyPr wrap="square">
            <a:spAutoFit/>
          </a:bodyPr>
          <a:lstStyle/>
          <a:p>
            <a:pPr algn="l">
              <a:defRPr sz="1000" b="0">
                <a:solidFill>
                  <a:srgbClr val="E0E1DD"/>
                </a:solidFill>
                <a:latin typeface="Consolas" panose="020B0609020204030204"/>
              </a:defRPr>
            </a:pPr>
          </a:p>
        </p:txBody>
      </p:sp>
      <p:sp>
        <p:nvSpPr>
          <p:cNvPr id="8" name="TextBox 7"/>
          <p:cNvSpPr txBox="1"/>
          <p:nvPr/>
        </p:nvSpPr>
        <p:spPr>
          <a:xfrm>
            <a:off x="914400" y="2028571"/>
            <a:ext cx="5577840" cy="201168"/>
          </a:xfrm>
          <a:prstGeom prst="rect">
            <a:avLst/>
          </a:prstGeom>
          <a:noFill/>
        </p:spPr>
        <p:txBody>
          <a:bodyPr wrap="square">
            <a:spAutoFit/>
          </a:bodyPr>
          <a:lstStyle/>
          <a:p>
            <a:pPr algn="l">
              <a:defRPr sz="1000" b="0">
                <a:solidFill>
                  <a:srgbClr val="8D99AE"/>
                </a:solidFill>
                <a:latin typeface="Consolas" panose="020B0609020204030204"/>
              </a:defRPr>
            </a:pPr>
            <a:r>
              <a:t># Redirect output for debugging</a:t>
            </a:r>
          </a:p>
        </p:txBody>
      </p:sp>
      <p:sp>
        <p:nvSpPr>
          <p:cNvPr id="9" name="TextBox 8"/>
          <p:cNvSpPr txBox="1"/>
          <p:nvPr/>
        </p:nvSpPr>
        <p:spPr>
          <a:xfrm>
            <a:off x="914400" y="2229739"/>
            <a:ext cx="5577840" cy="201168"/>
          </a:xfrm>
          <a:prstGeom prst="rect">
            <a:avLst/>
          </a:prstGeom>
          <a:noFill/>
        </p:spPr>
        <p:txBody>
          <a:bodyPr wrap="square">
            <a:spAutoFit/>
          </a:bodyPr>
          <a:lstStyle/>
          <a:p>
            <a:pPr algn="l">
              <a:defRPr sz="1000" b="0">
                <a:solidFill>
                  <a:srgbClr val="06D6A0"/>
                </a:solidFill>
                <a:latin typeface="Consolas" panose="020B0609020204030204"/>
              </a:defRPr>
            </a:pPr>
            <a:r>
              <a:t>exec &gt; /var/log/user-data.log 2&gt;&amp;1</a:t>
            </a:r>
          </a:p>
        </p:txBody>
      </p:sp>
      <p:sp>
        <p:nvSpPr>
          <p:cNvPr id="10" name="TextBox 9"/>
          <p:cNvSpPr txBox="1"/>
          <p:nvPr/>
        </p:nvSpPr>
        <p:spPr>
          <a:xfrm>
            <a:off x="914400" y="2381377"/>
            <a:ext cx="5577840" cy="201168"/>
          </a:xfrm>
          <a:prstGeom prst="rect">
            <a:avLst/>
          </a:prstGeom>
          <a:noFill/>
        </p:spPr>
        <p:txBody>
          <a:bodyPr wrap="square">
            <a:spAutoFit/>
          </a:bodyPr>
          <a:lstStyle/>
          <a:p>
            <a:pPr algn="l">
              <a:defRPr sz="1000" b="0">
                <a:solidFill>
                  <a:srgbClr val="E0E1DD"/>
                </a:solidFill>
                <a:latin typeface="Consolas" panose="020B0609020204030204"/>
              </a:defRPr>
            </a:pPr>
          </a:p>
        </p:txBody>
      </p:sp>
      <p:sp>
        <p:nvSpPr>
          <p:cNvPr id="11" name="TextBox 10"/>
          <p:cNvSpPr txBox="1"/>
          <p:nvPr/>
        </p:nvSpPr>
        <p:spPr>
          <a:xfrm>
            <a:off x="914400" y="2632075"/>
            <a:ext cx="5577840" cy="201168"/>
          </a:xfrm>
          <a:prstGeom prst="rect">
            <a:avLst/>
          </a:prstGeom>
          <a:noFill/>
        </p:spPr>
        <p:txBody>
          <a:bodyPr wrap="square">
            <a:spAutoFit/>
          </a:bodyPr>
          <a:lstStyle/>
          <a:p>
            <a:pPr algn="l">
              <a:defRPr sz="1000" b="0">
                <a:solidFill>
                  <a:srgbClr val="06D6A0"/>
                </a:solidFill>
                <a:latin typeface="Consolas" panose="020B0609020204030204"/>
              </a:defRPr>
            </a:pPr>
            <a:r>
              <a:t>echo '[+] Updating packages...'</a:t>
            </a:r>
          </a:p>
        </p:txBody>
      </p:sp>
      <p:sp>
        <p:nvSpPr>
          <p:cNvPr id="12" name="TextBox 11"/>
          <p:cNvSpPr txBox="1"/>
          <p:nvPr/>
        </p:nvSpPr>
        <p:spPr>
          <a:xfrm>
            <a:off x="914400" y="2833243"/>
            <a:ext cx="5577840" cy="201168"/>
          </a:xfrm>
          <a:prstGeom prst="rect">
            <a:avLst/>
          </a:prstGeom>
          <a:noFill/>
        </p:spPr>
        <p:txBody>
          <a:bodyPr wrap="square">
            <a:spAutoFit/>
          </a:bodyPr>
          <a:lstStyle/>
          <a:p>
            <a:pPr algn="l">
              <a:defRPr sz="1000" b="0">
                <a:solidFill>
                  <a:srgbClr val="06D6A0"/>
                </a:solidFill>
                <a:latin typeface="Consolas" panose="020B0609020204030204"/>
              </a:defRPr>
            </a:pPr>
            <a:r>
              <a:t>dnf update -y || yum update -y</a:t>
            </a:r>
          </a:p>
        </p:txBody>
      </p:sp>
      <p:sp>
        <p:nvSpPr>
          <p:cNvPr id="13" name="TextBox 12"/>
          <p:cNvSpPr txBox="1"/>
          <p:nvPr/>
        </p:nvSpPr>
        <p:spPr>
          <a:xfrm>
            <a:off x="914400" y="2984881"/>
            <a:ext cx="5577840" cy="201168"/>
          </a:xfrm>
          <a:prstGeom prst="rect">
            <a:avLst/>
          </a:prstGeom>
          <a:noFill/>
        </p:spPr>
        <p:txBody>
          <a:bodyPr wrap="square">
            <a:spAutoFit/>
          </a:bodyPr>
          <a:lstStyle/>
          <a:p>
            <a:pPr algn="l">
              <a:defRPr sz="1000" b="0">
                <a:solidFill>
                  <a:srgbClr val="E0E1DD"/>
                </a:solidFill>
                <a:latin typeface="Consolas" panose="020B0609020204030204"/>
              </a:defRPr>
            </a:pPr>
          </a:p>
        </p:txBody>
      </p:sp>
      <p:sp>
        <p:nvSpPr>
          <p:cNvPr id="14" name="TextBox 13"/>
          <p:cNvSpPr txBox="1"/>
          <p:nvPr/>
        </p:nvSpPr>
        <p:spPr>
          <a:xfrm>
            <a:off x="914400" y="3235579"/>
            <a:ext cx="5577840" cy="201168"/>
          </a:xfrm>
          <a:prstGeom prst="rect">
            <a:avLst/>
          </a:prstGeom>
          <a:noFill/>
        </p:spPr>
        <p:txBody>
          <a:bodyPr wrap="square">
            <a:spAutoFit/>
          </a:bodyPr>
          <a:lstStyle/>
          <a:p>
            <a:pPr algn="l">
              <a:defRPr sz="1000" b="0">
                <a:solidFill>
                  <a:srgbClr val="06D6A0"/>
                </a:solidFill>
                <a:latin typeface="Consolas" panose="020B0609020204030204"/>
              </a:defRPr>
            </a:pPr>
            <a:r>
              <a:t>echo '[+] Installing Nginx...'</a:t>
            </a:r>
          </a:p>
        </p:txBody>
      </p:sp>
      <p:sp>
        <p:nvSpPr>
          <p:cNvPr id="15" name="TextBox 14"/>
          <p:cNvSpPr txBox="1"/>
          <p:nvPr/>
        </p:nvSpPr>
        <p:spPr>
          <a:xfrm>
            <a:off x="914400" y="3436746"/>
            <a:ext cx="5577840" cy="201168"/>
          </a:xfrm>
          <a:prstGeom prst="rect">
            <a:avLst/>
          </a:prstGeom>
          <a:noFill/>
        </p:spPr>
        <p:txBody>
          <a:bodyPr wrap="square">
            <a:spAutoFit/>
          </a:bodyPr>
          <a:lstStyle/>
          <a:p>
            <a:pPr algn="l">
              <a:defRPr sz="1000" b="0">
                <a:solidFill>
                  <a:srgbClr val="06D6A0"/>
                </a:solidFill>
                <a:latin typeface="Consolas" panose="020B0609020204030204"/>
              </a:defRPr>
            </a:pPr>
            <a:r>
              <a:t>dnf install -y nginx</a:t>
            </a:r>
          </a:p>
        </p:txBody>
      </p:sp>
      <p:sp>
        <p:nvSpPr>
          <p:cNvPr id="16" name="TextBox 15"/>
          <p:cNvSpPr txBox="1"/>
          <p:nvPr/>
        </p:nvSpPr>
        <p:spPr>
          <a:xfrm>
            <a:off x="914400" y="3588385"/>
            <a:ext cx="5577840" cy="201168"/>
          </a:xfrm>
          <a:prstGeom prst="rect">
            <a:avLst/>
          </a:prstGeom>
          <a:noFill/>
        </p:spPr>
        <p:txBody>
          <a:bodyPr wrap="square">
            <a:spAutoFit/>
          </a:bodyPr>
          <a:lstStyle/>
          <a:p>
            <a:pPr algn="l">
              <a:defRPr sz="1000" b="0">
                <a:solidFill>
                  <a:srgbClr val="E0E1DD"/>
                </a:solidFill>
                <a:latin typeface="Consolas" panose="020B0609020204030204"/>
              </a:defRPr>
            </a:pPr>
          </a:p>
        </p:txBody>
      </p:sp>
      <p:sp>
        <p:nvSpPr>
          <p:cNvPr id="17" name="TextBox 16"/>
          <p:cNvSpPr txBox="1"/>
          <p:nvPr/>
        </p:nvSpPr>
        <p:spPr>
          <a:xfrm>
            <a:off x="914400" y="3839083"/>
            <a:ext cx="5577840" cy="201168"/>
          </a:xfrm>
          <a:prstGeom prst="rect">
            <a:avLst/>
          </a:prstGeom>
          <a:noFill/>
        </p:spPr>
        <p:txBody>
          <a:bodyPr wrap="square">
            <a:spAutoFit/>
          </a:bodyPr>
          <a:lstStyle/>
          <a:p>
            <a:pPr algn="l">
              <a:defRPr sz="1000" b="0">
                <a:solidFill>
                  <a:srgbClr val="06D6A0"/>
                </a:solidFill>
                <a:latin typeface="Consolas" panose="020B0609020204030204"/>
              </a:defRPr>
            </a:pPr>
            <a:r>
              <a:t>echo '[+] Creating landing page...'</a:t>
            </a:r>
          </a:p>
        </p:txBody>
      </p:sp>
      <p:sp>
        <p:nvSpPr>
          <p:cNvPr id="18" name="TextBox 17"/>
          <p:cNvSpPr txBox="1"/>
          <p:nvPr/>
        </p:nvSpPr>
        <p:spPr>
          <a:xfrm>
            <a:off x="914400" y="4040251"/>
            <a:ext cx="5577840" cy="201168"/>
          </a:xfrm>
          <a:prstGeom prst="rect">
            <a:avLst/>
          </a:prstGeom>
          <a:noFill/>
        </p:spPr>
        <p:txBody>
          <a:bodyPr wrap="square">
            <a:spAutoFit/>
          </a:bodyPr>
          <a:lstStyle/>
          <a:p>
            <a:pPr algn="l">
              <a:defRPr sz="1000" b="0">
                <a:solidFill>
                  <a:srgbClr val="06D6A0"/>
                </a:solidFill>
                <a:latin typeface="Consolas" panose="020B0609020204030204"/>
              </a:defRPr>
            </a:pPr>
            <a:r>
              <a:t>cat &lt;&lt;'EOF' &gt; /usr/share/nginx/html/index.html</a:t>
            </a:r>
          </a:p>
        </p:txBody>
      </p:sp>
      <p:sp>
        <p:nvSpPr>
          <p:cNvPr id="19" name="TextBox 18"/>
          <p:cNvSpPr txBox="1"/>
          <p:nvPr/>
        </p:nvSpPr>
        <p:spPr>
          <a:xfrm>
            <a:off x="914400" y="4241419"/>
            <a:ext cx="5577840" cy="201168"/>
          </a:xfrm>
          <a:prstGeom prst="rect">
            <a:avLst/>
          </a:prstGeom>
          <a:noFill/>
        </p:spPr>
        <p:txBody>
          <a:bodyPr wrap="square">
            <a:spAutoFit/>
          </a:bodyPr>
          <a:lstStyle/>
          <a:p>
            <a:pPr algn="l">
              <a:defRPr sz="1000" b="0">
                <a:solidFill>
                  <a:srgbClr val="E0E1DD"/>
                </a:solidFill>
                <a:latin typeface="Consolas" panose="020B0609020204030204"/>
              </a:defRPr>
            </a:pPr>
            <a:r>
              <a:t>&lt;!DOCTYPE html&gt;</a:t>
            </a:r>
          </a:p>
        </p:txBody>
      </p:sp>
      <p:sp>
        <p:nvSpPr>
          <p:cNvPr id="20" name="TextBox 19"/>
          <p:cNvSpPr txBox="1"/>
          <p:nvPr/>
        </p:nvSpPr>
        <p:spPr>
          <a:xfrm>
            <a:off x="914400" y="4442587"/>
            <a:ext cx="5577840" cy="201168"/>
          </a:xfrm>
          <a:prstGeom prst="rect">
            <a:avLst/>
          </a:prstGeom>
          <a:noFill/>
        </p:spPr>
        <p:txBody>
          <a:bodyPr wrap="square">
            <a:spAutoFit/>
          </a:bodyPr>
          <a:lstStyle/>
          <a:p>
            <a:pPr algn="l">
              <a:defRPr sz="1000" b="0">
                <a:solidFill>
                  <a:srgbClr val="E0E1DD"/>
                </a:solidFill>
                <a:latin typeface="Consolas" panose="020B0609020204030204"/>
              </a:defRPr>
            </a:pPr>
            <a:r>
              <a:t>&lt;!-- 151-line responsive landing page --&gt;</a:t>
            </a:r>
          </a:p>
        </p:txBody>
      </p:sp>
      <p:sp>
        <p:nvSpPr>
          <p:cNvPr id="21" name="TextBox 20"/>
          <p:cNvSpPr txBox="1"/>
          <p:nvPr/>
        </p:nvSpPr>
        <p:spPr>
          <a:xfrm>
            <a:off x="914400" y="4643755"/>
            <a:ext cx="5577840" cy="201168"/>
          </a:xfrm>
          <a:prstGeom prst="rect">
            <a:avLst/>
          </a:prstGeom>
          <a:noFill/>
        </p:spPr>
        <p:txBody>
          <a:bodyPr wrap="square">
            <a:spAutoFit/>
          </a:bodyPr>
          <a:lstStyle/>
          <a:p>
            <a:pPr algn="l">
              <a:defRPr sz="1000" b="0">
                <a:solidFill>
                  <a:srgbClr val="E0E1DD"/>
                </a:solidFill>
                <a:latin typeface="Consolas" panose="020B0609020204030204"/>
              </a:defRPr>
            </a:pPr>
            <a:r>
              <a:t>&lt;!-- Glassmorphism design, project badges --&gt;</a:t>
            </a:r>
          </a:p>
        </p:txBody>
      </p:sp>
      <p:sp>
        <p:nvSpPr>
          <p:cNvPr id="22" name="TextBox 21"/>
          <p:cNvSpPr txBox="1"/>
          <p:nvPr/>
        </p:nvSpPr>
        <p:spPr>
          <a:xfrm>
            <a:off x="914400" y="4844923"/>
            <a:ext cx="5577840" cy="201168"/>
          </a:xfrm>
          <a:prstGeom prst="rect">
            <a:avLst/>
          </a:prstGeom>
          <a:noFill/>
        </p:spPr>
        <p:txBody>
          <a:bodyPr wrap="square">
            <a:spAutoFit/>
          </a:bodyPr>
          <a:lstStyle/>
          <a:p>
            <a:pPr algn="l">
              <a:defRPr sz="1000" b="0">
                <a:solidFill>
                  <a:srgbClr val="E0E1DD"/>
                </a:solidFill>
                <a:latin typeface="Consolas" panose="020B0609020204030204"/>
              </a:defRPr>
            </a:pPr>
            <a:r>
              <a:t>EOF</a:t>
            </a:r>
          </a:p>
        </p:txBody>
      </p:sp>
      <p:sp>
        <p:nvSpPr>
          <p:cNvPr id="23" name="TextBox 22"/>
          <p:cNvSpPr txBox="1"/>
          <p:nvPr/>
        </p:nvSpPr>
        <p:spPr>
          <a:xfrm>
            <a:off x="914400" y="4996561"/>
            <a:ext cx="5577840" cy="201168"/>
          </a:xfrm>
          <a:prstGeom prst="rect">
            <a:avLst/>
          </a:prstGeom>
          <a:noFill/>
        </p:spPr>
        <p:txBody>
          <a:bodyPr wrap="square">
            <a:spAutoFit/>
          </a:bodyPr>
          <a:lstStyle/>
          <a:p>
            <a:pPr algn="l">
              <a:defRPr sz="1000" b="0">
                <a:solidFill>
                  <a:srgbClr val="E0E1DD"/>
                </a:solidFill>
                <a:latin typeface="Consolas" panose="020B0609020204030204"/>
              </a:defRPr>
            </a:pPr>
          </a:p>
        </p:txBody>
      </p:sp>
      <p:sp>
        <p:nvSpPr>
          <p:cNvPr id="24" name="TextBox 23"/>
          <p:cNvSpPr txBox="1"/>
          <p:nvPr/>
        </p:nvSpPr>
        <p:spPr>
          <a:xfrm>
            <a:off x="914400" y="5247259"/>
            <a:ext cx="5577840" cy="201168"/>
          </a:xfrm>
          <a:prstGeom prst="rect">
            <a:avLst/>
          </a:prstGeom>
          <a:noFill/>
        </p:spPr>
        <p:txBody>
          <a:bodyPr wrap="square">
            <a:spAutoFit/>
          </a:bodyPr>
          <a:lstStyle/>
          <a:p>
            <a:pPr algn="l">
              <a:defRPr sz="1000" b="0">
                <a:solidFill>
                  <a:srgbClr val="06D6A0"/>
                </a:solidFill>
                <a:latin typeface="Consolas" panose="020B0609020204030204"/>
              </a:defRPr>
            </a:pPr>
            <a:r>
              <a:t>echo '[+] Starting Nginx...'</a:t>
            </a:r>
          </a:p>
        </p:txBody>
      </p:sp>
      <p:sp>
        <p:nvSpPr>
          <p:cNvPr id="25" name="TextBox 24"/>
          <p:cNvSpPr txBox="1"/>
          <p:nvPr/>
        </p:nvSpPr>
        <p:spPr>
          <a:xfrm>
            <a:off x="914400" y="5448427"/>
            <a:ext cx="5577840" cy="201168"/>
          </a:xfrm>
          <a:prstGeom prst="rect">
            <a:avLst/>
          </a:prstGeom>
          <a:noFill/>
        </p:spPr>
        <p:txBody>
          <a:bodyPr wrap="square">
            <a:spAutoFit/>
          </a:bodyPr>
          <a:lstStyle/>
          <a:p>
            <a:pPr algn="l">
              <a:defRPr sz="1000" b="0">
                <a:solidFill>
                  <a:srgbClr val="06D6A0"/>
                </a:solidFill>
                <a:latin typeface="Consolas" panose="020B0609020204030204"/>
              </a:defRPr>
            </a:pPr>
            <a:r>
              <a:t>systemctl start nginx</a:t>
            </a:r>
          </a:p>
        </p:txBody>
      </p:sp>
      <p:sp>
        <p:nvSpPr>
          <p:cNvPr id="26" name="TextBox 25"/>
          <p:cNvSpPr txBox="1"/>
          <p:nvPr/>
        </p:nvSpPr>
        <p:spPr>
          <a:xfrm>
            <a:off x="914400" y="5649595"/>
            <a:ext cx="5577840" cy="201168"/>
          </a:xfrm>
          <a:prstGeom prst="rect">
            <a:avLst/>
          </a:prstGeom>
          <a:noFill/>
        </p:spPr>
        <p:txBody>
          <a:bodyPr wrap="square">
            <a:spAutoFit/>
          </a:bodyPr>
          <a:lstStyle/>
          <a:p>
            <a:pPr algn="l">
              <a:defRPr sz="1000" b="0">
                <a:solidFill>
                  <a:srgbClr val="06D6A0"/>
                </a:solidFill>
                <a:latin typeface="Consolas" panose="020B0609020204030204"/>
              </a:defRPr>
            </a:pPr>
            <a:r>
              <a:t>systemctl enable nginx</a:t>
            </a:r>
          </a:p>
        </p:txBody>
      </p:sp>
      <p:sp>
        <p:nvSpPr>
          <p:cNvPr id="27" name="TextBox 26"/>
          <p:cNvSpPr txBox="1"/>
          <p:nvPr/>
        </p:nvSpPr>
        <p:spPr>
          <a:xfrm>
            <a:off x="7124065" y="874395"/>
            <a:ext cx="4572000" cy="457200"/>
          </a:xfrm>
          <a:prstGeom prst="rect">
            <a:avLst/>
          </a:prstGeom>
          <a:noFill/>
        </p:spPr>
        <p:txBody>
          <a:bodyPr wrap="square">
            <a:spAutoFit/>
          </a:bodyPr>
          <a:lstStyle/>
          <a:p>
            <a:pPr algn="l">
              <a:defRPr sz="2000" b="1">
                <a:solidFill>
                  <a:srgbClr val="48CAE4"/>
                </a:solidFill>
                <a:latin typeface="Segoe UI" panose="020B0502040204020203"/>
              </a:defRPr>
            </a:pPr>
            <a:r>
              <a:t>Key Design Decisions</a:t>
            </a:r>
          </a:p>
        </p:txBody>
      </p:sp>
      <p:sp>
        <p:nvSpPr>
          <p:cNvPr id="28" name="Rounded Rectangle 27"/>
          <p:cNvSpPr/>
          <p:nvPr/>
        </p:nvSpPr>
        <p:spPr>
          <a:xfrm>
            <a:off x="7124065" y="1400810"/>
            <a:ext cx="4479925" cy="82931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06945" y="1626235"/>
            <a:ext cx="365760" cy="274320"/>
          </a:xfrm>
          <a:prstGeom prst="rect">
            <a:avLst/>
          </a:prstGeom>
          <a:noFill/>
        </p:spPr>
        <p:txBody>
          <a:bodyPr wrap="square">
            <a:spAutoFit/>
          </a:bodyPr>
          <a:lstStyle/>
          <a:p>
            <a:pPr algn="l">
              <a:defRPr sz="1400" b="0">
                <a:solidFill>
                  <a:srgbClr val="FFFFFF"/>
                </a:solidFill>
                <a:latin typeface="Segoe UI" panose="020B0502040204020203"/>
              </a:defRPr>
            </a:pPr>
            <a:r>
              <a:t>🔧</a:t>
            </a:r>
          </a:p>
        </p:txBody>
      </p:sp>
      <p:sp>
        <p:nvSpPr>
          <p:cNvPr id="30" name="TextBox 29"/>
          <p:cNvSpPr txBox="1"/>
          <p:nvPr/>
        </p:nvSpPr>
        <p:spPr>
          <a:xfrm>
            <a:off x="7764145" y="1428242"/>
            <a:ext cx="3657600" cy="274320"/>
          </a:xfrm>
          <a:prstGeom prst="rect">
            <a:avLst/>
          </a:prstGeom>
          <a:noFill/>
        </p:spPr>
        <p:txBody>
          <a:bodyPr wrap="square">
            <a:spAutoFit/>
          </a:bodyPr>
          <a:lstStyle/>
          <a:p>
            <a:pPr algn="l">
              <a:defRPr sz="1400" b="1">
                <a:solidFill>
                  <a:srgbClr val="FFFFFF"/>
                </a:solidFill>
                <a:latin typeface="Segoe UI" panose="020B0502040204020203"/>
              </a:defRPr>
            </a:pPr>
            <a:r>
              <a:t>Zero SSH Required</a:t>
            </a:r>
          </a:p>
        </p:txBody>
      </p:sp>
      <p:sp>
        <p:nvSpPr>
          <p:cNvPr id="31" name="TextBox 30"/>
          <p:cNvSpPr txBox="1"/>
          <p:nvPr/>
        </p:nvSpPr>
        <p:spPr>
          <a:xfrm>
            <a:off x="7764145" y="1720850"/>
            <a:ext cx="3657600" cy="274320"/>
          </a:xfrm>
          <a:prstGeom prst="rect">
            <a:avLst/>
          </a:prstGeom>
          <a:noFill/>
        </p:spPr>
        <p:txBody>
          <a:bodyPr wrap="square">
            <a:spAutoFit/>
          </a:bodyPr>
          <a:lstStyle/>
          <a:p>
            <a:pPr algn="l">
              <a:defRPr sz="1100" b="0">
                <a:solidFill>
                  <a:srgbClr val="8D99AE"/>
                </a:solidFill>
                <a:latin typeface="Segoe UI" panose="020B0502040204020203"/>
              </a:defRPr>
            </a:pPr>
            <a:r>
              <a:t>Instance configures itself on first boot — no manual login needed</a:t>
            </a:r>
          </a:p>
        </p:txBody>
      </p:sp>
      <p:sp>
        <p:nvSpPr>
          <p:cNvPr id="32" name="Rounded Rectangle 31"/>
          <p:cNvSpPr/>
          <p:nvPr/>
        </p:nvSpPr>
        <p:spPr>
          <a:xfrm>
            <a:off x="7124065" y="2277110"/>
            <a:ext cx="4480560" cy="757555"/>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06945" y="2430780"/>
            <a:ext cx="365760" cy="274320"/>
          </a:xfrm>
          <a:prstGeom prst="rect">
            <a:avLst/>
          </a:prstGeom>
          <a:noFill/>
        </p:spPr>
        <p:txBody>
          <a:bodyPr wrap="square">
            <a:spAutoFit/>
          </a:bodyPr>
          <a:lstStyle/>
          <a:p>
            <a:pPr algn="l">
              <a:defRPr sz="1400" b="0">
                <a:solidFill>
                  <a:srgbClr val="FFFFFF"/>
                </a:solidFill>
                <a:latin typeface="Segoe UI" panose="020B0502040204020203"/>
              </a:defRPr>
            </a:pPr>
            <a:r>
              <a:t>📋</a:t>
            </a:r>
          </a:p>
        </p:txBody>
      </p:sp>
      <p:sp>
        <p:nvSpPr>
          <p:cNvPr id="34" name="TextBox 33"/>
          <p:cNvSpPr txBox="1"/>
          <p:nvPr/>
        </p:nvSpPr>
        <p:spPr>
          <a:xfrm>
            <a:off x="7764145" y="2304542"/>
            <a:ext cx="3657600" cy="274320"/>
          </a:xfrm>
          <a:prstGeom prst="rect">
            <a:avLst/>
          </a:prstGeom>
          <a:noFill/>
        </p:spPr>
        <p:txBody>
          <a:bodyPr wrap="square">
            <a:spAutoFit/>
          </a:bodyPr>
          <a:lstStyle/>
          <a:p>
            <a:pPr algn="l">
              <a:defRPr sz="1400" b="1">
                <a:solidFill>
                  <a:srgbClr val="FFFFFF"/>
                </a:solidFill>
                <a:latin typeface="Segoe UI" panose="020B0502040204020203"/>
              </a:defRPr>
            </a:pPr>
            <a:r>
              <a:t>Full Logging</a:t>
            </a:r>
          </a:p>
        </p:txBody>
      </p:sp>
      <p:sp>
        <p:nvSpPr>
          <p:cNvPr id="35" name="TextBox 34"/>
          <p:cNvSpPr txBox="1"/>
          <p:nvPr/>
        </p:nvSpPr>
        <p:spPr>
          <a:xfrm>
            <a:off x="7764145" y="2597150"/>
            <a:ext cx="3657600" cy="274320"/>
          </a:xfrm>
          <a:prstGeom prst="rect">
            <a:avLst/>
          </a:prstGeom>
          <a:noFill/>
        </p:spPr>
        <p:txBody>
          <a:bodyPr wrap="square">
            <a:spAutoFit/>
          </a:bodyPr>
          <a:lstStyle/>
          <a:p>
            <a:pPr algn="l">
              <a:defRPr sz="1100" b="0">
                <a:solidFill>
                  <a:srgbClr val="8D99AE"/>
                </a:solidFill>
                <a:latin typeface="Segoe UI" panose="020B0502040204020203"/>
              </a:defRPr>
            </a:pPr>
            <a:r>
              <a:t>All output redirected to /var/log/user-data.log for debugging</a:t>
            </a:r>
          </a:p>
        </p:txBody>
      </p:sp>
      <p:sp>
        <p:nvSpPr>
          <p:cNvPr id="36" name="Rounded Rectangle 35"/>
          <p:cNvSpPr/>
          <p:nvPr/>
        </p:nvSpPr>
        <p:spPr>
          <a:xfrm>
            <a:off x="7124065" y="3120390"/>
            <a:ext cx="4480560" cy="71882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06945" y="3235325"/>
            <a:ext cx="365760" cy="274320"/>
          </a:xfrm>
          <a:prstGeom prst="rect">
            <a:avLst/>
          </a:prstGeom>
          <a:noFill/>
        </p:spPr>
        <p:txBody>
          <a:bodyPr wrap="square">
            <a:spAutoFit/>
          </a:bodyPr>
          <a:lstStyle/>
          <a:p>
            <a:pPr algn="l">
              <a:defRPr sz="1400" b="0">
                <a:solidFill>
                  <a:srgbClr val="FFFFFF"/>
                </a:solidFill>
                <a:latin typeface="Segoe UI" panose="020B0502040204020203"/>
              </a:defRPr>
            </a:pPr>
            <a:r>
              <a:t>🔄</a:t>
            </a:r>
          </a:p>
        </p:txBody>
      </p:sp>
      <p:sp>
        <p:nvSpPr>
          <p:cNvPr id="38" name="TextBox 37"/>
          <p:cNvSpPr txBox="1"/>
          <p:nvPr/>
        </p:nvSpPr>
        <p:spPr>
          <a:xfrm>
            <a:off x="7764145" y="3147822"/>
            <a:ext cx="3657600" cy="274320"/>
          </a:xfrm>
          <a:prstGeom prst="rect">
            <a:avLst/>
          </a:prstGeom>
          <a:noFill/>
        </p:spPr>
        <p:txBody>
          <a:bodyPr wrap="square">
            <a:spAutoFit/>
          </a:bodyPr>
          <a:lstStyle/>
          <a:p>
            <a:pPr algn="l">
              <a:defRPr sz="1400" b="1">
                <a:solidFill>
                  <a:srgbClr val="FFFFFF"/>
                </a:solidFill>
                <a:latin typeface="Segoe UI" panose="020B0502040204020203"/>
              </a:defRPr>
            </a:pPr>
            <a:r>
              <a:t>Dual Package Manager</a:t>
            </a:r>
          </a:p>
        </p:txBody>
      </p:sp>
      <p:sp>
        <p:nvSpPr>
          <p:cNvPr id="39" name="TextBox 38"/>
          <p:cNvSpPr txBox="1"/>
          <p:nvPr/>
        </p:nvSpPr>
        <p:spPr>
          <a:xfrm>
            <a:off x="7764145" y="3440430"/>
            <a:ext cx="3657600" cy="274320"/>
          </a:xfrm>
          <a:prstGeom prst="rect">
            <a:avLst/>
          </a:prstGeom>
          <a:noFill/>
        </p:spPr>
        <p:txBody>
          <a:bodyPr wrap="square">
            <a:spAutoFit/>
          </a:bodyPr>
          <a:lstStyle/>
          <a:p>
            <a:pPr algn="l">
              <a:defRPr sz="1100" b="0">
                <a:solidFill>
                  <a:srgbClr val="8D99AE"/>
                </a:solidFill>
                <a:latin typeface="Segoe UI" panose="020B0502040204020203"/>
              </a:defRPr>
            </a:pPr>
            <a:r>
              <a:t>dnf || yum fallback ensures AL2023 + AL2 compatibility</a:t>
            </a:r>
          </a:p>
        </p:txBody>
      </p:sp>
      <p:sp>
        <p:nvSpPr>
          <p:cNvPr id="40" name="Rounded Rectangle 39"/>
          <p:cNvSpPr/>
          <p:nvPr/>
        </p:nvSpPr>
        <p:spPr>
          <a:xfrm>
            <a:off x="7124065" y="3914140"/>
            <a:ext cx="4480560" cy="760095"/>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06945" y="4168140"/>
            <a:ext cx="365760" cy="274320"/>
          </a:xfrm>
          <a:prstGeom prst="rect">
            <a:avLst/>
          </a:prstGeom>
          <a:noFill/>
        </p:spPr>
        <p:txBody>
          <a:bodyPr wrap="square">
            <a:spAutoFit/>
          </a:bodyPr>
          <a:lstStyle/>
          <a:p>
            <a:pPr algn="l">
              <a:defRPr sz="1400" b="0">
                <a:solidFill>
                  <a:srgbClr val="FFFFFF"/>
                </a:solidFill>
                <a:latin typeface="Segoe UI" panose="020B0502040204020203"/>
              </a:defRPr>
            </a:pPr>
            <a:r>
              <a:t>🎨</a:t>
            </a:r>
          </a:p>
        </p:txBody>
      </p:sp>
      <p:sp>
        <p:nvSpPr>
          <p:cNvPr id="42" name="TextBox 41"/>
          <p:cNvSpPr txBox="1"/>
          <p:nvPr/>
        </p:nvSpPr>
        <p:spPr>
          <a:xfrm>
            <a:off x="7764145" y="3941572"/>
            <a:ext cx="3657600" cy="274320"/>
          </a:xfrm>
          <a:prstGeom prst="rect">
            <a:avLst/>
          </a:prstGeom>
          <a:noFill/>
        </p:spPr>
        <p:txBody>
          <a:bodyPr wrap="square">
            <a:spAutoFit/>
          </a:bodyPr>
          <a:lstStyle/>
          <a:p>
            <a:pPr algn="l">
              <a:defRPr sz="1400" b="1">
                <a:solidFill>
                  <a:srgbClr val="FFFFFF"/>
                </a:solidFill>
                <a:latin typeface="Segoe UI" panose="020B0502040204020203"/>
              </a:defRPr>
            </a:pPr>
            <a:r>
              <a:t>Custom Landing Page</a:t>
            </a:r>
          </a:p>
        </p:txBody>
      </p:sp>
      <p:sp>
        <p:nvSpPr>
          <p:cNvPr id="43" name="TextBox 42"/>
          <p:cNvSpPr txBox="1"/>
          <p:nvPr/>
        </p:nvSpPr>
        <p:spPr>
          <a:xfrm>
            <a:off x="7764145" y="4215765"/>
            <a:ext cx="3657600" cy="274320"/>
          </a:xfrm>
          <a:prstGeom prst="rect">
            <a:avLst/>
          </a:prstGeom>
          <a:noFill/>
        </p:spPr>
        <p:txBody>
          <a:bodyPr wrap="square">
            <a:spAutoFit/>
          </a:bodyPr>
          <a:lstStyle/>
          <a:p>
            <a:pPr algn="l">
              <a:defRPr sz="1100" b="0">
                <a:solidFill>
                  <a:srgbClr val="8D99AE"/>
                </a:solidFill>
                <a:latin typeface="Segoe UI" panose="020B0502040204020203"/>
              </a:defRPr>
            </a:pPr>
            <a:r>
              <a:t>151-line glassmorphism HTML page with project branding</a:t>
            </a:r>
          </a:p>
        </p:txBody>
      </p:sp>
      <p:sp>
        <p:nvSpPr>
          <p:cNvPr id="44" name="Rounded Rectangle 43"/>
          <p:cNvSpPr/>
          <p:nvPr/>
        </p:nvSpPr>
        <p:spPr>
          <a:xfrm>
            <a:off x="7124065" y="4773930"/>
            <a:ext cx="4480560" cy="691515"/>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06945" y="4923155"/>
            <a:ext cx="365760" cy="274320"/>
          </a:xfrm>
          <a:prstGeom prst="rect">
            <a:avLst/>
          </a:prstGeom>
          <a:noFill/>
        </p:spPr>
        <p:txBody>
          <a:bodyPr wrap="square">
            <a:spAutoFit/>
          </a:bodyPr>
          <a:lstStyle/>
          <a:p>
            <a:pPr algn="l">
              <a:defRPr sz="1400" b="0">
                <a:solidFill>
                  <a:srgbClr val="FFFFFF"/>
                </a:solidFill>
                <a:latin typeface="Segoe UI" panose="020B0502040204020203"/>
              </a:defRPr>
            </a:pPr>
            <a:r>
              <a:t>♻️</a:t>
            </a:r>
          </a:p>
        </p:txBody>
      </p:sp>
      <p:sp>
        <p:nvSpPr>
          <p:cNvPr id="46" name="TextBox 45"/>
          <p:cNvSpPr txBox="1"/>
          <p:nvPr/>
        </p:nvSpPr>
        <p:spPr>
          <a:xfrm>
            <a:off x="7764145" y="4801362"/>
            <a:ext cx="3657600" cy="274320"/>
          </a:xfrm>
          <a:prstGeom prst="rect">
            <a:avLst/>
          </a:prstGeom>
          <a:noFill/>
        </p:spPr>
        <p:txBody>
          <a:bodyPr wrap="square">
            <a:spAutoFit/>
          </a:bodyPr>
          <a:lstStyle/>
          <a:p>
            <a:pPr algn="l">
              <a:defRPr sz="1400" b="1">
                <a:solidFill>
                  <a:srgbClr val="FFFFFF"/>
                </a:solidFill>
                <a:latin typeface="Segoe UI" panose="020B0502040204020203"/>
              </a:defRPr>
            </a:pPr>
            <a:r>
              <a:t>Auto-Start on Reboot</a:t>
            </a:r>
          </a:p>
        </p:txBody>
      </p:sp>
      <p:sp>
        <p:nvSpPr>
          <p:cNvPr id="47" name="TextBox 46"/>
          <p:cNvSpPr txBox="1"/>
          <p:nvPr/>
        </p:nvSpPr>
        <p:spPr>
          <a:xfrm>
            <a:off x="7764145" y="5093970"/>
            <a:ext cx="3657600" cy="274320"/>
          </a:xfrm>
          <a:prstGeom prst="rect">
            <a:avLst/>
          </a:prstGeom>
          <a:noFill/>
        </p:spPr>
        <p:txBody>
          <a:bodyPr wrap="square">
            <a:spAutoFit/>
          </a:bodyPr>
          <a:lstStyle/>
          <a:p>
            <a:pPr algn="l">
              <a:defRPr sz="1100" b="0">
                <a:solidFill>
                  <a:srgbClr val="8D99AE"/>
                </a:solidFill>
                <a:latin typeface="Segoe UI" panose="020B0502040204020203"/>
              </a:defRPr>
            </a:pPr>
            <a:r>
              <a:t>systemctl enable ensures Nginx survives instance restarts</a:t>
            </a:r>
          </a:p>
        </p:txBody>
      </p:sp>
      <p:sp>
        <p:nvSpPr>
          <p:cNvPr id="48" name="Rounded Rectangle 47"/>
          <p:cNvSpPr/>
          <p:nvPr/>
        </p:nvSpPr>
        <p:spPr>
          <a:xfrm>
            <a:off x="7124065" y="5597525"/>
            <a:ext cx="4480560" cy="643255"/>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06945" y="5783580"/>
            <a:ext cx="365760" cy="274320"/>
          </a:xfrm>
          <a:prstGeom prst="rect">
            <a:avLst/>
          </a:prstGeom>
          <a:noFill/>
        </p:spPr>
        <p:txBody>
          <a:bodyPr wrap="square">
            <a:spAutoFit/>
          </a:bodyPr>
          <a:lstStyle/>
          <a:p>
            <a:pPr algn="l">
              <a:defRPr sz="1400" b="0">
                <a:solidFill>
                  <a:srgbClr val="FFFFFF"/>
                </a:solidFill>
                <a:latin typeface="Segoe UI" panose="020B0502040204020203"/>
              </a:defRPr>
            </a:pPr>
            <a:r>
              <a:t>📌</a:t>
            </a:r>
          </a:p>
        </p:txBody>
      </p:sp>
      <p:sp>
        <p:nvSpPr>
          <p:cNvPr id="50" name="TextBox 49"/>
          <p:cNvSpPr txBox="1"/>
          <p:nvPr/>
        </p:nvSpPr>
        <p:spPr>
          <a:xfrm>
            <a:off x="7764145" y="5628132"/>
            <a:ext cx="3657600" cy="274320"/>
          </a:xfrm>
          <a:prstGeom prst="rect">
            <a:avLst/>
          </a:prstGeom>
          <a:noFill/>
        </p:spPr>
        <p:txBody>
          <a:bodyPr wrap="square">
            <a:spAutoFit/>
          </a:bodyPr>
          <a:lstStyle/>
          <a:p>
            <a:pPr algn="l">
              <a:defRPr sz="1400" b="1">
                <a:solidFill>
                  <a:srgbClr val="FFFFFF"/>
                </a:solidFill>
                <a:latin typeface="Segoe UI" panose="020B0502040204020203"/>
              </a:defRPr>
            </a:pPr>
            <a:r>
              <a:t>Static Public IP</a:t>
            </a:r>
          </a:p>
        </p:txBody>
      </p:sp>
      <p:sp>
        <p:nvSpPr>
          <p:cNvPr id="51" name="TextBox 50"/>
          <p:cNvSpPr txBox="1"/>
          <p:nvPr/>
        </p:nvSpPr>
        <p:spPr>
          <a:xfrm>
            <a:off x="7764145" y="5920740"/>
            <a:ext cx="3657600" cy="274320"/>
          </a:xfrm>
          <a:prstGeom prst="rect">
            <a:avLst/>
          </a:prstGeom>
          <a:noFill/>
        </p:spPr>
        <p:txBody>
          <a:bodyPr wrap="square">
            <a:spAutoFit/>
          </a:bodyPr>
          <a:lstStyle/>
          <a:p>
            <a:pPr algn="l">
              <a:defRPr sz="1100" b="0">
                <a:solidFill>
                  <a:srgbClr val="8D99AE"/>
                </a:solidFill>
                <a:latin typeface="Segoe UI" panose="020B0502040204020203"/>
              </a:defRPr>
            </a:pPr>
            <a:r>
              <a:t>Elastic IP persists across stop/start cycles</a:t>
            </a:r>
          </a:p>
        </p:txBody>
      </p:sp>
      <p:sp>
        <p:nvSpPr>
          <p:cNvPr id="52" name="TextBox 51"/>
          <p:cNvSpPr txBox="1"/>
          <p:nvPr/>
        </p:nvSpPr>
        <p:spPr>
          <a:xfrm>
            <a:off x="11155680" y="6466840"/>
            <a:ext cx="914400" cy="365760"/>
          </a:xfrm>
          <a:prstGeom prst="rect">
            <a:avLst/>
          </a:prstGeom>
          <a:noFill/>
        </p:spPr>
        <p:txBody>
          <a:bodyPr wrap="square">
            <a:spAutoFit/>
          </a:bodyPr>
          <a:lstStyle/>
          <a:p>
            <a:pPr algn="r">
              <a:defRPr sz="1100" b="0">
                <a:solidFill>
                  <a:srgbClr val="8D99AE"/>
                </a:solidFill>
                <a:latin typeface="Segoe UI" panose="020B0502040204020203"/>
              </a:defRPr>
            </a:pPr>
            <a:r>
              <a:t>10/15</a:t>
            </a:r>
          </a:p>
        </p:txBody>
      </p:sp>
      <p:sp>
        <p:nvSpPr>
          <p:cNvPr id="53" name="TextBox 52"/>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SECURITY CONTROLS</a:t>
            </a:r>
          </a:p>
        </p:txBody>
      </p:sp>
      <p:sp>
        <p:nvSpPr>
          <p:cNvPr id="3" name="TextBox 2"/>
          <p:cNvSpPr txBox="1"/>
          <p:nvPr/>
        </p:nvSpPr>
        <p:spPr>
          <a:xfrm>
            <a:off x="731520" y="1005840"/>
            <a:ext cx="7315200" cy="365760"/>
          </a:xfrm>
          <a:prstGeom prst="rect">
            <a:avLst/>
          </a:prstGeom>
          <a:noFill/>
        </p:spPr>
        <p:txBody>
          <a:bodyPr wrap="square">
            <a:spAutoFit/>
          </a:bodyPr>
          <a:lstStyle/>
          <a:p>
            <a:pPr algn="l">
              <a:defRPr sz="1800" b="0">
                <a:solidFill>
                  <a:srgbClr val="48CAE4"/>
                </a:solidFill>
                <a:latin typeface="Segoe UI" panose="020B0502040204020203"/>
              </a:defRPr>
            </a:pPr>
            <a:r>
              <a:t>Defense in Depth — 4 Security Layers</a:t>
            </a:r>
          </a:p>
        </p:txBody>
      </p:sp>
      <p:sp>
        <p:nvSpPr>
          <p:cNvPr id="4" name="Rectangle 3"/>
          <p:cNvSpPr/>
          <p:nvPr/>
        </p:nvSpPr>
        <p:spPr>
          <a:xfrm>
            <a:off x="731520" y="137160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60320" cy="2743200"/>
          </a:xfrm>
          <a:prstGeom prst="roundRect">
            <a:avLst>
              <a:gd name="adj" fmla="val 5000"/>
            </a:avLst>
          </a:prstGeom>
          <a:solidFill>
            <a:srgbClr val="1C2541"/>
          </a:solidFill>
          <a:ln w="25400">
            <a:solidFill>
              <a:srgbClr val="0077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91640" y="1828800"/>
            <a:ext cx="640080" cy="640080"/>
          </a:xfrm>
          <a:prstGeom prst="ellipse">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1640" y="1874519"/>
            <a:ext cx="640080" cy="594360"/>
          </a:xfrm>
          <a:prstGeom prst="rect">
            <a:avLst/>
          </a:prstGeom>
          <a:noFill/>
        </p:spPr>
        <p:txBody>
          <a:bodyPr wrap="square">
            <a:spAutoFit/>
          </a:bodyPr>
          <a:lstStyle/>
          <a:p>
            <a:pPr algn="ctr">
              <a:defRPr sz="2200" b="1">
                <a:solidFill>
                  <a:srgbClr val="FFFFFF"/>
                </a:solidFill>
                <a:latin typeface="Segoe UI" panose="020B0502040204020203"/>
              </a:defRPr>
            </a:pPr>
            <a:r>
              <a:t>1</a:t>
            </a:r>
          </a:p>
        </p:txBody>
      </p:sp>
      <p:sp>
        <p:nvSpPr>
          <p:cNvPr id="8" name="TextBox 7"/>
          <p:cNvSpPr txBox="1"/>
          <p:nvPr/>
        </p:nvSpPr>
        <p:spPr>
          <a:xfrm>
            <a:off x="868680" y="2651760"/>
            <a:ext cx="2286000" cy="320040"/>
          </a:xfrm>
          <a:prstGeom prst="rect">
            <a:avLst/>
          </a:prstGeom>
          <a:noFill/>
        </p:spPr>
        <p:txBody>
          <a:bodyPr wrap="square">
            <a:spAutoFit/>
          </a:bodyPr>
          <a:lstStyle/>
          <a:p>
            <a:pPr algn="ctr">
              <a:defRPr sz="1700" b="1">
                <a:solidFill>
                  <a:srgbClr val="FFFFFF"/>
                </a:solidFill>
                <a:latin typeface="Segoe UI" panose="020B0502040204020203"/>
              </a:defRPr>
            </a:pPr>
            <a:r>
              <a:t>IAM</a:t>
            </a:r>
          </a:p>
        </p:txBody>
      </p:sp>
      <p:sp>
        <p:nvSpPr>
          <p:cNvPr id="9" name="TextBox 8"/>
          <p:cNvSpPr txBox="1"/>
          <p:nvPr/>
        </p:nvSpPr>
        <p:spPr>
          <a:xfrm>
            <a:off x="868680" y="2926080"/>
            <a:ext cx="2286000" cy="274320"/>
          </a:xfrm>
          <a:prstGeom prst="rect">
            <a:avLst/>
          </a:prstGeom>
          <a:noFill/>
        </p:spPr>
        <p:txBody>
          <a:bodyPr wrap="square">
            <a:spAutoFit/>
          </a:bodyPr>
          <a:lstStyle/>
          <a:p>
            <a:pPr algn="ctr">
              <a:defRPr sz="1100" b="1">
                <a:solidFill>
                  <a:srgbClr val="0077B6"/>
                </a:solidFill>
                <a:latin typeface="Segoe UI" panose="020B0502040204020203"/>
              </a:defRPr>
            </a:pPr>
            <a:r>
              <a:t>IDENTITY</a:t>
            </a:r>
          </a:p>
        </p:txBody>
      </p:sp>
      <p:sp>
        <p:nvSpPr>
          <p:cNvPr id="10" name="TextBox 9"/>
          <p:cNvSpPr txBox="1"/>
          <p:nvPr/>
        </p:nvSpPr>
        <p:spPr>
          <a:xfrm>
            <a:off x="914400" y="3291840"/>
            <a:ext cx="2194560" cy="914400"/>
          </a:xfrm>
          <a:prstGeom prst="rect">
            <a:avLst/>
          </a:prstGeom>
          <a:noFill/>
        </p:spPr>
        <p:txBody>
          <a:bodyPr wrap="square">
            <a:spAutoFit/>
          </a:bodyPr>
          <a:lstStyle/>
          <a:p>
            <a:pPr algn="ctr">
              <a:defRPr sz="1200" b="0">
                <a:solidFill>
                  <a:srgbClr val="E0E1DD"/>
                </a:solidFill>
                <a:latin typeface="Segoe UI" panose="020B0502040204020203"/>
              </a:defRPr>
            </a:pPr>
            <a:r>
              <a:t>Dedicated terraform-admin user</a:t>
            </a:r>
            <a:br/>
            <a:r>
              <a:t>No root account CLI access</a:t>
            </a:r>
          </a:p>
        </p:txBody>
      </p:sp>
      <p:sp>
        <p:nvSpPr>
          <p:cNvPr id="11" name="Rounded Rectangle 10"/>
          <p:cNvSpPr/>
          <p:nvPr/>
        </p:nvSpPr>
        <p:spPr>
          <a:xfrm>
            <a:off x="3566160" y="1645920"/>
            <a:ext cx="2560320" cy="2743200"/>
          </a:xfrm>
          <a:prstGeom prst="roundRect">
            <a:avLst>
              <a:gd name="adj" fmla="val 5000"/>
            </a:avLst>
          </a:prstGeom>
          <a:solidFill>
            <a:srgbClr val="1C2541"/>
          </a:solidFill>
          <a:ln w="25400">
            <a:solidFill>
              <a:srgbClr val="009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26280" y="1828800"/>
            <a:ext cx="640080" cy="640080"/>
          </a:xfrm>
          <a:prstGeom prst="ellipse">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874519"/>
            <a:ext cx="640080" cy="594360"/>
          </a:xfrm>
          <a:prstGeom prst="rect">
            <a:avLst/>
          </a:prstGeom>
          <a:noFill/>
        </p:spPr>
        <p:txBody>
          <a:bodyPr wrap="square">
            <a:spAutoFit/>
          </a:bodyPr>
          <a:lstStyle/>
          <a:p>
            <a:pPr algn="ctr">
              <a:defRPr sz="2200" b="1">
                <a:solidFill>
                  <a:srgbClr val="FFFFFF"/>
                </a:solidFill>
                <a:latin typeface="Segoe UI" panose="020B0502040204020203"/>
              </a:defRPr>
            </a:pPr>
            <a:r>
              <a:t>2</a:t>
            </a:r>
          </a:p>
        </p:txBody>
      </p:sp>
      <p:sp>
        <p:nvSpPr>
          <p:cNvPr id="14" name="TextBox 13"/>
          <p:cNvSpPr txBox="1"/>
          <p:nvPr/>
        </p:nvSpPr>
        <p:spPr>
          <a:xfrm>
            <a:off x="3703320" y="2651760"/>
            <a:ext cx="2286000" cy="320040"/>
          </a:xfrm>
          <a:prstGeom prst="rect">
            <a:avLst/>
          </a:prstGeom>
          <a:noFill/>
        </p:spPr>
        <p:txBody>
          <a:bodyPr wrap="square">
            <a:spAutoFit/>
          </a:bodyPr>
          <a:lstStyle/>
          <a:p>
            <a:pPr algn="ctr">
              <a:defRPr sz="1700" b="1">
                <a:solidFill>
                  <a:srgbClr val="FFFFFF"/>
                </a:solidFill>
                <a:latin typeface="Segoe UI" panose="020B0502040204020203"/>
              </a:defRPr>
            </a:pPr>
            <a:r>
              <a:t>NETWORK</a:t>
            </a:r>
          </a:p>
        </p:txBody>
      </p:sp>
      <p:sp>
        <p:nvSpPr>
          <p:cNvPr id="15" name="TextBox 14"/>
          <p:cNvSpPr txBox="1"/>
          <p:nvPr/>
        </p:nvSpPr>
        <p:spPr>
          <a:xfrm>
            <a:off x="3703320" y="2926080"/>
            <a:ext cx="2286000" cy="274320"/>
          </a:xfrm>
          <a:prstGeom prst="rect">
            <a:avLst/>
          </a:prstGeom>
          <a:noFill/>
        </p:spPr>
        <p:txBody>
          <a:bodyPr wrap="square">
            <a:spAutoFit/>
          </a:bodyPr>
          <a:lstStyle/>
          <a:p>
            <a:pPr algn="ctr">
              <a:defRPr sz="1100" b="1">
                <a:solidFill>
                  <a:srgbClr val="0096C7"/>
                </a:solidFill>
                <a:latin typeface="Segoe UI" panose="020B0502040204020203"/>
              </a:defRPr>
            </a:pPr>
            <a:r>
              <a:t>FIREWALL</a:t>
            </a:r>
          </a:p>
        </p:txBody>
      </p:sp>
      <p:sp>
        <p:nvSpPr>
          <p:cNvPr id="16" name="TextBox 15"/>
          <p:cNvSpPr txBox="1"/>
          <p:nvPr/>
        </p:nvSpPr>
        <p:spPr>
          <a:xfrm>
            <a:off x="3749040" y="3291840"/>
            <a:ext cx="2194560" cy="914400"/>
          </a:xfrm>
          <a:prstGeom prst="rect">
            <a:avLst/>
          </a:prstGeom>
          <a:noFill/>
        </p:spPr>
        <p:txBody>
          <a:bodyPr wrap="square">
            <a:spAutoFit/>
          </a:bodyPr>
          <a:lstStyle/>
          <a:p>
            <a:pPr algn="ctr">
              <a:defRPr sz="1200" b="0">
                <a:solidFill>
                  <a:srgbClr val="E0E1DD"/>
                </a:solidFill>
                <a:latin typeface="Segoe UI" panose="020B0502040204020203"/>
              </a:defRPr>
            </a:pPr>
            <a:r>
              <a:t>Security Group with explicit port rules</a:t>
            </a:r>
            <a:br/>
            <a:r>
              <a:t>HTTP(80), HTTPS(443), SSH(22) only</a:t>
            </a:r>
          </a:p>
        </p:txBody>
      </p:sp>
      <p:sp>
        <p:nvSpPr>
          <p:cNvPr id="17" name="Rounded Rectangle 16"/>
          <p:cNvSpPr/>
          <p:nvPr/>
        </p:nvSpPr>
        <p:spPr>
          <a:xfrm>
            <a:off x="6400800" y="1645920"/>
            <a:ext cx="2560320" cy="2743200"/>
          </a:xfrm>
          <a:prstGeom prst="roundRect">
            <a:avLst>
              <a:gd name="adj" fmla="val 5000"/>
            </a:avLst>
          </a:prstGeom>
          <a:solidFill>
            <a:srgbClr val="1C2541"/>
          </a:solidFill>
          <a:ln w="25400">
            <a:solidFill>
              <a:srgbClr val="0277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60920" y="1828800"/>
            <a:ext cx="640080" cy="640080"/>
          </a:xfrm>
          <a:prstGeom prst="ellipse">
            <a:avLst/>
          </a:prstGeom>
          <a:solidFill>
            <a:srgbClr val="027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20" y="1874519"/>
            <a:ext cx="640080" cy="594360"/>
          </a:xfrm>
          <a:prstGeom prst="rect">
            <a:avLst/>
          </a:prstGeom>
          <a:noFill/>
        </p:spPr>
        <p:txBody>
          <a:bodyPr wrap="square">
            <a:spAutoFit/>
          </a:bodyPr>
          <a:lstStyle/>
          <a:p>
            <a:pPr algn="ctr">
              <a:defRPr sz="2200" b="1">
                <a:solidFill>
                  <a:srgbClr val="FFFFFF"/>
                </a:solidFill>
                <a:latin typeface="Segoe UI" panose="020B0502040204020203"/>
              </a:defRPr>
            </a:pPr>
            <a:r>
              <a:t>3</a:t>
            </a:r>
          </a:p>
        </p:txBody>
      </p:sp>
      <p:sp>
        <p:nvSpPr>
          <p:cNvPr id="20" name="TextBox 19"/>
          <p:cNvSpPr txBox="1"/>
          <p:nvPr/>
        </p:nvSpPr>
        <p:spPr>
          <a:xfrm>
            <a:off x="6537960" y="2651760"/>
            <a:ext cx="2286000" cy="320040"/>
          </a:xfrm>
          <a:prstGeom prst="rect">
            <a:avLst/>
          </a:prstGeom>
          <a:noFill/>
        </p:spPr>
        <p:txBody>
          <a:bodyPr wrap="square">
            <a:spAutoFit/>
          </a:bodyPr>
          <a:lstStyle/>
          <a:p>
            <a:pPr algn="ctr">
              <a:defRPr sz="1700" b="1">
                <a:solidFill>
                  <a:srgbClr val="FFFFFF"/>
                </a:solidFill>
                <a:latin typeface="Segoe UI" panose="020B0502040204020203"/>
              </a:defRPr>
            </a:pPr>
            <a:r>
              <a:t>STORAGE</a:t>
            </a:r>
          </a:p>
        </p:txBody>
      </p:sp>
      <p:sp>
        <p:nvSpPr>
          <p:cNvPr id="21" name="TextBox 20"/>
          <p:cNvSpPr txBox="1"/>
          <p:nvPr/>
        </p:nvSpPr>
        <p:spPr>
          <a:xfrm>
            <a:off x="6537960" y="2926080"/>
            <a:ext cx="2286000" cy="274320"/>
          </a:xfrm>
          <a:prstGeom prst="rect">
            <a:avLst/>
          </a:prstGeom>
          <a:noFill/>
        </p:spPr>
        <p:txBody>
          <a:bodyPr wrap="square">
            <a:spAutoFit/>
          </a:bodyPr>
          <a:lstStyle/>
          <a:p>
            <a:pPr algn="ctr">
              <a:defRPr sz="1100" b="1">
                <a:solidFill>
                  <a:srgbClr val="027787"/>
                </a:solidFill>
                <a:latin typeface="Segoe UI" panose="020B0502040204020203"/>
              </a:defRPr>
            </a:pPr>
            <a:r>
              <a:t>ACCESS</a:t>
            </a:r>
          </a:p>
        </p:txBody>
      </p:sp>
      <p:sp>
        <p:nvSpPr>
          <p:cNvPr id="22" name="TextBox 21"/>
          <p:cNvSpPr txBox="1"/>
          <p:nvPr/>
        </p:nvSpPr>
        <p:spPr>
          <a:xfrm>
            <a:off x="6583680" y="3291840"/>
            <a:ext cx="2194560" cy="914400"/>
          </a:xfrm>
          <a:prstGeom prst="rect">
            <a:avLst/>
          </a:prstGeom>
          <a:noFill/>
        </p:spPr>
        <p:txBody>
          <a:bodyPr wrap="square">
            <a:spAutoFit/>
          </a:bodyPr>
          <a:lstStyle/>
          <a:p>
            <a:pPr algn="ctr">
              <a:defRPr sz="1200" b="0">
                <a:solidFill>
                  <a:srgbClr val="E0E1DD"/>
                </a:solidFill>
                <a:latin typeface="Segoe UI" panose="020B0502040204020203"/>
              </a:defRPr>
            </a:pPr>
            <a:r>
              <a:t>S3 public access block (all 4 settings)</a:t>
            </a:r>
            <a:br/>
            <a:r>
              <a:t>Zero public exposure on objects</a:t>
            </a:r>
          </a:p>
        </p:txBody>
      </p:sp>
      <p:sp>
        <p:nvSpPr>
          <p:cNvPr id="23" name="Rounded Rectangle 22"/>
          <p:cNvSpPr/>
          <p:nvPr/>
        </p:nvSpPr>
        <p:spPr>
          <a:xfrm>
            <a:off x="9235440" y="1645920"/>
            <a:ext cx="2560320" cy="2743200"/>
          </a:xfrm>
          <a:prstGeom prst="roundRect">
            <a:avLst>
              <a:gd name="adj" fmla="val 5000"/>
            </a:avLst>
          </a:prstGeom>
          <a:solidFill>
            <a:srgbClr val="1C2541"/>
          </a:solidFill>
          <a:ln w="25400">
            <a:solidFill>
              <a:srgbClr val="023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95560" y="1828800"/>
            <a:ext cx="640080" cy="640080"/>
          </a:xfrm>
          <a:prstGeom prst="ellipse">
            <a:avLst/>
          </a:prstGeom>
          <a:solidFill>
            <a:srgbClr val="02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95560" y="1874519"/>
            <a:ext cx="640080" cy="594360"/>
          </a:xfrm>
          <a:prstGeom prst="rect">
            <a:avLst/>
          </a:prstGeom>
          <a:noFill/>
        </p:spPr>
        <p:txBody>
          <a:bodyPr wrap="square">
            <a:spAutoFit/>
          </a:bodyPr>
          <a:lstStyle/>
          <a:p>
            <a:pPr algn="ctr">
              <a:defRPr sz="2200" b="1">
                <a:solidFill>
                  <a:srgbClr val="FFFFFF"/>
                </a:solidFill>
                <a:latin typeface="Segoe UI" panose="020B0502040204020203"/>
              </a:defRPr>
            </a:pPr>
            <a:r>
              <a:t>4</a:t>
            </a:r>
          </a:p>
        </p:txBody>
      </p:sp>
      <p:sp>
        <p:nvSpPr>
          <p:cNvPr id="26" name="TextBox 25"/>
          <p:cNvSpPr txBox="1"/>
          <p:nvPr/>
        </p:nvSpPr>
        <p:spPr>
          <a:xfrm>
            <a:off x="9372600" y="2651760"/>
            <a:ext cx="2286000" cy="320040"/>
          </a:xfrm>
          <a:prstGeom prst="rect">
            <a:avLst/>
          </a:prstGeom>
          <a:noFill/>
        </p:spPr>
        <p:txBody>
          <a:bodyPr wrap="square">
            <a:spAutoFit/>
          </a:bodyPr>
          <a:lstStyle/>
          <a:p>
            <a:pPr algn="ctr">
              <a:defRPr sz="1700" b="1">
                <a:solidFill>
                  <a:srgbClr val="FFFFFF"/>
                </a:solidFill>
                <a:latin typeface="Segoe UI" panose="020B0502040204020203"/>
              </a:defRPr>
            </a:pPr>
            <a:r>
              <a:t>ENCRYPTION</a:t>
            </a:r>
          </a:p>
        </p:txBody>
      </p:sp>
      <p:sp>
        <p:nvSpPr>
          <p:cNvPr id="27" name="TextBox 26"/>
          <p:cNvSpPr txBox="1"/>
          <p:nvPr/>
        </p:nvSpPr>
        <p:spPr>
          <a:xfrm>
            <a:off x="9372600" y="2926080"/>
            <a:ext cx="2286000" cy="274320"/>
          </a:xfrm>
          <a:prstGeom prst="rect">
            <a:avLst/>
          </a:prstGeom>
          <a:noFill/>
        </p:spPr>
        <p:txBody>
          <a:bodyPr wrap="square">
            <a:spAutoFit/>
          </a:bodyPr>
          <a:lstStyle/>
          <a:p>
            <a:pPr algn="ctr">
              <a:defRPr sz="1100" b="1">
                <a:solidFill>
                  <a:srgbClr val="023047"/>
                </a:solidFill>
                <a:latin typeface="Segoe UI" panose="020B0502040204020203"/>
              </a:defRPr>
            </a:pPr>
            <a:r>
              <a:t>DATA</a:t>
            </a:r>
          </a:p>
        </p:txBody>
      </p:sp>
      <p:sp>
        <p:nvSpPr>
          <p:cNvPr id="28" name="TextBox 27"/>
          <p:cNvSpPr txBox="1"/>
          <p:nvPr/>
        </p:nvSpPr>
        <p:spPr>
          <a:xfrm>
            <a:off x="9418320" y="3291840"/>
            <a:ext cx="2194560" cy="914400"/>
          </a:xfrm>
          <a:prstGeom prst="rect">
            <a:avLst/>
          </a:prstGeom>
          <a:noFill/>
        </p:spPr>
        <p:txBody>
          <a:bodyPr wrap="square">
            <a:spAutoFit/>
          </a:bodyPr>
          <a:lstStyle/>
          <a:p>
            <a:pPr algn="ctr">
              <a:defRPr sz="1200" b="0">
                <a:solidFill>
                  <a:srgbClr val="E0E1DD"/>
                </a:solidFill>
                <a:latin typeface="Segoe UI" panose="020B0502040204020203"/>
              </a:defRPr>
            </a:pPr>
            <a:r>
              <a:t>AES-256 server-side encryption</a:t>
            </a:r>
            <a:br/>
            <a:r>
              <a:t>All data protected at rest</a:t>
            </a:r>
          </a:p>
        </p:txBody>
      </p:sp>
      <p:sp>
        <p:nvSpPr>
          <p:cNvPr id="29" name="TextBox 28"/>
          <p:cNvSpPr txBox="1"/>
          <p:nvPr/>
        </p:nvSpPr>
        <p:spPr>
          <a:xfrm>
            <a:off x="731520" y="4663440"/>
            <a:ext cx="4572000" cy="365760"/>
          </a:xfrm>
          <a:prstGeom prst="rect">
            <a:avLst/>
          </a:prstGeom>
          <a:noFill/>
        </p:spPr>
        <p:txBody>
          <a:bodyPr wrap="square">
            <a:spAutoFit/>
          </a:bodyPr>
          <a:lstStyle/>
          <a:p>
            <a:pPr algn="l">
              <a:defRPr sz="1800" b="1">
                <a:solidFill>
                  <a:srgbClr val="48CAE4"/>
                </a:solidFill>
                <a:latin typeface="Segoe UI" panose="020B0502040204020203"/>
              </a:defRPr>
            </a:pPr>
            <a:r>
              <a:t>Additional Protections</a:t>
            </a:r>
          </a:p>
        </p:txBody>
      </p:sp>
      <p:graphicFrame>
        <p:nvGraphicFramePr>
          <p:cNvPr id="30" name="Table 29"/>
          <p:cNvGraphicFramePr>
            <a:graphicFrameLocks noGrp="1"/>
          </p:cNvGraphicFramePr>
          <p:nvPr/>
        </p:nvGraphicFramePr>
        <p:xfrm>
          <a:off x="731520" y="5029200"/>
          <a:ext cx="10698480" cy="1554480"/>
        </p:xfrm>
        <a:graphic>
          <a:graphicData uri="http://schemas.openxmlformats.org/drawingml/2006/table">
            <a:tbl>
              <a:tblPr firstRow="1" bandRow="1">
                <a:tableStyleId>{5C22544A-7EE6-4342-B048-85BDC9FD1C3A}</a:tableStyleId>
              </a:tblPr>
              <a:tblGrid>
                <a:gridCol w="5349240"/>
                <a:gridCol w="5349240"/>
              </a:tblGrid>
              <a:tr h="310896">
                <a:tc>
                  <a:txBody>
                    <a:bodyPr/>
                    <a:lstStyle/>
                    <a:p>
                      <a:pPr>
                        <a:defRPr sz="1300" b="1">
                          <a:solidFill>
                            <a:srgbClr val="FFFFFF"/>
                          </a:solidFill>
                          <a:latin typeface="Segoe UI" panose="020B0502040204020203"/>
                        </a:defRPr>
                      </a:pPr>
                      <a:r>
                        <a:t>Control</a:t>
                      </a:r>
                    </a:p>
                  </a:txBody>
                  <a:tcPr>
                    <a:solidFill>
                      <a:srgbClr val="0077B6"/>
                    </a:solidFill>
                  </a:tcPr>
                </a:tc>
                <a:tc>
                  <a:txBody>
                    <a:bodyPr/>
                    <a:lstStyle/>
                    <a:p>
                      <a:pPr>
                        <a:defRPr sz="1300" b="1">
                          <a:solidFill>
                            <a:srgbClr val="FFFFFF"/>
                          </a:solidFill>
                          <a:latin typeface="Segoe UI" panose="020B0502040204020203"/>
                        </a:defRPr>
                      </a:pPr>
                      <a:r>
                        <a:t>Implementation</a:t>
                      </a:r>
                    </a:p>
                  </a:txBody>
                  <a:tcPr>
                    <a:solidFill>
                      <a:srgbClr val="0077B6"/>
                    </a:solidFill>
                  </a:tcPr>
                </a:tc>
              </a:tr>
              <a:tr h="310896">
                <a:tc>
                  <a:txBody>
                    <a:bodyPr/>
                    <a:lstStyle/>
                    <a:p>
                      <a:pPr>
                        <a:defRPr sz="1300">
                          <a:solidFill>
                            <a:srgbClr val="E0E1DD"/>
                          </a:solidFill>
                          <a:latin typeface="Segoe UI" panose="020B0502040204020203"/>
                        </a:defRPr>
                      </a:pPr>
                      <a:r>
                        <a:t>Git Security</a:t>
                      </a:r>
                    </a:p>
                  </a:txBody>
                  <a:tcPr>
                    <a:solidFill>
                      <a:srgbClr val="1C2541"/>
                    </a:solidFill>
                  </a:tcPr>
                </a:tc>
                <a:tc>
                  <a:txBody>
                    <a:bodyPr/>
                    <a:lstStyle/>
                    <a:p>
                      <a:pPr>
                        <a:defRPr sz="1300">
                          <a:solidFill>
                            <a:srgbClr val="E0E1DD"/>
                          </a:solidFill>
                          <a:latin typeface="Segoe UI" panose="020B0502040204020203"/>
                        </a:defRPr>
                      </a:pPr>
                      <a:r>
                        <a:t>.tfstate, .tfvars, AWS credentials excluded via .gitignore</a:t>
                      </a:r>
                    </a:p>
                  </a:txBody>
                  <a:tcPr>
                    <a:solidFill>
                      <a:srgbClr val="1C2541"/>
                    </a:solidFill>
                  </a:tcPr>
                </a:tc>
              </a:tr>
              <a:tr h="310896">
                <a:tc>
                  <a:txBody>
                    <a:bodyPr/>
                    <a:lstStyle/>
                    <a:p>
                      <a:pPr>
                        <a:defRPr sz="1300">
                          <a:solidFill>
                            <a:srgbClr val="E0E1DD"/>
                          </a:solidFill>
                          <a:latin typeface="Segoe UI" panose="020B0502040204020203"/>
                        </a:defRPr>
                      </a:pPr>
                      <a:r>
                        <a:t>Subnet Isolation</a:t>
                      </a:r>
                    </a:p>
                  </a:txBody>
                  <a:tcPr>
                    <a:solidFill>
                      <a:srgbClr val="162038"/>
                    </a:solidFill>
                  </a:tcPr>
                </a:tc>
                <a:tc>
                  <a:txBody>
                    <a:bodyPr/>
                    <a:lstStyle/>
                    <a:p>
                      <a:pPr>
                        <a:defRPr sz="1300">
                          <a:solidFill>
                            <a:srgbClr val="E0E1DD"/>
                          </a:solidFill>
                          <a:latin typeface="Segoe UI" panose="020B0502040204020203"/>
                        </a:defRPr>
                      </a:pPr>
                      <a:r>
                        <a:t>Private subnet has no internet route — isolated by default</a:t>
                      </a:r>
                    </a:p>
                  </a:txBody>
                  <a:tcPr>
                    <a:solidFill>
                      <a:srgbClr val="162038"/>
                    </a:solidFill>
                  </a:tcPr>
                </a:tc>
              </a:tr>
              <a:tr h="310896">
                <a:tc>
                  <a:txBody>
                    <a:bodyPr/>
                    <a:lstStyle/>
                    <a:p>
                      <a:pPr>
                        <a:defRPr sz="1300">
                          <a:solidFill>
                            <a:srgbClr val="E0E1DD"/>
                          </a:solidFill>
                          <a:latin typeface="Segoe UI" panose="020B0502040204020203"/>
                        </a:defRPr>
                      </a:pPr>
                      <a:r>
                        <a:t>S3 Versioning</a:t>
                      </a:r>
                    </a:p>
                  </a:txBody>
                  <a:tcPr>
                    <a:solidFill>
                      <a:srgbClr val="1C2541"/>
                    </a:solidFill>
                  </a:tcPr>
                </a:tc>
                <a:tc>
                  <a:txBody>
                    <a:bodyPr/>
                    <a:lstStyle/>
                    <a:p>
                      <a:pPr>
                        <a:defRPr sz="1300">
                          <a:solidFill>
                            <a:srgbClr val="E0E1DD"/>
                          </a:solidFill>
                          <a:latin typeface="Segoe UI" panose="020B0502040204020203"/>
                        </a:defRPr>
                      </a:pPr>
                      <a:r>
                        <a:t>Object revision history preserved — rollback capable</a:t>
                      </a:r>
                    </a:p>
                  </a:txBody>
                  <a:tcPr>
                    <a:solidFill>
                      <a:srgbClr val="1C2541"/>
                    </a:solidFill>
                  </a:tcPr>
                </a:tc>
              </a:tr>
              <a:tr h="310896">
                <a:tc>
                  <a:txBody>
                    <a:bodyPr/>
                    <a:lstStyle/>
                    <a:p>
                      <a:pPr>
                        <a:defRPr sz="1300">
                          <a:solidFill>
                            <a:srgbClr val="E0E1DD"/>
                          </a:solidFill>
                          <a:latin typeface="Segoe UI" panose="020B0502040204020203"/>
                        </a:defRPr>
                      </a:pPr>
                      <a:r>
                        <a:t>Default Tags</a:t>
                      </a:r>
                    </a:p>
                  </a:txBody>
                  <a:tcPr>
                    <a:solidFill>
                      <a:srgbClr val="162038"/>
                    </a:solidFill>
                  </a:tcPr>
                </a:tc>
                <a:tc>
                  <a:txBody>
                    <a:bodyPr/>
                    <a:lstStyle/>
                    <a:p>
                      <a:pPr>
                        <a:defRPr sz="1300">
                          <a:solidFill>
                            <a:srgbClr val="E0E1DD"/>
                          </a:solidFill>
                          <a:latin typeface="Segoe UI" panose="020B0502040204020203"/>
                        </a:defRPr>
                      </a:pPr>
                      <a:r>
                        <a:t>ManagedBy = 'Terraform' on every resource for auditing</a:t>
                      </a:r>
                    </a:p>
                  </a:txBody>
                  <a:tcPr>
                    <a:solidFill>
                      <a:srgbClr val="162038"/>
                    </a:solidFill>
                  </a:tcPr>
                </a:tc>
              </a:tr>
            </a:tbl>
          </a:graphicData>
        </a:graphic>
      </p:graphicFrame>
      <p:sp>
        <p:nvSpPr>
          <p:cNvPr id="31" name="TextBox 30"/>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11/15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LIVE RESULTS &amp; VERIFICATION</a:t>
            </a:r>
          </a:p>
        </p:txBody>
      </p:sp>
      <p:sp>
        <p:nvSpPr>
          <p:cNvPr id="3" name="Rectangle 2"/>
          <p:cNvSpPr/>
          <p:nvPr/>
        </p:nvSpPr>
        <p:spPr>
          <a:xfrm>
            <a:off x="731520" y="109728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6400800" cy="3474720"/>
          </a:xfrm>
          <a:prstGeom prst="roundRect">
            <a:avLst>
              <a:gd name="adj" fmla="val 5000"/>
            </a:avLst>
          </a:prstGeom>
          <a:solidFill>
            <a:srgbClr val="141E33"/>
          </a:solidFill>
          <a:ln w="1270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3657600" cy="274320"/>
          </a:xfrm>
          <a:prstGeom prst="rect">
            <a:avLst/>
          </a:prstGeom>
          <a:noFill/>
        </p:spPr>
        <p:txBody>
          <a:bodyPr wrap="square">
            <a:spAutoFit/>
          </a:bodyPr>
          <a:lstStyle/>
          <a:p>
            <a:pPr algn="l">
              <a:defRPr sz="1300" b="1">
                <a:solidFill>
                  <a:srgbClr val="06D6A0"/>
                </a:solidFill>
                <a:latin typeface="Consolas" panose="020B0609020204030204"/>
              </a:defRPr>
            </a:pPr>
            <a:r>
              <a:t>$ terraform apply</a:t>
            </a:r>
          </a:p>
        </p:txBody>
      </p:sp>
      <p:sp>
        <p:nvSpPr>
          <p:cNvPr id="6" name="TextBox 5"/>
          <p:cNvSpPr txBox="1"/>
          <p:nvPr/>
        </p:nvSpPr>
        <p:spPr>
          <a:xfrm>
            <a:off x="914400" y="1783080"/>
            <a:ext cx="6035040" cy="237744"/>
          </a:xfrm>
          <a:prstGeom prst="rect">
            <a:avLst/>
          </a:prstGeom>
          <a:noFill/>
        </p:spPr>
        <p:txBody>
          <a:bodyPr wrap="square">
            <a:spAutoFit/>
          </a:bodyPr>
          <a:lstStyle/>
          <a:p>
            <a:pPr algn="l">
              <a:defRPr sz="1100" b="0">
                <a:solidFill>
                  <a:srgbClr val="06D6A0"/>
                </a:solidFill>
                <a:latin typeface="Consolas" panose="020B0609020204030204"/>
              </a:defRPr>
            </a:pPr>
            <a:r>
              <a:t>Apply complete! Resources: 15 added, 0 changed, 0 destroyed.</a:t>
            </a:r>
          </a:p>
        </p:txBody>
      </p:sp>
      <p:sp>
        <p:nvSpPr>
          <p:cNvPr id="7" name="TextBox 6"/>
          <p:cNvSpPr txBox="1"/>
          <p:nvPr/>
        </p:nvSpPr>
        <p:spPr>
          <a:xfrm>
            <a:off x="914400" y="2020824"/>
            <a:ext cx="6035040" cy="237744"/>
          </a:xfrm>
          <a:prstGeom prst="rect">
            <a:avLst/>
          </a:prstGeom>
          <a:noFill/>
        </p:spPr>
        <p:txBody>
          <a:bodyPr wrap="square">
            <a:spAutoFit/>
          </a:bodyPr>
          <a:lstStyle/>
          <a:p>
            <a:pPr algn="l">
              <a:defRPr sz="1100" b="0">
                <a:solidFill>
                  <a:srgbClr val="FFFFFF"/>
                </a:solidFill>
                <a:latin typeface="Consolas" panose="020B0609020204030204"/>
              </a:defRPr>
            </a:pPr>
          </a:p>
        </p:txBody>
      </p:sp>
      <p:sp>
        <p:nvSpPr>
          <p:cNvPr id="8" name="TextBox 7"/>
          <p:cNvSpPr txBox="1"/>
          <p:nvPr/>
        </p:nvSpPr>
        <p:spPr>
          <a:xfrm>
            <a:off x="914400" y="2258568"/>
            <a:ext cx="6035040" cy="237744"/>
          </a:xfrm>
          <a:prstGeom prst="rect">
            <a:avLst/>
          </a:prstGeom>
          <a:noFill/>
        </p:spPr>
        <p:txBody>
          <a:bodyPr wrap="square">
            <a:spAutoFit/>
          </a:bodyPr>
          <a:lstStyle/>
          <a:p>
            <a:pPr algn="l">
              <a:defRPr sz="1100" b="0">
                <a:solidFill>
                  <a:srgbClr val="48CAE4"/>
                </a:solidFill>
                <a:latin typeface="Consolas" panose="020B0609020204030204"/>
              </a:defRPr>
            </a:pPr>
            <a:r>
              <a:t>Outputs:</a:t>
            </a:r>
          </a:p>
        </p:txBody>
      </p:sp>
      <p:sp>
        <p:nvSpPr>
          <p:cNvPr id="9" name="TextBox 8"/>
          <p:cNvSpPr txBox="1"/>
          <p:nvPr/>
        </p:nvSpPr>
        <p:spPr>
          <a:xfrm>
            <a:off x="914400" y="2496312"/>
            <a:ext cx="6035040" cy="237744"/>
          </a:xfrm>
          <a:prstGeom prst="rect">
            <a:avLst/>
          </a:prstGeom>
          <a:noFill/>
        </p:spPr>
        <p:txBody>
          <a:bodyPr wrap="square">
            <a:spAutoFit/>
          </a:bodyPr>
          <a:lstStyle/>
          <a:p>
            <a:pPr algn="l">
              <a:defRPr sz="1100" b="0">
                <a:solidFill>
                  <a:srgbClr val="FFFFFF"/>
                </a:solidFill>
                <a:latin typeface="Consolas" panose="020B0609020204030204"/>
              </a:defRPr>
            </a:pPr>
          </a:p>
        </p:txBody>
      </p:sp>
      <p:sp>
        <p:nvSpPr>
          <p:cNvPr id="10" name="TextBox 9"/>
          <p:cNvSpPr txBox="1"/>
          <p:nvPr/>
        </p:nvSpPr>
        <p:spPr>
          <a:xfrm>
            <a:off x="914400" y="2734056"/>
            <a:ext cx="6035040" cy="237744"/>
          </a:xfrm>
          <a:prstGeom prst="rect">
            <a:avLst/>
          </a:prstGeom>
          <a:noFill/>
        </p:spPr>
        <p:txBody>
          <a:bodyPr wrap="square">
            <a:spAutoFit/>
          </a:bodyPr>
          <a:lstStyle/>
          <a:p>
            <a:pPr algn="l">
              <a:defRPr sz="1100" b="0">
                <a:solidFill>
                  <a:srgbClr val="E0E1DD"/>
                </a:solidFill>
                <a:latin typeface="Consolas" panose="020B0609020204030204"/>
              </a:defRPr>
            </a:pPr>
            <a:r>
              <a:t>ec2_instance_id   = "i-0528e216ad5723a2b"</a:t>
            </a:r>
          </a:p>
        </p:txBody>
      </p:sp>
      <p:sp>
        <p:nvSpPr>
          <p:cNvPr id="11" name="TextBox 10"/>
          <p:cNvSpPr txBox="1"/>
          <p:nvPr/>
        </p:nvSpPr>
        <p:spPr>
          <a:xfrm>
            <a:off x="914400" y="2971800"/>
            <a:ext cx="6035040" cy="237744"/>
          </a:xfrm>
          <a:prstGeom prst="rect">
            <a:avLst/>
          </a:prstGeom>
          <a:noFill/>
        </p:spPr>
        <p:txBody>
          <a:bodyPr wrap="square">
            <a:spAutoFit/>
          </a:bodyPr>
          <a:lstStyle/>
          <a:p>
            <a:pPr algn="l">
              <a:defRPr sz="1100" b="0">
                <a:solidFill>
                  <a:srgbClr val="E0E1DD"/>
                </a:solidFill>
                <a:latin typeface="Consolas" panose="020B0609020204030204"/>
              </a:defRPr>
            </a:pPr>
            <a:r>
              <a:t>ec2_public_ip     = "13.204.131.183"</a:t>
            </a:r>
          </a:p>
        </p:txBody>
      </p:sp>
      <p:sp>
        <p:nvSpPr>
          <p:cNvPr id="12" name="TextBox 11"/>
          <p:cNvSpPr txBox="1"/>
          <p:nvPr/>
        </p:nvSpPr>
        <p:spPr>
          <a:xfrm>
            <a:off x="914400" y="3209544"/>
            <a:ext cx="6035040" cy="237744"/>
          </a:xfrm>
          <a:prstGeom prst="rect">
            <a:avLst/>
          </a:prstGeom>
          <a:noFill/>
        </p:spPr>
        <p:txBody>
          <a:bodyPr wrap="square">
            <a:spAutoFit/>
          </a:bodyPr>
          <a:lstStyle/>
          <a:p>
            <a:pPr algn="l">
              <a:defRPr sz="1100" b="0">
                <a:solidFill>
                  <a:srgbClr val="48CAE4"/>
                </a:solidFill>
                <a:latin typeface="Consolas" panose="020B0609020204030204"/>
              </a:defRPr>
            </a:pPr>
            <a:r>
              <a:t>nginx_web_url     = "http://13.204.131.183"</a:t>
            </a:r>
          </a:p>
        </p:txBody>
      </p:sp>
      <p:sp>
        <p:nvSpPr>
          <p:cNvPr id="13" name="TextBox 12"/>
          <p:cNvSpPr txBox="1"/>
          <p:nvPr/>
        </p:nvSpPr>
        <p:spPr>
          <a:xfrm>
            <a:off x="914400" y="3447288"/>
            <a:ext cx="6035040" cy="237744"/>
          </a:xfrm>
          <a:prstGeom prst="rect">
            <a:avLst/>
          </a:prstGeom>
          <a:noFill/>
        </p:spPr>
        <p:txBody>
          <a:bodyPr wrap="square">
            <a:spAutoFit/>
          </a:bodyPr>
          <a:lstStyle/>
          <a:p>
            <a:pPr algn="l">
              <a:defRPr sz="1100" b="0">
                <a:solidFill>
                  <a:srgbClr val="E0E1DD"/>
                </a:solidFill>
                <a:latin typeface="Consolas" panose="020B0609020204030204"/>
              </a:defRPr>
            </a:pPr>
            <a:r>
              <a:t>private_subnet_id = "subnet-0fa95961b6d6a1604"</a:t>
            </a:r>
          </a:p>
        </p:txBody>
      </p:sp>
      <p:sp>
        <p:nvSpPr>
          <p:cNvPr id="14" name="TextBox 13"/>
          <p:cNvSpPr txBox="1"/>
          <p:nvPr/>
        </p:nvSpPr>
        <p:spPr>
          <a:xfrm>
            <a:off x="914400" y="3685032"/>
            <a:ext cx="6035040" cy="237744"/>
          </a:xfrm>
          <a:prstGeom prst="rect">
            <a:avLst/>
          </a:prstGeom>
          <a:noFill/>
        </p:spPr>
        <p:txBody>
          <a:bodyPr wrap="square">
            <a:spAutoFit/>
          </a:bodyPr>
          <a:lstStyle/>
          <a:p>
            <a:pPr algn="l">
              <a:defRPr sz="1100" b="0">
                <a:solidFill>
                  <a:srgbClr val="E0E1DD"/>
                </a:solidFill>
                <a:latin typeface="Consolas" panose="020B0609020204030204"/>
              </a:defRPr>
            </a:pPr>
            <a:r>
              <a:t>public_subnet_id  = "subnet-087fca4e5e18557bf"</a:t>
            </a:r>
          </a:p>
        </p:txBody>
      </p:sp>
      <p:sp>
        <p:nvSpPr>
          <p:cNvPr id="15" name="TextBox 14"/>
          <p:cNvSpPr txBox="1"/>
          <p:nvPr/>
        </p:nvSpPr>
        <p:spPr>
          <a:xfrm>
            <a:off x="914400" y="3922776"/>
            <a:ext cx="6035040" cy="237744"/>
          </a:xfrm>
          <a:prstGeom prst="rect">
            <a:avLst/>
          </a:prstGeom>
          <a:noFill/>
        </p:spPr>
        <p:txBody>
          <a:bodyPr wrap="square">
            <a:spAutoFit/>
          </a:bodyPr>
          <a:lstStyle/>
          <a:p>
            <a:pPr algn="l">
              <a:defRPr sz="1100" b="0">
                <a:solidFill>
                  <a:srgbClr val="E0E1DD"/>
                </a:solidFill>
                <a:latin typeface="Consolas" panose="020B0609020204030204"/>
              </a:defRPr>
            </a:pPr>
            <a:r>
              <a:t>s3_bucket_arn     = "arn:aws:s3:::ibm-iac-storage-dev-6efceb8b"</a:t>
            </a:r>
          </a:p>
        </p:txBody>
      </p:sp>
      <p:sp>
        <p:nvSpPr>
          <p:cNvPr id="16" name="TextBox 15"/>
          <p:cNvSpPr txBox="1"/>
          <p:nvPr/>
        </p:nvSpPr>
        <p:spPr>
          <a:xfrm>
            <a:off x="914400" y="4160520"/>
            <a:ext cx="6035040" cy="237744"/>
          </a:xfrm>
          <a:prstGeom prst="rect">
            <a:avLst/>
          </a:prstGeom>
          <a:noFill/>
        </p:spPr>
        <p:txBody>
          <a:bodyPr wrap="square">
            <a:spAutoFit/>
          </a:bodyPr>
          <a:lstStyle/>
          <a:p>
            <a:pPr algn="l">
              <a:defRPr sz="1100" b="0">
                <a:solidFill>
                  <a:srgbClr val="E0E1DD"/>
                </a:solidFill>
                <a:latin typeface="Consolas" panose="020B0609020204030204"/>
              </a:defRPr>
            </a:pPr>
            <a:r>
              <a:t>s3_bucket_name    = "ibm-iac-storage-dev-6efceb8b"</a:t>
            </a:r>
          </a:p>
        </p:txBody>
      </p:sp>
      <p:sp>
        <p:nvSpPr>
          <p:cNvPr id="17" name="TextBox 16"/>
          <p:cNvSpPr txBox="1"/>
          <p:nvPr/>
        </p:nvSpPr>
        <p:spPr>
          <a:xfrm>
            <a:off x="914400" y="4398264"/>
            <a:ext cx="6035040" cy="237744"/>
          </a:xfrm>
          <a:prstGeom prst="rect">
            <a:avLst/>
          </a:prstGeom>
          <a:noFill/>
        </p:spPr>
        <p:txBody>
          <a:bodyPr wrap="square">
            <a:spAutoFit/>
          </a:bodyPr>
          <a:lstStyle/>
          <a:p>
            <a:pPr algn="l">
              <a:defRPr sz="1100" b="0">
                <a:solidFill>
                  <a:srgbClr val="E0E1DD"/>
                </a:solidFill>
                <a:latin typeface="Consolas" panose="020B0609020204030204"/>
              </a:defRPr>
            </a:pPr>
            <a:r>
              <a:t>vpc_id            = "vpc-0f277b1d2c98ef780"</a:t>
            </a:r>
          </a:p>
        </p:txBody>
      </p:sp>
      <p:sp>
        <p:nvSpPr>
          <p:cNvPr id="18" name="TextBox 17"/>
          <p:cNvSpPr txBox="1"/>
          <p:nvPr/>
        </p:nvSpPr>
        <p:spPr>
          <a:xfrm>
            <a:off x="7498079" y="914400"/>
            <a:ext cx="4114800" cy="457200"/>
          </a:xfrm>
          <a:prstGeom prst="rect">
            <a:avLst/>
          </a:prstGeom>
          <a:noFill/>
        </p:spPr>
        <p:txBody>
          <a:bodyPr wrap="square">
            <a:spAutoFit/>
          </a:bodyPr>
          <a:lstStyle/>
          <a:p>
            <a:pPr algn="l">
              <a:defRPr sz="2000" b="1">
                <a:solidFill>
                  <a:srgbClr val="48CAE4"/>
                </a:solidFill>
                <a:latin typeface="Segoe UI" panose="020B0502040204020203"/>
              </a:defRPr>
            </a:pPr>
            <a:r>
              <a:t>Verification Checklist</a:t>
            </a:r>
          </a:p>
        </p:txBody>
      </p:sp>
      <p:sp>
        <p:nvSpPr>
          <p:cNvPr id="19" name="Rounded Rectangle 18"/>
          <p:cNvSpPr/>
          <p:nvPr/>
        </p:nvSpPr>
        <p:spPr>
          <a:xfrm>
            <a:off x="7498079" y="145034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152349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21" name="TextBox 20"/>
          <p:cNvSpPr txBox="1"/>
          <p:nvPr/>
        </p:nvSpPr>
        <p:spPr>
          <a:xfrm>
            <a:off x="8001000" y="152349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terraform validate</a:t>
            </a:r>
          </a:p>
        </p:txBody>
      </p:sp>
      <p:sp>
        <p:nvSpPr>
          <p:cNvPr id="22" name="TextBox 21"/>
          <p:cNvSpPr txBox="1"/>
          <p:nvPr/>
        </p:nvSpPr>
        <p:spPr>
          <a:xfrm>
            <a:off x="10149840" y="152349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0 errors</a:t>
            </a:r>
          </a:p>
        </p:txBody>
      </p:sp>
      <p:sp>
        <p:nvSpPr>
          <p:cNvPr id="23" name="Rounded Rectangle 22"/>
          <p:cNvSpPr/>
          <p:nvPr/>
        </p:nvSpPr>
        <p:spPr>
          <a:xfrm>
            <a:off x="7498079" y="204470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35240" y="211785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25" name="TextBox 24"/>
          <p:cNvSpPr txBox="1"/>
          <p:nvPr/>
        </p:nvSpPr>
        <p:spPr>
          <a:xfrm>
            <a:off x="8001000" y="211785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terraform plan</a:t>
            </a:r>
          </a:p>
        </p:txBody>
      </p:sp>
      <p:sp>
        <p:nvSpPr>
          <p:cNvPr id="26" name="TextBox 25"/>
          <p:cNvSpPr txBox="1"/>
          <p:nvPr/>
        </p:nvSpPr>
        <p:spPr>
          <a:xfrm>
            <a:off x="10149840" y="211785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15 resources planned</a:t>
            </a:r>
          </a:p>
        </p:txBody>
      </p:sp>
      <p:sp>
        <p:nvSpPr>
          <p:cNvPr id="27" name="Rounded Rectangle 26"/>
          <p:cNvSpPr/>
          <p:nvPr/>
        </p:nvSpPr>
        <p:spPr>
          <a:xfrm>
            <a:off x="7498079" y="263906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5240" y="271221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29" name="TextBox 28"/>
          <p:cNvSpPr txBox="1"/>
          <p:nvPr/>
        </p:nvSpPr>
        <p:spPr>
          <a:xfrm>
            <a:off x="8001000" y="271221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terraform apply</a:t>
            </a:r>
          </a:p>
        </p:txBody>
      </p:sp>
      <p:sp>
        <p:nvSpPr>
          <p:cNvPr id="30" name="TextBox 29"/>
          <p:cNvSpPr txBox="1"/>
          <p:nvPr/>
        </p:nvSpPr>
        <p:spPr>
          <a:xfrm>
            <a:off x="10149840" y="271221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15 resources created</a:t>
            </a:r>
          </a:p>
        </p:txBody>
      </p:sp>
      <p:sp>
        <p:nvSpPr>
          <p:cNvPr id="31" name="Rounded Rectangle 30"/>
          <p:cNvSpPr/>
          <p:nvPr/>
        </p:nvSpPr>
        <p:spPr>
          <a:xfrm>
            <a:off x="7498079" y="323342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330657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33" name="TextBox 32"/>
          <p:cNvSpPr txBox="1"/>
          <p:nvPr/>
        </p:nvSpPr>
        <p:spPr>
          <a:xfrm>
            <a:off x="8001000" y="330657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curl http://13.204.131.183</a:t>
            </a:r>
          </a:p>
        </p:txBody>
      </p:sp>
      <p:sp>
        <p:nvSpPr>
          <p:cNvPr id="34" name="TextBox 33"/>
          <p:cNvSpPr txBox="1"/>
          <p:nvPr/>
        </p:nvSpPr>
        <p:spPr>
          <a:xfrm>
            <a:off x="10149840" y="330657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HTTP 200 OK</a:t>
            </a:r>
          </a:p>
        </p:txBody>
      </p:sp>
      <p:sp>
        <p:nvSpPr>
          <p:cNvPr id="35" name="Rounded Rectangle 34"/>
          <p:cNvSpPr/>
          <p:nvPr/>
        </p:nvSpPr>
        <p:spPr>
          <a:xfrm>
            <a:off x="7498079" y="382778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35240" y="390093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37" name="TextBox 36"/>
          <p:cNvSpPr txBox="1"/>
          <p:nvPr/>
        </p:nvSpPr>
        <p:spPr>
          <a:xfrm>
            <a:off x="8001000" y="390093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Browser test</a:t>
            </a:r>
          </a:p>
        </p:txBody>
      </p:sp>
      <p:sp>
        <p:nvSpPr>
          <p:cNvPr id="38" name="TextBox 37"/>
          <p:cNvSpPr txBox="1"/>
          <p:nvPr/>
        </p:nvSpPr>
        <p:spPr>
          <a:xfrm>
            <a:off x="10149840" y="390093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Custom landing page served</a:t>
            </a:r>
          </a:p>
        </p:txBody>
      </p:sp>
      <p:sp>
        <p:nvSpPr>
          <p:cNvPr id="39" name="Rounded Rectangle 38"/>
          <p:cNvSpPr/>
          <p:nvPr/>
        </p:nvSpPr>
        <p:spPr>
          <a:xfrm>
            <a:off x="7498079" y="442214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35240" y="449529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41" name="TextBox 40"/>
          <p:cNvSpPr txBox="1"/>
          <p:nvPr/>
        </p:nvSpPr>
        <p:spPr>
          <a:xfrm>
            <a:off x="8001000" y="449529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AWS Console</a:t>
            </a:r>
          </a:p>
        </p:txBody>
      </p:sp>
      <p:sp>
        <p:nvSpPr>
          <p:cNvPr id="42" name="TextBox 41"/>
          <p:cNvSpPr txBox="1"/>
          <p:nvPr/>
        </p:nvSpPr>
        <p:spPr>
          <a:xfrm>
            <a:off x="10149840" y="449529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All resources visible</a:t>
            </a:r>
          </a:p>
        </p:txBody>
      </p:sp>
      <p:sp>
        <p:nvSpPr>
          <p:cNvPr id="43" name="Rounded Rectangle 42"/>
          <p:cNvSpPr/>
          <p:nvPr/>
        </p:nvSpPr>
        <p:spPr>
          <a:xfrm>
            <a:off x="7498079" y="5016500"/>
            <a:ext cx="4114800" cy="457200"/>
          </a:xfrm>
          <a:prstGeom prst="roundRect">
            <a:avLst>
              <a:gd name="adj" fmla="val 5000"/>
            </a:avLst>
          </a:prstGeom>
          <a:solidFill>
            <a:srgbClr val="1C2541"/>
          </a:solidFill>
          <a:ln w="12700">
            <a:solidFill>
              <a:srgbClr val="2A3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35240" y="5089652"/>
            <a:ext cx="365760" cy="274320"/>
          </a:xfrm>
          <a:prstGeom prst="rect">
            <a:avLst/>
          </a:prstGeom>
          <a:noFill/>
        </p:spPr>
        <p:txBody>
          <a:bodyPr wrap="square">
            <a:spAutoFit/>
          </a:bodyPr>
          <a:lstStyle/>
          <a:p>
            <a:pPr algn="l">
              <a:defRPr sz="1400" b="0">
                <a:solidFill>
                  <a:srgbClr val="06D6A0"/>
                </a:solidFill>
                <a:latin typeface="Segoe UI" panose="020B0502040204020203"/>
              </a:defRPr>
            </a:pPr>
            <a:r>
              <a:t>✅</a:t>
            </a:r>
          </a:p>
        </p:txBody>
      </p:sp>
      <p:sp>
        <p:nvSpPr>
          <p:cNvPr id="45" name="TextBox 44"/>
          <p:cNvSpPr txBox="1"/>
          <p:nvPr/>
        </p:nvSpPr>
        <p:spPr>
          <a:xfrm>
            <a:off x="8001000" y="5089652"/>
            <a:ext cx="2011680" cy="274320"/>
          </a:xfrm>
          <a:prstGeom prst="rect">
            <a:avLst/>
          </a:prstGeom>
          <a:noFill/>
        </p:spPr>
        <p:txBody>
          <a:bodyPr wrap="square">
            <a:spAutoFit/>
          </a:bodyPr>
          <a:lstStyle/>
          <a:p>
            <a:pPr algn="l">
              <a:defRPr sz="1200" b="0">
                <a:solidFill>
                  <a:srgbClr val="FFFFFF"/>
                </a:solidFill>
                <a:latin typeface="Consolas" panose="020B0609020204030204"/>
              </a:defRPr>
            </a:pPr>
            <a:r>
              <a:t>terraform destroy</a:t>
            </a:r>
          </a:p>
        </p:txBody>
      </p:sp>
      <p:sp>
        <p:nvSpPr>
          <p:cNvPr id="46" name="TextBox 45"/>
          <p:cNvSpPr txBox="1"/>
          <p:nvPr/>
        </p:nvSpPr>
        <p:spPr>
          <a:xfrm>
            <a:off x="10149840" y="5089652"/>
            <a:ext cx="1371600" cy="274320"/>
          </a:xfrm>
          <a:prstGeom prst="rect">
            <a:avLst/>
          </a:prstGeom>
          <a:noFill/>
        </p:spPr>
        <p:txBody>
          <a:bodyPr wrap="square">
            <a:spAutoFit/>
          </a:bodyPr>
          <a:lstStyle/>
          <a:p>
            <a:pPr algn="l">
              <a:defRPr sz="1100" b="0">
                <a:solidFill>
                  <a:srgbClr val="06D6A0"/>
                </a:solidFill>
                <a:latin typeface="Segoe UI" panose="020B0502040204020203"/>
              </a:defRPr>
            </a:pPr>
            <a:r>
              <a:t>15 resources removed</a:t>
            </a:r>
          </a:p>
        </p:txBody>
      </p:sp>
      <p:sp>
        <p:nvSpPr>
          <p:cNvPr id="47" name="Rounded Rectangle 46"/>
          <p:cNvSpPr/>
          <p:nvPr/>
        </p:nvSpPr>
        <p:spPr>
          <a:xfrm>
            <a:off x="731520" y="5760720"/>
            <a:ext cx="10698480" cy="73152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5760720"/>
            <a:ext cx="10698480" cy="731520"/>
          </a:xfrm>
          <a:prstGeom prst="rect">
            <a:avLst/>
          </a:prstGeom>
          <a:noFill/>
        </p:spPr>
        <p:txBody>
          <a:bodyPr wrap="square">
            <a:spAutoFit/>
          </a:bodyPr>
          <a:lstStyle/>
          <a:p>
            <a:pPr algn="ctr">
              <a:defRPr sz="1800" b="1">
                <a:solidFill>
                  <a:srgbClr val="FFFFFF"/>
                </a:solidFill>
                <a:latin typeface="Segoe UI" panose="020B0502040204020203"/>
              </a:defRPr>
            </a:pPr>
            <a:r>
              <a:t>15 AWS resources  •  &lt; 2 min deployment  •  0 manual steps  •  $0.00 cost  •  HTTP 200 OK</a:t>
            </a:r>
          </a:p>
        </p:txBody>
      </p:sp>
      <p:sp>
        <p:nvSpPr>
          <p:cNvPr id="49" name="TextBox 48"/>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12/15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9462770" cy="583565"/>
          </a:xfrm>
          <a:prstGeom prst="rect">
            <a:avLst/>
          </a:prstGeom>
          <a:noFill/>
        </p:spPr>
        <p:txBody>
          <a:bodyPr wrap="square">
            <a:spAutoFit/>
          </a:bodyPr>
          <a:lstStyle/>
          <a:p>
            <a:pPr algn="l">
              <a:defRPr sz="3200" b="1">
                <a:solidFill>
                  <a:srgbClr val="FFFFFF"/>
                </a:solidFill>
                <a:latin typeface="Segoe UI" panose="020B0502040204020203"/>
              </a:defRPr>
            </a:pPr>
            <a:r>
              <a:t>ADVANTAGES — ClickOps vs Terraform IaC</a:t>
            </a:r>
          </a:p>
        </p:txBody>
      </p:sp>
      <p:sp>
        <p:nvSpPr>
          <p:cNvPr id="3" name="Rectangle 2"/>
          <p:cNvSpPr/>
          <p:nvPr/>
        </p:nvSpPr>
        <p:spPr>
          <a:xfrm>
            <a:off x="731520" y="1097280"/>
            <a:ext cx="27432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371600"/>
          <a:ext cx="10698480" cy="4572000"/>
        </p:xfrm>
        <a:graphic>
          <a:graphicData uri="http://schemas.openxmlformats.org/drawingml/2006/table">
            <a:tbl>
              <a:tblPr firstRow="1" bandRow="1">
                <a:tableStyleId>{5C22544A-7EE6-4342-B048-85BDC9FD1C3A}</a:tableStyleId>
              </a:tblPr>
              <a:tblGrid>
                <a:gridCol w="3566160"/>
                <a:gridCol w="3566160"/>
                <a:gridCol w="3566160"/>
              </a:tblGrid>
              <a:tr h="415636">
                <a:tc>
                  <a:txBody>
                    <a:bodyPr/>
                    <a:lstStyle/>
                    <a:p>
                      <a:pPr>
                        <a:defRPr sz="1300" b="1">
                          <a:solidFill>
                            <a:srgbClr val="FFFFFF"/>
                          </a:solidFill>
                          <a:latin typeface="Segoe UI" panose="020B0502040204020203"/>
                        </a:defRPr>
                      </a:pPr>
                      <a:r>
                        <a:t>Metric</a:t>
                      </a:r>
                    </a:p>
                  </a:txBody>
                  <a:tcPr>
                    <a:solidFill>
                      <a:srgbClr val="0077B6"/>
                    </a:solidFill>
                  </a:tcPr>
                </a:tc>
                <a:tc>
                  <a:txBody>
                    <a:bodyPr/>
                    <a:lstStyle/>
                    <a:p>
                      <a:pPr>
                        <a:defRPr sz="1300" b="1">
                          <a:solidFill>
                            <a:srgbClr val="FFFFFF"/>
                          </a:solidFill>
                          <a:latin typeface="Segoe UI" panose="020B0502040204020203"/>
                        </a:defRPr>
                      </a:pPr>
                      <a:r>
                        <a:t>Manual Console (ClickOps)</a:t>
                      </a:r>
                    </a:p>
                  </a:txBody>
                  <a:tcPr>
                    <a:solidFill>
                      <a:srgbClr val="0077B6"/>
                    </a:solidFill>
                  </a:tcPr>
                </a:tc>
                <a:tc>
                  <a:txBody>
                    <a:bodyPr/>
                    <a:lstStyle/>
                    <a:p>
                      <a:pPr>
                        <a:defRPr sz="1300" b="1">
                          <a:solidFill>
                            <a:srgbClr val="FFFFFF"/>
                          </a:solidFill>
                          <a:latin typeface="Segoe UI" panose="020B0502040204020203"/>
                        </a:defRPr>
                      </a:pPr>
                      <a:r>
                        <a:t>Terraform IaC (Our Solution)</a:t>
                      </a:r>
                    </a:p>
                  </a:txBody>
                  <a:tcPr>
                    <a:solidFill>
                      <a:srgbClr val="0077B6"/>
                    </a:solidFill>
                  </a:tcPr>
                </a:tc>
              </a:tr>
              <a:tr h="415636">
                <a:tc>
                  <a:txBody>
                    <a:bodyPr/>
                    <a:lstStyle/>
                    <a:p>
                      <a:pPr>
                        <a:defRPr sz="1300" b="1">
                          <a:solidFill>
                            <a:srgbClr val="E0E1DD"/>
                          </a:solidFill>
                          <a:latin typeface="Segoe UI" panose="020B0502040204020203"/>
                        </a:defRPr>
                      </a:pPr>
                      <a:r>
                        <a:t>Provisioning Speed</a:t>
                      </a:r>
                    </a:p>
                  </a:txBody>
                  <a:tcPr>
                    <a:solidFill>
                      <a:srgbClr val="141E33"/>
                    </a:solidFill>
                  </a:tcPr>
                </a:tc>
                <a:tc>
                  <a:txBody>
                    <a:bodyPr/>
                    <a:lstStyle/>
                    <a:p>
                      <a:pPr>
                        <a:defRPr sz="1300">
                          <a:solidFill>
                            <a:srgbClr val="EF476F"/>
                          </a:solidFill>
                          <a:latin typeface="Segoe UI" panose="020B0502040204020203"/>
                        </a:defRPr>
                      </a:pPr>
                      <a:r>
                        <a:t>30–45 minutes</a:t>
                      </a:r>
                    </a:p>
                  </a:txBody>
                  <a:tcPr>
                    <a:solidFill>
                      <a:srgbClr val="200E15"/>
                    </a:solidFill>
                  </a:tcPr>
                </a:tc>
                <a:tc>
                  <a:txBody>
                    <a:bodyPr/>
                    <a:lstStyle/>
                    <a:p>
                      <a:pPr>
                        <a:defRPr sz="1300" b="1">
                          <a:solidFill>
                            <a:srgbClr val="06D6A0"/>
                          </a:solidFill>
                          <a:latin typeface="Segoe UI" panose="020B0502040204020203"/>
                        </a:defRPr>
                      </a:pPr>
                      <a:r>
                        <a:t>&lt; 2 minutes</a:t>
                      </a:r>
                    </a:p>
                  </a:txBody>
                  <a:tcPr>
                    <a:solidFill>
                      <a:srgbClr val="0E201A"/>
                    </a:solidFill>
                  </a:tcPr>
                </a:tc>
              </a:tr>
              <a:tr h="415636">
                <a:tc>
                  <a:txBody>
                    <a:bodyPr/>
                    <a:lstStyle/>
                    <a:p>
                      <a:pPr>
                        <a:defRPr sz="1300" b="1">
                          <a:solidFill>
                            <a:srgbClr val="E0E1DD"/>
                          </a:solidFill>
                          <a:latin typeface="Segoe UI" panose="020B0502040204020203"/>
                        </a:defRPr>
                      </a:pPr>
                      <a:r>
                        <a:t>Consistency</a:t>
                      </a:r>
                    </a:p>
                  </a:txBody>
                  <a:tcPr>
                    <a:solidFill>
                      <a:srgbClr val="1C2541"/>
                    </a:solidFill>
                  </a:tcPr>
                </a:tc>
                <a:tc>
                  <a:txBody>
                    <a:bodyPr/>
                    <a:lstStyle/>
                    <a:p>
                      <a:pPr>
                        <a:defRPr sz="1300">
                          <a:solidFill>
                            <a:srgbClr val="EF476F"/>
                          </a:solidFill>
                          <a:latin typeface="Segoe UI" panose="020B0502040204020203"/>
                        </a:defRPr>
                      </a:pPr>
                      <a:r>
                        <a:t>Human error prone</a:t>
                      </a:r>
                    </a:p>
                  </a:txBody>
                  <a:tcPr>
                    <a:solidFill>
                      <a:srgbClr val="1A0A10"/>
                    </a:solidFill>
                  </a:tcPr>
                </a:tc>
                <a:tc>
                  <a:txBody>
                    <a:bodyPr/>
                    <a:lstStyle/>
                    <a:p>
                      <a:pPr>
                        <a:defRPr sz="1300" b="1">
                          <a:solidFill>
                            <a:srgbClr val="06D6A0"/>
                          </a:solidFill>
                          <a:latin typeface="Segoe UI" panose="020B0502040204020203"/>
                        </a:defRPr>
                      </a:pPr>
                      <a:r>
                        <a:t>100% deterministic</a:t>
                      </a:r>
                    </a:p>
                  </a:txBody>
                  <a:tcPr>
                    <a:solidFill>
                      <a:srgbClr val="0A1A15"/>
                    </a:solidFill>
                  </a:tcPr>
                </a:tc>
              </a:tr>
              <a:tr h="415636">
                <a:tc>
                  <a:txBody>
                    <a:bodyPr/>
                    <a:lstStyle/>
                    <a:p>
                      <a:pPr>
                        <a:defRPr sz="1300" b="1">
                          <a:solidFill>
                            <a:srgbClr val="E0E1DD"/>
                          </a:solidFill>
                          <a:latin typeface="Segoe UI" panose="020B0502040204020203"/>
                        </a:defRPr>
                      </a:pPr>
                      <a:r>
                        <a:t>Drift Detection</a:t>
                      </a:r>
                    </a:p>
                  </a:txBody>
                  <a:tcPr>
                    <a:solidFill>
                      <a:srgbClr val="141E33"/>
                    </a:solidFill>
                  </a:tcPr>
                </a:tc>
                <a:tc>
                  <a:txBody>
                    <a:bodyPr/>
                    <a:lstStyle/>
                    <a:p>
                      <a:pPr>
                        <a:defRPr sz="1300">
                          <a:solidFill>
                            <a:srgbClr val="EF476F"/>
                          </a:solidFill>
                          <a:latin typeface="Segoe UI" panose="020B0502040204020203"/>
                        </a:defRPr>
                      </a:pPr>
                      <a:r>
                        <a:t>Not possible</a:t>
                      </a:r>
                    </a:p>
                  </a:txBody>
                  <a:tcPr>
                    <a:solidFill>
                      <a:srgbClr val="200E15"/>
                    </a:solidFill>
                  </a:tcPr>
                </a:tc>
                <a:tc>
                  <a:txBody>
                    <a:bodyPr/>
                    <a:lstStyle/>
                    <a:p>
                      <a:pPr>
                        <a:defRPr sz="1300" b="1">
                          <a:solidFill>
                            <a:srgbClr val="06D6A0"/>
                          </a:solidFill>
                          <a:latin typeface="Segoe UI" panose="020B0502040204020203"/>
                        </a:defRPr>
                      </a:pPr>
                      <a:r>
                        <a:t>Automated (terraform plan)</a:t>
                      </a:r>
                    </a:p>
                  </a:txBody>
                  <a:tcPr>
                    <a:solidFill>
                      <a:srgbClr val="0E201A"/>
                    </a:solidFill>
                  </a:tcPr>
                </a:tc>
              </a:tr>
              <a:tr h="415636">
                <a:tc>
                  <a:txBody>
                    <a:bodyPr/>
                    <a:lstStyle/>
                    <a:p>
                      <a:pPr>
                        <a:defRPr sz="1300" b="1">
                          <a:solidFill>
                            <a:srgbClr val="E0E1DD"/>
                          </a:solidFill>
                          <a:latin typeface="Segoe UI" panose="020B0502040204020203"/>
                        </a:defRPr>
                      </a:pPr>
                      <a:r>
                        <a:t>Version Control</a:t>
                      </a:r>
                    </a:p>
                  </a:txBody>
                  <a:tcPr>
                    <a:solidFill>
                      <a:srgbClr val="1C2541"/>
                    </a:solidFill>
                  </a:tcPr>
                </a:tc>
                <a:tc>
                  <a:txBody>
                    <a:bodyPr/>
                    <a:lstStyle/>
                    <a:p>
                      <a:pPr>
                        <a:defRPr sz="1300">
                          <a:solidFill>
                            <a:srgbClr val="EF476F"/>
                          </a:solidFill>
                          <a:latin typeface="Segoe UI" panose="020B0502040204020203"/>
                        </a:defRPr>
                      </a:pPr>
                      <a:r>
                        <a:t>None</a:t>
                      </a:r>
                    </a:p>
                  </a:txBody>
                  <a:tcPr>
                    <a:solidFill>
                      <a:srgbClr val="1A0A10"/>
                    </a:solidFill>
                  </a:tcPr>
                </a:tc>
                <a:tc>
                  <a:txBody>
                    <a:bodyPr/>
                    <a:lstStyle/>
                    <a:p>
                      <a:pPr>
                        <a:defRPr sz="1300" b="1">
                          <a:solidFill>
                            <a:srgbClr val="06D6A0"/>
                          </a:solidFill>
                          <a:latin typeface="Segoe UI" panose="020B0502040204020203"/>
                        </a:defRPr>
                      </a:pPr>
                      <a:r>
                        <a:t>Full Git commit history</a:t>
                      </a:r>
                    </a:p>
                  </a:txBody>
                  <a:tcPr>
                    <a:solidFill>
                      <a:srgbClr val="0A1A15"/>
                    </a:solidFill>
                  </a:tcPr>
                </a:tc>
              </a:tr>
              <a:tr h="415636">
                <a:tc>
                  <a:txBody>
                    <a:bodyPr/>
                    <a:lstStyle/>
                    <a:p>
                      <a:pPr>
                        <a:defRPr sz="1300" b="1">
                          <a:solidFill>
                            <a:srgbClr val="E0E1DD"/>
                          </a:solidFill>
                          <a:latin typeface="Segoe UI" panose="020B0502040204020203"/>
                        </a:defRPr>
                      </a:pPr>
                      <a:r>
                        <a:t>Peer Review</a:t>
                      </a:r>
                    </a:p>
                  </a:txBody>
                  <a:tcPr>
                    <a:solidFill>
                      <a:srgbClr val="141E33"/>
                    </a:solidFill>
                  </a:tcPr>
                </a:tc>
                <a:tc>
                  <a:txBody>
                    <a:bodyPr/>
                    <a:lstStyle/>
                    <a:p>
                      <a:pPr>
                        <a:defRPr sz="1300">
                          <a:solidFill>
                            <a:srgbClr val="EF476F"/>
                          </a:solidFill>
                          <a:latin typeface="Segoe UI" panose="020B0502040204020203"/>
                        </a:defRPr>
                      </a:pPr>
                      <a:r>
                        <a:t>None</a:t>
                      </a:r>
                    </a:p>
                  </a:txBody>
                  <a:tcPr>
                    <a:solidFill>
                      <a:srgbClr val="200E15"/>
                    </a:solidFill>
                  </a:tcPr>
                </a:tc>
                <a:tc>
                  <a:txBody>
                    <a:bodyPr/>
                    <a:lstStyle/>
                    <a:p>
                      <a:pPr>
                        <a:defRPr sz="1300" b="1">
                          <a:solidFill>
                            <a:srgbClr val="06D6A0"/>
                          </a:solidFill>
                          <a:latin typeface="Segoe UI" panose="020B0502040204020203"/>
                        </a:defRPr>
                      </a:pPr>
                      <a:r>
                        <a:t>Pull request workflows</a:t>
                      </a:r>
                    </a:p>
                  </a:txBody>
                  <a:tcPr>
                    <a:solidFill>
                      <a:srgbClr val="0E201A"/>
                    </a:solidFill>
                  </a:tcPr>
                </a:tc>
              </a:tr>
              <a:tr h="415636">
                <a:tc>
                  <a:txBody>
                    <a:bodyPr/>
                    <a:lstStyle/>
                    <a:p>
                      <a:pPr>
                        <a:defRPr sz="1300" b="1">
                          <a:solidFill>
                            <a:srgbClr val="E0E1DD"/>
                          </a:solidFill>
                          <a:latin typeface="Segoe UI" panose="020B0502040204020203"/>
                        </a:defRPr>
                      </a:pPr>
                      <a:r>
                        <a:t>Modularity</a:t>
                      </a:r>
                    </a:p>
                  </a:txBody>
                  <a:tcPr>
                    <a:solidFill>
                      <a:srgbClr val="1C2541"/>
                    </a:solidFill>
                  </a:tcPr>
                </a:tc>
                <a:tc>
                  <a:txBody>
                    <a:bodyPr/>
                    <a:lstStyle/>
                    <a:p>
                      <a:pPr>
                        <a:defRPr sz="1300">
                          <a:solidFill>
                            <a:srgbClr val="EF476F"/>
                          </a:solidFill>
                          <a:latin typeface="Segoe UI" panose="020B0502040204020203"/>
                        </a:defRPr>
                      </a:pPr>
                      <a:r>
                        <a:t>None</a:t>
                      </a:r>
                    </a:p>
                  </a:txBody>
                  <a:tcPr>
                    <a:solidFill>
                      <a:srgbClr val="1A0A10"/>
                    </a:solidFill>
                  </a:tcPr>
                </a:tc>
                <a:tc>
                  <a:txBody>
                    <a:bodyPr/>
                    <a:lstStyle/>
                    <a:p>
                      <a:pPr>
                        <a:defRPr sz="1300" b="1">
                          <a:solidFill>
                            <a:srgbClr val="06D6A0"/>
                          </a:solidFill>
                          <a:latin typeface="Segoe UI" panose="020B0502040204020203"/>
                        </a:defRPr>
                      </a:pPr>
                      <a:r>
                        <a:t>Reusable across environments</a:t>
                      </a:r>
                    </a:p>
                  </a:txBody>
                  <a:tcPr>
                    <a:solidFill>
                      <a:srgbClr val="0A1A15"/>
                    </a:solidFill>
                  </a:tcPr>
                </a:tc>
              </a:tr>
              <a:tr h="415636">
                <a:tc>
                  <a:txBody>
                    <a:bodyPr/>
                    <a:lstStyle/>
                    <a:p>
                      <a:pPr>
                        <a:defRPr sz="1300" b="1">
                          <a:solidFill>
                            <a:srgbClr val="E0E1DD"/>
                          </a:solidFill>
                          <a:latin typeface="Segoe UI" panose="020B0502040204020203"/>
                        </a:defRPr>
                      </a:pPr>
                      <a:r>
                        <a:t>Teardown Safety</a:t>
                      </a:r>
                    </a:p>
                  </a:txBody>
                  <a:tcPr>
                    <a:solidFill>
                      <a:srgbClr val="141E33"/>
                    </a:solidFill>
                  </a:tcPr>
                </a:tc>
                <a:tc>
                  <a:txBody>
                    <a:bodyPr/>
                    <a:lstStyle/>
                    <a:p>
                      <a:pPr>
                        <a:defRPr sz="1300">
                          <a:solidFill>
                            <a:srgbClr val="EF476F"/>
                          </a:solidFill>
                          <a:latin typeface="Segoe UI" panose="020B0502040204020203"/>
                        </a:defRPr>
                      </a:pPr>
                      <a:r>
                        <a:t>Risk of orphaned resources</a:t>
                      </a:r>
                    </a:p>
                  </a:txBody>
                  <a:tcPr>
                    <a:solidFill>
                      <a:srgbClr val="200E15"/>
                    </a:solidFill>
                  </a:tcPr>
                </a:tc>
                <a:tc>
                  <a:txBody>
                    <a:bodyPr/>
                    <a:lstStyle/>
                    <a:p>
                      <a:pPr>
                        <a:defRPr sz="1300" b="1">
                          <a:solidFill>
                            <a:srgbClr val="06D6A0"/>
                          </a:solidFill>
                          <a:latin typeface="Segoe UI" panose="020B0502040204020203"/>
                        </a:defRPr>
                      </a:pPr>
                      <a:r>
                        <a:t>Single terraform destroy</a:t>
                      </a:r>
                    </a:p>
                  </a:txBody>
                  <a:tcPr>
                    <a:solidFill>
                      <a:srgbClr val="0E201A"/>
                    </a:solidFill>
                  </a:tcPr>
                </a:tc>
              </a:tr>
              <a:tr h="415636">
                <a:tc>
                  <a:txBody>
                    <a:bodyPr/>
                    <a:lstStyle/>
                    <a:p>
                      <a:pPr>
                        <a:defRPr sz="1300" b="1">
                          <a:solidFill>
                            <a:srgbClr val="E0E1DD"/>
                          </a:solidFill>
                          <a:latin typeface="Segoe UI" panose="020B0502040204020203"/>
                        </a:defRPr>
                      </a:pPr>
                      <a:r>
                        <a:t>Documentation</a:t>
                      </a:r>
                    </a:p>
                  </a:txBody>
                  <a:tcPr>
                    <a:solidFill>
                      <a:srgbClr val="1C2541"/>
                    </a:solidFill>
                  </a:tcPr>
                </a:tc>
                <a:tc>
                  <a:txBody>
                    <a:bodyPr/>
                    <a:lstStyle/>
                    <a:p>
                      <a:pPr>
                        <a:defRPr sz="1300">
                          <a:solidFill>
                            <a:srgbClr val="EF476F"/>
                          </a:solidFill>
                          <a:latin typeface="Segoe UI" panose="020B0502040204020203"/>
                        </a:defRPr>
                      </a:pPr>
                      <a:r>
                        <a:t>Separate wikis</a:t>
                      </a:r>
                    </a:p>
                  </a:txBody>
                  <a:tcPr>
                    <a:solidFill>
                      <a:srgbClr val="1A0A10"/>
                    </a:solidFill>
                  </a:tcPr>
                </a:tc>
                <a:tc>
                  <a:txBody>
                    <a:bodyPr/>
                    <a:lstStyle/>
                    <a:p>
                      <a:pPr>
                        <a:defRPr sz="1300" b="1">
                          <a:solidFill>
                            <a:srgbClr val="06D6A0"/>
                          </a:solidFill>
                          <a:latin typeface="Segoe UI" panose="020B0502040204020203"/>
                        </a:defRPr>
                      </a:pPr>
                      <a:r>
                        <a:t>Code IS documentation</a:t>
                      </a:r>
                    </a:p>
                  </a:txBody>
                  <a:tcPr>
                    <a:solidFill>
                      <a:srgbClr val="0A1A15"/>
                    </a:solidFill>
                  </a:tcPr>
                </a:tc>
              </a:tr>
              <a:tr h="415636">
                <a:tc>
                  <a:txBody>
                    <a:bodyPr/>
                    <a:lstStyle/>
                    <a:p>
                      <a:pPr>
                        <a:defRPr sz="1300" b="1">
                          <a:solidFill>
                            <a:srgbClr val="E0E1DD"/>
                          </a:solidFill>
                          <a:latin typeface="Segoe UI" panose="020B0502040204020203"/>
                        </a:defRPr>
                      </a:pPr>
                      <a:r>
                        <a:t>Cost Visibility</a:t>
                      </a:r>
                    </a:p>
                  </a:txBody>
                  <a:tcPr>
                    <a:solidFill>
                      <a:srgbClr val="141E33"/>
                    </a:solidFill>
                  </a:tcPr>
                </a:tc>
                <a:tc>
                  <a:txBody>
                    <a:bodyPr/>
                    <a:lstStyle/>
                    <a:p>
                      <a:pPr>
                        <a:defRPr sz="1300">
                          <a:solidFill>
                            <a:srgbClr val="EF476F"/>
                          </a:solidFill>
                          <a:latin typeface="Segoe UI" panose="020B0502040204020203"/>
                        </a:defRPr>
                      </a:pPr>
                      <a:r>
                        <a:t>After the fact</a:t>
                      </a:r>
                    </a:p>
                  </a:txBody>
                  <a:tcPr>
                    <a:solidFill>
                      <a:srgbClr val="200E15"/>
                    </a:solidFill>
                  </a:tcPr>
                </a:tc>
                <a:tc>
                  <a:txBody>
                    <a:bodyPr/>
                    <a:lstStyle/>
                    <a:p>
                      <a:pPr>
                        <a:defRPr sz="1300" b="1">
                          <a:solidFill>
                            <a:srgbClr val="06D6A0"/>
                          </a:solidFill>
                          <a:latin typeface="Segoe UI" panose="020B0502040204020203"/>
                        </a:defRPr>
                      </a:pPr>
                      <a:r>
                        <a:t>Before apply via plan</a:t>
                      </a:r>
                    </a:p>
                  </a:txBody>
                  <a:tcPr>
                    <a:solidFill>
                      <a:srgbClr val="0E201A"/>
                    </a:solidFill>
                  </a:tcPr>
                </a:tc>
              </a:tr>
              <a:tr h="415640">
                <a:tc>
                  <a:txBody>
                    <a:bodyPr/>
                    <a:lstStyle/>
                    <a:p>
                      <a:pPr>
                        <a:defRPr sz="1300" b="1">
                          <a:solidFill>
                            <a:srgbClr val="E0E1DD"/>
                          </a:solidFill>
                          <a:latin typeface="Segoe UI" panose="020B0502040204020203"/>
                        </a:defRPr>
                      </a:pPr>
                      <a:r>
                        <a:t>Rollback</a:t>
                      </a:r>
                    </a:p>
                  </a:txBody>
                  <a:tcPr>
                    <a:solidFill>
                      <a:srgbClr val="1C2541"/>
                    </a:solidFill>
                  </a:tcPr>
                </a:tc>
                <a:tc>
                  <a:txBody>
                    <a:bodyPr/>
                    <a:lstStyle/>
                    <a:p>
                      <a:pPr>
                        <a:defRPr sz="1300">
                          <a:solidFill>
                            <a:srgbClr val="EF476F"/>
                          </a:solidFill>
                          <a:latin typeface="Segoe UI" panose="020B0502040204020203"/>
                        </a:defRPr>
                      </a:pPr>
                      <a:r>
                        <a:t>Manual recreation</a:t>
                      </a:r>
                    </a:p>
                  </a:txBody>
                  <a:tcPr>
                    <a:solidFill>
                      <a:srgbClr val="1A0A10"/>
                    </a:solidFill>
                  </a:tcPr>
                </a:tc>
                <a:tc>
                  <a:txBody>
                    <a:bodyPr/>
                    <a:lstStyle/>
                    <a:p>
                      <a:pPr>
                        <a:defRPr sz="1300" b="1">
                          <a:solidFill>
                            <a:srgbClr val="06D6A0"/>
                          </a:solidFill>
                          <a:latin typeface="Segoe UI" panose="020B0502040204020203"/>
                        </a:defRPr>
                      </a:pPr>
                      <a:r>
                        <a:t>git revert + terraform apply</a:t>
                      </a:r>
                    </a:p>
                  </a:txBody>
                  <a:tcPr>
                    <a:solidFill>
                      <a:srgbClr val="0A1A15"/>
                    </a:solidFill>
                  </a:tcPr>
                </a:tc>
              </a:tr>
            </a:tbl>
          </a:graphicData>
        </a:graphic>
      </p:graphicFrame>
      <p:sp>
        <p:nvSpPr>
          <p:cNvPr id="5" name="TextBox 4"/>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13/15</a:t>
            </a:r>
          </a:p>
        </p:txBody>
      </p:sp>
      <p:sp>
        <p:nvSpPr>
          <p:cNvPr id="6" name="TextBox 5"/>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TextBox 1"/>
          <p:cNvSpPr txBox="1"/>
          <p:nvPr/>
        </p:nvSpPr>
        <p:spPr>
          <a:xfrm>
            <a:off x="731520" y="457200"/>
            <a:ext cx="7315200" cy="640080"/>
          </a:xfrm>
          <a:prstGeom prst="rect">
            <a:avLst/>
          </a:prstGeom>
          <a:noFill/>
        </p:spPr>
        <p:txBody>
          <a:bodyPr wrap="square">
            <a:spAutoFit/>
          </a:bodyPr>
          <a:lstStyle/>
          <a:p>
            <a:pPr algn="l">
              <a:defRPr sz="3200" b="1">
                <a:solidFill>
                  <a:srgbClr val="FFFFFF"/>
                </a:solidFill>
                <a:latin typeface="Segoe UI" panose="020B0502040204020203"/>
              </a:defRPr>
            </a:pPr>
            <a:r>
              <a:t>LIMITATIONS &amp; FUTURE SCOPE</a:t>
            </a:r>
          </a:p>
        </p:txBody>
      </p:sp>
      <p:sp>
        <p:nvSpPr>
          <p:cNvPr id="3" name="Rectangle 2"/>
          <p:cNvSpPr/>
          <p:nvPr/>
        </p:nvSpPr>
        <p:spPr>
          <a:xfrm>
            <a:off x="731520" y="1097280"/>
            <a:ext cx="22860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457200"/>
          </a:xfrm>
          <a:prstGeom prst="rect">
            <a:avLst/>
          </a:prstGeom>
          <a:noFill/>
        </p:spPr>
        <p:txBody>
          <a:bodyPr wrap="square">
            <a:spAutoFit/>
          </a:bodyPr>
          <a:lstStyle/>
          <a:p>
            <a:pPr algn="l">
              <a:defRPr sz="2000" b="1">
                <a:solidFill>
                  <a:srgbClr val="EF476F"/>
                </a:solidFill>
                <a:latin typeface="Segoe UI" panose="020B0502040204020203"/>
              </a:defRPr>
            </a:pPr>
            <a:r>
              <a:t>Current Limitations</a:t>
            </a:r>
          </a:p>
        </p:txBody>
      </p:sp>
      <p:sp>
        <p:nvSpPr>
          <p:cNvPr id="5" name="TextBox 4"/>
          <p:cNvSpPr txBox="1"/>
          <p:nvPr/>
        </p:nvSpPr>
        <p:spPr>
          <a:xfrm>
            <a:off x="914400" y="1920240"/>
            <a:ext cx="365760" cy="274320"/>
          </a:xfrm>
          <a:prstGeom prst="rect">
            <a:avLst/>
          </a:prstGeom>
          <a:noFill/>
        </p:spPr>
        <p:txBody>
          <a:bodyPr wrap="square">
            <a:spAutoFit/>
          </a:bodyPr>
          <a:lstStyle/>
          <a:p>
            <a:pPr algn="l">
              <a:defRPr sz="1300" b="0">
                <a:solidFill>
                  <a:srgbClr val="FFBE0B"/>
                </a:solidFill>
                <a:latin typeface="Segoe UI" panose="020B0502040204020203"/>
              </a:defRPr>
            </a:pPr>
            <a:r>
              <a:t>⚠️</a:t>
            </a:r>
          </a:p>
        </p:txBody>
      </p:sp>
      <p:sp>
        <p:nvSpPr>
          <p:cNvPr id="6" name="TextBox 5"/>
          <p:cNvSpPr txBox="1"/>
          <p:nvPr/>
        </p:nvSpPr>
        <p:spPr>
          <a:xfrm>
            <a:off x="1371600" y="192024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Local state file (no multi-engineer support)</a:t>
            </a:r>
          </a:p>
        </p:txBody>
      </p:sp>
      <p:sp>
        <p:nvSpPr>
          <p:cNvPr id="7" name="TextBox 6"/>
          <p:cNvSpPr txBox="1"/>
          <p:nvPr/>
        </p:nvSpPr>
        <p:spPr>
          <a:xfrm>
            <a:off x="914400" y="2423160"/>
            <a:ext cx="365760" cy="274320"/>
          </a:xfrm>
          <a:prstGeom prst="rect">
            <a:avLst/>
          </a:prstGeom>
          <a:noFill/>
        </p:spPr>
        <p:txBody>
          <a:bodyPr wrap="square">
            <a:spAutoFit/>
          </a:bodyPr>
          <a:lstStyle/>
          <a:p>
            <a:pPr algn="l">
              <a:defRPr sz="1300" b="0">
                <a:solidFill>
                  <a:srgbClr val="FFBE0B"/>
                </a:solidFill>
                <a:latin typeface="Segoe UI" panose="020B0502040204020203"/>
              </a:defRPr>
            </a:pPr>
            <a:r>
              <a:t>⚠️</a:t>
            </a:r>
          </a:p>
        </p:txBody>
      </p:sp>
      <p:sp>
        <p:nvSpPr>
          <p:cNvPr id="8" name="TextBox 7"/>
          <p:cNvSpPr txBox="1"/>
          <p:nvPr/>
        </p:nvSpPr>
        <p:spPr>
          <a:xfrm>
            <a:off x="1371600" y="242316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No NAT Gateway (Free Tier cost constraint — $30/mo)</a:t>
            </a:r>
          </a:p>
        </p:txBody>
      </p:sp>
      <p:sp>
        <p:nvSpPr>
          <p:cNvPr id="9" name="TextBox 8"/>
          <p:cNvSpPr txBox="1"/>
          <p:nvPr/>
        </p:nvSpPr>
        <p:spPr>
          <a:xfrm>
            <a:off x="914400" y="2926080"/>
            <a:ext cx="365760" cy="274320"/>
          </a:xfrm>
          <a:prstGeom prst="rect">
            <a:avLst/>
          </a:prstGeom>
          <a:noFill/>
        </p:spPr>
        <p:txBody>
          <a:bodyPr wrap="square">
            <a:spAutoFit/>
          </a:bodyPr>
          <a:lstStyle/>
          <a:p>
            <a:pPr algn="l">
              <a:defRPr sz="1300" b="0">
                <a:solidFill>
                  <a:srgbClr val="FFBE0B"/>
                </a:solidFill>
                <a:latin typeface="Segoe UI" panose="020B0502040204020203"/>
              </a:defRPr>
            </a:pPr>
            <a:r>
              <a:t>⚠️</a:t>
            </a:r>
          </a:p>
        </p:txBody>
      </p:sp>
      <p:sp>
        <p:nvSpPr>
          <p:cNvPr id="10" name="TextBox 9"/>
          <p:cNvSpPr txBox="1"/>
          <p:nvPr/>
        </p:nvSpPr>
        <p:spPr>
          <a:xfrm>
            <a:off x="1371600" y="292608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Single Availability Zone (no high availability)</a:t>
            </a:r>
          </a:p>
        </p:txBody>
      </p:sp>
      <p:sp>
        <p:nvSpPr>
          <p:cNvPr id="11" name="TextBox 10"/>
          <p:cNvSpPr txBox="1"/>
          <p:nvPr/>
        </p:nvSpPr>
        <p:spPr>
          <a:xfrm>
            <a:off x="914400" y="3429000"/>
            <a:ext cx="365760" cy="274320"/>
          </a:xfrm>
          <a:prstGeom prst="rect">
            <a:avLst/>
          </a:prstGeom>
          <a:noFill/>
        </p:spPr>
        <p:txBody>
          <a:bodyPr wrap="square">
            <a:spAutoFit/>
          </a:bodyPr>
          <a:lstStyle/>
          <a:p>
            <a:pPr algn="l">
              <a:defRPr sz="1300" b="0">
                <a:solidFill>
                  <a:srgbClr val="FFBE0B"/>
                </a:solidFill>
                <a:latin typeface="Segoe UI" panose="020B0502040204020203"/>
              </a:defRPr>
            </a:pPr>
            <a:r>
              <a:t>⚠️</a:t>
            </a:r>
          </a:p>
        </p:txBody>
      </p:sp>
      <p:sp>
        <p:nvSpPr>
          <p:cNvPr id="12" name="TextBox 11"/>
          <p:cNvSpPr txBox="1"/>
          <p:nvPr/>
        </p:nvSpPr>
        <p:spPr>
          <a:xfrm>
            <a:off x="1371600" y="342900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HTTP only (no TLS/SSL certificate)</a:t>
            </a:r>
          </a:p>
        </p:txBody>
      </p:sp>
      <p:sp>
        <p:nvSpPr>
          <p:cNvPr id="13" name="TextBox 12"/>
          <p:cNvSpPr txBox="1"/>
          <p:nvPr/>
        </p:nvSpPr>
        <p:spPr>
          <a:xfrm>
            <a:off x="914400" y="3931920"/>
            <a:ext cx="365760" cy="274320"/>
          </a:xfrm>
          <a:prstGeom prst="rect">
            <a:avLst/>
          </a:prstGeom>
          <a:noFill/>
        </p:spPr>
        <p:txBody>
          <a:bodyPr wrap="square">
            <a:spAutoFit/>
          </a:bodyPr>
          <a:lstStyle/>
          <a:p>
            <a:pPr algn="l">
              <a:defRPr sz="1300" b="0">
                <a:solidFill>
                  <a:srgbClr val="FFBE0B"/>
                </a:solidFill>
                <a:latin typeface="Segoe UI" panose="020B0502040204020203"/>
              </a:defRPr>
            </a:pPr>
            <a:r>
              <a:t>⚠️</a:t>
            </a:r>
          </a:p>
        </p:txBody>
      </p:sp>
      <p:sp>
        <p:nvSpPr>
          <p:cNvPr id="14" name="TextBox 13"/>
          <p:cNvSpPr txBox="1"/>
          <p:nvPr/>
        </p:nvSpPr>
        <p:spPr>
          <a:xfrm>
            <a:off x="1371600" y="393192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SSH open to 0.0.0.0/0 (dev environment only)</a:t>
            </a:r>
          </a:p>
        </p:txBody>
      </p:sp>
      <p:sp>
        <p:nvSpPr>
          <p:cNvPr id="15" name="TextBox 14"/>
          <p:cNvSpPr txBox="1"/>
          <p:nvPr/>
        </p:nvSpPr>
        <p:spPr>
          <a:xfrm>
            <a:off x="914400" y="4434840"/>
            <a:ext cx="365760" cy="274320"/>
          </a:xfrm>
          <a:prstGeom prst="rect">
            <a:avLst/>
          </a:prstGeom>
          <a:noFill/>
        </p:spPr>
        <p:txBody>
          <a:bodyPr wrap="square">
            <a:spAutoFit/>
          </a:bodyPr>
          <a:lstStyle/>
          <a:p>
            <a:pPr algn="l">
              <a:defRPr sz="1300" b="0">
                <a:solidFill>
                  <a:srgbClr val="FFBE0B"/>
                </a:solidFill>
                <a:latin typeface="Segoe UI" panose="020B0502040204020203"/>
              </a:defRPr>
            </a:pPr>
            <a:r>
              <a:t>⚠️</a:t>
            </a:r>
          </a:p>
        </p:txBody>
      </p:sp>
      <p:sp>
        <p:nvSpPr>
          <p:cNvPr id="16" name="TextBox 15"/>
          <p:cNvSpPr txBox="1"/>
          <p:nvPr/>
        </p:nvSpPr>
        <p:spPr>
          <a:xfrm>
            <a:off x="1371600" y="4434840"/>
            <a:ext cx="4389120" cy="320040"/>
          </a:xfrm>
          <a:prstGeom prst="rect">
            <a:avLst/>
          </a:prstGeom>
          <a:noFill/>
        </p:spPr>
        <p:txBody>
          <a:bodyPr wrap="square">
            <a:spAutoFit/>
          </a:bodyPr>
          <a:lstStyle/>
          <a:p>
            <a:pPr algn="l">
              <a:defRPr sz="1300" b="0">
                <a:solidFill>
                  <a:srgbClr val="E0E1DD"/>
                </a:solidFill>
                <a:latin typeface="Segoe UI" panose="020B0502040204020203"/>
              </a:defRPr>
            </a:pPr>
            <a:r>
              <a:t>No auto-scaling or load balancing</a:t>
            </a:r>
          </a:p>
        </p:txBody>
      </p:sp>
      <p:sp>
        <p:nvSpPr>
          <p:cNvPr id="17" name="TextBox 16"/>
          <p:cNvSpPr txBox="1"/>
          <p:nvPr/>
        </p:nvSpPr>
        <p:spPr>
          <a:xfrm>
            <a:off x="6400800" y="1371600"/>
            <a:ext cx="5029200" cy="457200"/>
          </a:xfrm>
          <a:prstGeom prst="rect">
            <a:avLst/>
          </a:prstGeom>
          <a:noFill/>
        </p:spPr>
        <p:txBody>
          <a:bodyPr wrap="square">
            <a:spAutoFit/>
          </a:bodyPr>
          <a:lstStyle/>
          <a:p>
            <a:pPr algn="l">
              <a:defRPr sz="2000" b="1">
                <a:solidFill>
                  <a:srgbClr val="06D6A0"/>
                </a:solidFill>
                <a:latin typeface="Segoe UI" panose="020B0502040204020203"/>
              </a:defRPr>
            </a:pPr>
            <a:r>
              <a:t>Production Roadmap</a:t>
            </a:r>
          </a:p>
        </p:txBody>
      </p:sp>
      <p:sp>
        <p:nvSpPr>
          <p:cNvPr id="18" name="Rounded Rectangle 17"/>
          <p:cNvSpPr/>
          <p:nvPr/>
        </p:nvSpPr>
        <p:spPr>
          <a:xfrm>
            <a:off x="6400800" y="1920240"/>
            <a:ext cx="914400" cy="274320"/>
          </a:xfrm>
          <a:prstGeom prst="roundRect">
            <a:avLst>
              <a:gd name="adj" fmla="val 5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920240"/>
            <a:ext cx="914400" cy="274320"/>
          </a:xfrm>
          <a:prstGeom prst="rect">
            <a:avLst/>
          </a:prstGeom>
          <a:noFill/>
        </p:spPr>
        <p:txBody>
          <a:bodyPr wrap="square">
            <a:spAutoFit/>
          </a:bodyPr>
          <a:lstStyle/>
          <a:p>
            <a:pPr algn="ctr">
              <a:defRPr sz="900" b="1">
                <a:solidFill>
                  <a:srgbClr val="FFFFFF"/>
                </a:solidFill>
                <a:latin typeface="Segoe UI" panose="020B0502040204020203"/>
              </a:defRPr>
            </a:pPr>
            <a:r>
              <a:t>SHORT</a:t>
            </a:r>
          </a:p>
        </p:txBody>
      </p:sp>
      <p:sp>
        <p:nvSpPr>
          <p:cNvPr id="20" name="TextBox 19"/>
          <p:cNvSpPr txBox="1"/>
          <p:nvPr/>
        </p:nvSpPr>
        <p:spPr>
          <a:xfrm>
            <a:off x="7498079" y="1920240"/>
            <a:ext cx="3840480" cy="274320"/>
          </a:xfrm>
          <a:prstGeom prst="rect">
            <a:avLst/>
          </a:prstGeom>
          <a:noFill/>
        </p:spPr>
        <p:txBody>
          <a:bodyPr wrap="square">
            <a:spAutoFit/>
          </a:bodyPr>
          <a:lstStyle/>
          <a:p>
            <a:pPr algn="l">
              <a:defRPr sz="1400" b="1">
                <a:solidFill>
                  <a:srgbClr val="FFFFFF"/>
                </a:solidFill>
                <a:latin typeface="Segoe UI" panose="020B0502040204020203"/>
              </a:defRPr>
            </a:pPr>
            <a:r>
              <a:t>Remote State Backend</a:t>
            </a:r>
          </a:p>
        </p:txBody>
      </p:sp>
      <p:sp>
        <p:nvSpPr>
          <p:cNvPr id="21" name="TextBox 20"/>
          <p:cNvSpPr txBox="1"/>
          <p:nvPr/>
        </p:nvSpPr>
        <p:spPr>
          <a:xfrm>
            <a:off x="7498079" y="2194560"/>
            <a:ext cx="3840480" cy="274320"/>
          </a:xfrm>
          <a:prstGeom prst="rect">
            <a:avLst/>
          </a:prstGeom>
          <a:noFill/>
        </p:spPr>
        <p:txBody>
          <a:bodyPr wrap="square">
            <a:spAutoFit/>
          </a:bodyPr>
          <a:lstStyle/>
          <a:p>
            <a:pPr algn="l">
              <a:defRPr sz="1100" b="0">
                <a:solidFill>
                  <a:srgbClr val="8D99AE"/>
                </a:solidFill>
                <a:latin typeface="Segoe UI" panose="020B0502040204020203"/>
              </a:defRPr>
            </a:pPr>
            <a:r>
              <a:t>S3 + DynamoDB locking</a:t>
            </a:r>
          </a:p>
        </p:txBody>
      </p:sp>
      <p:sp>
        <p:nvSpPr>
          <p:cNvPr id="22" name="Rounded Rectangle 21"/>
          <p:cNvSpPr/>
          <p:nvPr/>
        </p:nvSpPr>
        <p:spPr>
          <a:xfrm>
            <a:off x="6400800" y="2560320"/>
            <a:ext cx="914400" cy="274320"/>
          </a:xfrm>
          <a:prstGeom prst="roundRect">
            <a:avLst>
              <a:gd name="adj" fmla="val 5000"/>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560320"/>
            <a:ext cx="914400" cy="274320"/>
          </a:xfrm>
          <a:prstGeom prst="rect">
            <a:avLst/>
          </a:prstGeom>
          <a:noFill/>
        </p:spPr>
        <p:txBody>
          <a:bodyPr wrap="square">
            <a:spAutoFit/>
          </a:bodyPr>
          <a:lstStyle/>
          <a:p>
            <a:pPr algn="ctr">
              <a:defRPr sz="900" b="1">
                <a:solidFill>
                  <a:srgbClr val="FFFFFF"/>
                </a:solidFill>
                <a:latin typeface="Segoe UI" panose="020B0502040204020203"/>
              </a:defRPr>
            </a:pPr>
            <a:r>
              <a:t>SHORT</a:t>
            </a:r>
          </a:p>
        </p:txBody>
      </p:sp>
      <p:sp>
        <p:nvSpPr>
          <p:cNvPr id="24" name="TextBox 23"/>
          <p:cNvSpPr txBox="1"/>
          <p:nvPr/>
        </p:nvSpPr>
        <p:spPr>
          <a:xfrm>
            <a:off x="7498079" y="2560320"/>
            <a:ext cx="3840480" cy="274320"/>
          </a:xfrm>
          <a:prstGeom prst="rect">
            <a:avLst/>
          </a:prstGeom>
          <a:noFill/>
        </p:spPr>
        <p:txBody>
          <a:bodyPr wrap="square">
            <a:spAutoFit/>
          </a:bodyPr>
          <a:lstStyle/>
          <a:p>
            <a:pPr algn="l">
              <a:defRPr sz="1400" b="1">
                <a:solidFill>
                  <a:srgbClr val="FFFFFF"/>
                </a:solidFill>
                <a:latin typeface="Segoe UI" panose="020B0502040204020203"/>
              </a:defRPr>
            </a:pPr>
            <a:r>
              <a:t>CI/CD Pipeline</a:t>
            </a:r>
          </a:p>
        </p:txBody>
      </p:sp>
      <p:sp>
        <p:nvSpPr>
          <p:cNvPr id="25" name="TextBox 24"/>
          <p:cNvSpPr txBox="1"/>
          <p:nvPr/>
        </p:nvSpPr>
        <p:spPr>
          <a:xfrm>
            <a:off x="7498079" y="2834640"/>
            <a:ext cx="3840480" cy="274320"/>
          </a:xfrm>
          <a:prstGeom prst="rect">
            <a:avLst/>
          </a:prstGeom>
          <a:noFill/>
        </p:spPr>
        <p:txBody>
          <a:bodyPr wrap="square">
            <a:spAutoFit/>
          </a:bodyPr>
          <a:lstStyle/>
          <a:p>
            <a:pPr algn="l">
              <a:defRPr sz="1100" b="0">
                <a:solidFill>
                  <a:srgbClr val="8D99AE"/>
                </a:solidFill>
                <a:latin typeface="Segoe UI" panose="020B0502040204020203"/>
              </a:defRPr>
            </a:pPr>
            <a:r>
              <a:t>GitHub Actions (plan on PR, apply on merge)</a:t>
            </a:r>
          </a:p>
        </p:txBody>
      </p:sp>
      <p:sp>
        <p:nvSpPr>
          <p:cNvPr id="26" name="Rounded Rectangle 25"/>
          <p:cNvSpPr/>
          <p:nvPr/>
        </p:nvSpPr>
        <p:spPr>
          <a:xfrm>
            <a:off x="6400800" y="3200400"/>
            <a:ext cx="914400" cy="27432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200400"/>
            <a:ext cx="914400" cy="274320"/>
          </a:xfrm>
          <a:prstGeom prst="rect">
            <a:avLst/>
          </a:prstGeom>
          <a:noFill/>
        </p:spPr>
        <p:txBody>
          <a:bodyPr wrap="square">
            <a:spAutoFit/>
          </a:bodyPr>
          <a:lstStyle/>
          <a:p>
            <a:pPr algn="ctr">
              <a:defRPr sz="900" b="1">
                <a:solidFill>
                  <a:srgbClr val="FFFFFF"/>
                </a:solidFill>
                <a:latin typeface="Segoe UI" panose="020B0502040204020203"/>
              </a:defRPr>
            </a:pPr>
            <a:r>
              <a:t>MED</a:t>
            </a:r>
          </a:p>
        </p:txBody>
      </p:sp>
      <p:sp>
        <p:nvSpPr>
          <p:cNvPr id="28" name="TextBox 27"/>
          <p:cNvSpPr txBox="1"/>
          <p:nvPr/>
        </p:nvSpPr>
        <p:spPr>
          <a:xfrm>
            <a:off x="7498079" y="3200400"/>
            <a:ext cx="3840480" cy="274320"/>
          </a:xfrm>
          <a:prstGeom prst="rect">
            <a:avLst/>
          </a:prstGeom>
          <a:noFill/>
        </p:spPr>
        <p:txBody>
          <a:bodyPr wrap="square">
            <a:spAutoFit/>
          </a:bodyPr>
          <a:lstStyle/>
          <a:p>
            <a:pPr algn="l">
              <a:defRPr sz="1400" b="1">
                <a:solidFill>
                  <a:srgbClr val="FFFFFF"/>
                </a:solidFill>
                <a:latin typeface="Segoe UI" panose="020B0502040204020203"/>
              </a:defRPr>
            </a:pPr>
            <a:r>
              <a:t>Multi-AZ with ALB</a:t>
            </a:r>
          </a:p>
        </p:txBody>
      </p:sp>
      <p:sp>
        <p:nvSpPr>
          <p:cNvPr id="29" name="TextBox 28"/>
          <p:cNvSpPr txBox="1"/>
          <p:nvPr/>
        </p:nvSpPr>
        <p:spPr>
          <a:xfrm>
            <a:off x="7498079" y="3474720"/>
            <a:ext cx="3840480" cy="274320"/>
          </a:xfrm>
          <a:prstGeom prst="rect">
            <a:avLst/>
          </a:prstGeom>
          <a:noFill/>
        </p:spPr>
        <p:txBody>
          <a:bodyPr wrap="square">
            <a:spAutoFit/>
          </a:bodyPr>
          <a:lstStyle/>
          <a:p>
            <a:pPr algn="l">
              <a:defRPr sz="1100" b="0">
                <a:solidFill>
                  <a:srgbClr val="8D99AE"/>
                </a:solidFill>
                <a:latin typeface="Segoe UI" panose="020B0502040204020203"/>
              </a:defRPr>
            </a:pPr>
            <a:r>
              <a:t>High availability + load distribution</a:t>
            </a:r>
          </a:p>
        </p:txBody>
      </p:sp>
      <p:sp>
        <p:nvSpPr>
          <p:cNvPr id="30" name="Rounded Rectangle 29"/>
          <p:cNvSpPr/>
          <p:nvPr/>
        </p:nvSpPr>
        <p:spPr>
          <a:xfrm>
            <a:off x="6400800" y="3840479"/>
            <a:ext cx="914400" cy="27432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840479"/>
            <a:ext cx="914400" cy="274320"/>
          </a:xfrm>
          <a:prstGeom prst="rect">
            <a:avLst/>
          </a:prstGeom>
          <a:noFill/>
        </p:spPr>
        <p:txBody>
          <a:bodyPr wrap="square">
            <a:spAutoFit/>
          </a:bodyPr>
          <a:lstStyle/>
          <a:p>
            <a:pPr algn="ctr">
              <a:defRPr sz="900" b="1">
                <a:solidFill>
                  <a:srgbClr val="FFFFFF"/>
                </a:solidFill>
                <a:latin typeface="Segoe UI" panose="020B0502040204020203"/>
              </a:defRPr>
            </a:pPr>
            <a:r>
              <a:t>MED</a:t>
            </a:r>
          </a:p>
        </p:txBody>
      </p:sp>
      <p:sp>
        <p:nvSpPr>
          <p:cNvPr id="32" name="TextBox 31"/>
          <p:cNvSpPr txBox="1"/>
          <p:nvPr/>
        </p:nvSpPr>
        <p:spPr>
          <a:xfrm>
            <a:off x="7498079" y="3840479"/>
            <a:ext cx="3840480" cy="274320"/>
          </a:xfrm>
          <a:prstGeom prst="rect">
            <a:avLst/>
          </a:prstGeom>
          <a:noFill/>
        </p:spPr>
        <p:txBody>
          <a:bodyPr wrap="square">
            <a:spAutoFit/>
          </a:bodyPr>
          <a:lstStyle/>
          <a:p>
            <a:pPr algn="l">
              <a:defRPr sz="1400" b="1">
                <a:solidFill>
                  <a:srgbClr val="FFFFFF"/>
                </a:solidFill>
                <a:latin typeface="Segoe UI" panose="020B0502040204020203"/>
              </a:defRPr>
            </a:pPr>
            <a:r>
              <a:t>Auto Scaling Group</a:t>
            </a:r>
          </a:p>
        </p:txBody>
      </p:sp>
      <p:sp>
        <p:nvSpPr>
          <p:cNvPr id="33" name="TextBox 32"/>
          <p:cNvSpPr txBox="1"/>
          <p:nvPr/>
        </p:nvSpPr>
        <p:spPr>
          <a:xfrm>
            <a:off x="7498079" y="4114799"/>
            <a:ext cx="3840480" cy="274320"/>
          </a:xfrm>
          <a:prstGeom prst="rect">
            <a:avLst/>
          </a:prstGeom>
          <a:noFill/>
        </p:spPr>
        <p:txBody>
          <a:bodyPr wrap="square">
            <a:spAutoFit/>
          </a:bodyPr>
          <a:lstStyle/>
          <a:p>
            <a:pPr algn="l">
              <a:defRPr sz="1100" b="0">
                <a:solidFill>
                  <a:srgbClr val="8D99AE"/>
                </a:solidFill>
                <a:latin typeface="Segoe UI" panose="020B0502040204020203"/>
              </a:defRPr>
            </a:pPr>
            <a:r>
              <a:t>Horizontal scaling under load</a:t>
            </a:r>
          </a:p>
        </p:txBody>
      </p:sp>
      <p:sp>
        <p:nvSpPr>
          <p:cNvPr id="34" name="Rounded Rectangle 33"/>
          <p:cNvSpPr/>
          <p:nvPr/>
        </p:nvSpPr>
        <p:spPr>
          <a:xfrm>
            <a:off x="6400800" y="4480560"/>
            <a:ext cx="914400" cy="274320"/>
          </a:xfrm>
          <a:prstGeom prst="roundRect">
            <a:avLst>
              <a:gd name="adj" fmla="val 5000"/>
            </a:avLst>
          </a:prstGeom>
          <a:solidFill>
            <a:srgbClr val="0077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480560"/>
            <a:ext cx="914400" cy="274320"/>
          </a:xfrm>
          <a:prstGeom prst="rect">
            <a:avLst/>
          </a:prstGeom>
          <a:noFill/>
        </p:spPr>
        <p:txBody>
          <a:bodyPr wrap="square">
            <a:spAutoFit/>
          </a:bodyPr>
          <a:lstStyle/>
          <a:p>
            <a:pPr algn="ctr">
              <a:defRPr sz="900" b="1">
                <a:solidFill>
                  <a:srgbClr val="FFFFFF"/>
                </a:solidFill>
                <a:latin typeface="Segoe UI" panose="020B0502040204020203"/>
              </a:defRPr>
            </a:pPr>
            <a:r>
              <a:t>MED</a:t>
            </a:r>
          </a:p>
        </p:txBody>
      </p:sp>
      <p:sp>
        <p:nvSpPr>
          <p:cNvPr id="36" name="TextBox 35"/>
          <p:cNvSpPr txBox="1"/>
          <p:nvPr/>
        </p:nvSpPr>
        <p:spPr>
          <a:xfrm>
            <a:off x="7498079" y="4480560"/>
            <a:ext cx="3840480" cy="274320"/>
          </a:xfrm>
          <a:prstGeom prst="rect">
            <a:avLst/>
          </a:prstGeom>
          <a:noFill/>
        </p:spPr>
        <p:txBody>
          <a:bodyPr wrap="square">
            <a:spAutoFit/>
          </a:bodyPr>
          <a:lstStyle/>
          <a:p>
            <a:pPr algn="l">
              <a:defRPr sz="1400" b="1">
                <a:solidFill>
                  <a:srgbClr val="FFFFFF"/>
                </a:solidFill>
                <a:latin typeface="Segoe UI" panose="020B0502040204020203"/>
              </a:defRPr>
            </a:pPr>
            <a:r>
              <a:t>HTTPS with ACM</a:t>
            </a:r>
          </a:p>
        </p:txBody>
      </p:sp>
      <p:sp>
        <p:nvSpPr>
          <p:cNvPr id="37" name="TextBox 36"/>
          <p:cNvSpPr txBox="1"/>
          <p:nvPr/>
        </p:nvSpPr>
        <p:spPr>
          <a:xfrm>
            <a:off x="7498079" y="4754880"/>
            <a:ext cx="3840480" cy="274320"/>
          </a:xfrm>
          <a:prstGeom prst="rect">
            <a:avLst/>
          </a:prstGeom>
          <a:noFill/>
        </p:spPr>
        <p:txBody>
          <a:bodyPr wrap="square">
            <a:spAutoFit/>
          </a:bodyPr>
          <a:lstStyle/>
          <a:p>
            <a:pPr algn="l">
              <a:defRPr sz="1100" b="0">
                <a:solidFill>
                  <a:srgbClr val="8D99AE"/>
                </a:solidFill>
                <a:latin typeface="Segoe UI" panose="020B0502040204020203"/>
              </a:defRPr>
            </a:pPr>
            <a:r>
              <a:t>SSL/TLS certificate</a:t>
            </a:r>
          </a:p>
        </p:txBody>
      </p:sp>
      <p:sp>
        <p:nvSpPr>
          <p:cNvPr id="38" name="Rounded Rectangle 37"/>
          <p:cNvSpPr/>
          <p:nvPr/>
        </p:nvSpPr>
        <p:spPr>
          <a:xfrm>
            <a:off x="6400800" y="5120640"/>
            <a:ext cx="914400" cy="274320"/>
          </a:xfrm>
          <a:prstGeom prst="roundRect">
            <a:avLst>
              <a:gd name="adj" fmla="val 5000"/>
            </a:avLst>
          </a:prstGeom>
          <a:solidFill>
            <a:srgbClr val="3A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5120640"/>
            <a:ext cx="914400" cy="274320"/>
          </a:xfrm>
          <a:prstGeom prst="rect">
            <a:avLst/>
          </a:prstGeom>
          <a:noFill/>
        </p:spPr>
        <p:txBody>
          <a:bodyPr wrap="square">
            <a:spAutoFit/>
          </a:bodyPr>
          <a:lstStyle/>
          <a:p>
            <a:pPr algn="ctr">
              <a:defRPr sz="900" b="1">
                <a:solidFill>
                  <a:srgbClr val="FFFFFF"/>
                </a:solidFill>
                <a:latin typeface="Segoe UI" panose="020B0502040204020203"/>
              </a:defRPr>
            </a:pPr>
            <a:r>
              <a:t>LONG</a:t>
            </a:r>
          </a:p>
        </p:txBody>
      </p:sp>
      <p:sp>
        <p:nvSpPr>
          <p:cNvPr id="40" name="TextBox 39"/>
          <p:cNvSpPr txBox="1"/>
          <p:nvPr/>
        </p:nvSpPr>
        <p:spPr>
          <a:xfrm>
            <a:off x="7498079" y="5120640"/>
            <a:ext cx="3840480" cy="274320"/>
          </a:xfrm>
          <a:prstGeom prst="rect">
            <a:avLst/>
          </a:prstGeom>
          <a:noFill/>
        </p:spPr>
        <p:txBody>
          <a:bodyPr wrap="square">
            <a:spAutoFit/>
          </a:bodyPr>
          <a:lstStyle/>
          <a:p>
            <a:pPr algn="l">
              <a:defRPr sz="1400" b="1">
                <a:solidFill>
                  <a:srgbClr val="FFFFFF"/>
                </a:solidFill>
                <a:latin typeface="Segoe UI" panose="020B0502040204020203"/>
              </a:defRPr>
            </a:pPr>
            <a:r>
              <a:t>Container Migration</a:t>
            </a:r>
          </a:p>
        </p:txBody>
      </p:sp>
      <p:sp>
        <p:nvSpPr>
          <p:cNvPr id="41" name="TextBox 40"/>
          <p:cNvSpPr txBox="1"/>
          <p:nvPr/>
        </p:nvSpPr>
        <p:spPr>
          <a:xfrm>
            <a:off x="7498079" y="5394960"/>
            <a:ext cx="3840480" cy="274320"/>
          </a:xfrm>
          <a:prstGeom prst="rect">
            <a:avLst/>
          </a:prstGeom>
          <a:noFill/>
        </p:spPr>
        <p:txBody>
          <a:bodyPr wrap="square">
            <a:spAutoFit/>
          </a:bodyPr>
          <a:lstStyle/>
          <a:p>
            <a:pPr algn="l">
              <a:defRPr sz="1100" b="0">
                <a:solidFill>
                  <a:srgbClr val="8D99AE"/>
                </a:solidFill>
                <a:latin typeface="Segoe UI" panose="020B0502040204020203"/>
              </a:defRPr>
            </a:pPr>
            <a:r>
              <a:t>ECS/EKS orchestration</a:t>
            </a:r>
          </a:p>
        </p:txBody>
      </p:sp>
      <p:sp>
        <p:nvSpPr>
          <p:cNvPr id="42" name="Rounded Rectangle 41"/>
          <p:cNvSpPr/>
          <p:nvPr/>
        </p:nvSpPr>
        <p:spPr>
          <a:xfrm>
            <a:off x="6400800" y="5760719"/>
            <a:ext cx="914400" cy="274320"/>
          </a:xfrm>
          <a:prstGeom prst="roundRect">
            <a:avLst>
              <a:gd name="adj" fmla="val 5000"/>
            </a:avLst>
          </a:prstGeom>
          <a:solidFill>
            <a:srgbClr val="3A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5760719"/>
            <a:ext cx="914400" cy="274320"/>
          </a:xfrm>
          <a:prstGeom prst="rect">
            <a:avLst/>
          </a:prstGeom>
          <a:noFill/>
        </p:spPr>
        <p:txBody>
          <a:bodyPr wrap="square">
            <a:spAutoFit/>
          </a:bodyPr>
          <a:lstStyle/>
          <a:p>
            <a:pPr algn="ctr">
              <a:defRPr sz="900" b="1">
                <a:solidFill>
                  <a:srgbClr val="FFFFFF"/>
                </a:solidFill>
                <a:latin typeface="Segoe UI" panose="020B0502040204020203"/>
              </a:defRPr>
            </a:pPr>
            <a:r>
              <a:t>LONG</a:t>
            </a:r>
          </a:p>
        </p:txBody>
      </p:sp>
      <p:sp>
        <p:nvSpPr>
          <p:cNvPr id="44" name="TextBox 43"/>
          <p:cNvSpPr txBox="1"/>
          <p:nvPr/>
        </p:nvSpPr>
        <p:spPr>
          <a:xfrm>
            <a:off x="7498079" y="5760719"/>
            <a:ext cx="3840480" cy="274320"/>
          </a:xfrm>
          <a:prstGeom prst="rect">
            <a:avLst/>
          </a:prstGeom>
          <a:noFill/>
        </p:spPr>
        <p:txBody>
          <a:bodyPr wrap="square">
            <a:spAutoFit/>
          </a:bodyPr>
          <a:lstStyle/>
          <a:p>
            <a:pPr algn="l">
              <a:defRPr sz="1400" b="1">
                <a:solidFill>
                  <a:srgbClr val="FFFFFF"/>
                </a:solidFill>
                <a:latin typeface="Segoe UI" panose="020B0502040204020203"/>
              </a:defRPr>
            </a:pPr>
            <a:r>
              <a:t>Monitoring</a:t>
            </a:r>
          </a:p>
        </p:txBody>
      </p:sp>
      <p:sp>
        <p:nvSpPr>
          <p:cNvPr id="45" name="TextBox 44"/>
          <p:cNvSpPr txBox="1"/>
          <p:nvPr/>
        </p:nvSpPr>
        <p:spPr>
          <a:xfrm>
            <a:off x="7498079" y="6035039"/>
            <a:ext cx="3840480" cy="274320"/>
          </a:xfrm>
          <a:prstGeom prst="rect">
            <a:avLst/>
          </a:prstGeom>
          <a:noFill/>
        </p:spPr>
        <p:txBody>
          <a:bodyPr wrap="square">
            <a:spAutoFit/>
          </a:bodyPr>
          <a:lstStyle/>
          <a:p>
            <a:pPr algn="l">
              <a:defRPr sz="1100" b="0">
                <a:solidFill>
                  <a:srgbClr val="8D99AE"/>
                </a:solidFill>
                <a:latin typeface="Segoe UI" panose="020B0502040204020203"/>
              </a:defRPr>
            </a:pPr>
            <a:r>
              <a:t>CloudWatch + SNS alerting</a:t>
            </a:r>
          </a:p>
        </p:txBody>
      </p:sp>
      <p:sp>
        <p:nvSpPr>
          <p:cNvPr id="46" name="TextBox 45"/>
          <p:cNvSpPr txBox="1"/>
          <p:nvPr/>
        </p:nvSpPr>
        <p:spPr>
          <a:xfrm>
            <a:off x="11155680" y="6400800"/>
            <a:ext cx="914400" cy="365760"/>
          </a:xfrm>
          <a:prstGeom prst="rect">
            <a:avLst/>
          </a:prstGeom>
          <a:noFill/>
        </p:spPr>
        <p:txBody>
          <a:bodyPr wrap="square">
            <a:spAutoFit/>
          </a:bodyPr>
          <a:lstStyle/>
          <a:p>
            <a:pPr algn="r">
              <a:defRPr sz="1100" b="0">
                <a:solidFill>
                  <a:srgbClr val="8D99AE"/>
                </a:solidFill>
                <a:latin typeface="Segoe UI" panose="020B0502040204020203"/>
              </a:defRPr>
            </a:pPr>
            <a:r>
              <a:t>14/15</a:t>
            </a:r>
          </a:p>
        </p:txBody>
      </p:sp>
      <p:sp>
        <p:nvSpPr>
          <p:cNvPr id="47" name="TextBox 46"/>
          <p:cNvSpPr txBox="1"/>
          <p:nvPr/>
        </p:nvSpPr>
        <p:spPr>
          <a:xfrm>
            <a:off x="457200" y="6400800"/>
            <a:ext cx="3657600" cy="365760"/>
          </a:xfrm>
          <a:prstGeom prst="rect">
            <a:avLst/>
          </a:prstGeom>
          <a:noFill/>
        </p:spPr>
        <p:txBody>
          <a:bodyPr wrap="square">
            <a:spAutoFit/>
          </a:bodyPr>
          <a:lstStyle/>
          <a:p>
            <a:pPr algn="l">
              <a:defRPr sz="1100" b="0">
                <a:solidFill>
                  <a:srgbClr val="8D99AE"/>
                </a:solidFill>
                <a:latin typeface="Segoe UI" panose="020B0502040204020203"/>
              </a:defRPr>
            </a:pPr>
            <a:r>
              <a:t>IBM Internship 2026 — Group 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p:sp>
        <p:nvSpPr>
          <p:cNvPr id="2" name="Rounded Rectangle 1"/>
          <p:cNvSpPr/>
          <p:nvPr/>
        </p:nvSpPr>
        <p:spPr>
          <a:xfrm>
            <a:off x="0" y="0"/>
            <a:ext cx="12191695" cy="76200"/>
          </a:xfrm>
          <a:prstGeom prst="roundRect">
            <a:avLst>
              <a:gd name="adj" fmla="val 5000"/>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315200" cy="640080"/>
          </a:xfrm>
          <a:prstGeom prst="rect">
            <a:avLst/>
          </a:prstGeom>
          <a:noFill/>
        </p:spPr>
        <p:txBody>
          <a:bodyPr wrap="square">
            <a:spAutoFit/>
          </a:bodyPr>
          <a:lstStyle/>
          <a:p>
            <a:pPr algn="l">
              <a:defRPr sz="3600" b="1">
                <a:solidFill>
                  <a:srgbClr val="FFFFFF"/>
                </a:solidFill>
                <a:latin typeface="Segoe UI" panose="020B0502040204020203"/>
              </a:defRPr>
            </a:pPr>
            <a:r>
              <a:t>CONCLUSION</a:t>
            </a:r>
          </a:p>
        </p:txBody>
      </p:sp>
      <p:sp>
        <p:nvSpPr>
          <p:cNvPr id="4" name="Rectangle 3"/>
          <p:cNvSpPr/>
          <p:nvPr/>
        </p:nvSpPr>
        <p:spPr>
          <a:xfrm>
            <a:off x="731520" y="1371600"/>
            <a:ext cx="1828800" cy="38100"/>
          </a:xfrm>
          <a:prstGeom prst="rect">
            <a:avLst/>
          </a:prstGeom>
          <a:solidFill>
            <a:srgbClr val="48C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6" name="TextBox 5"/>
          <p:cNvSpPr txBox="1"/>
          <p:nvPr/>
        </p:nvSpPr>
        <p:spPr>
          <a:xfrm>
            <a:off x="1371600" y="1645920"/>
            <a:ext cx="9144000" cy="320040"/>
          </a:xfrm>
          <a:prstGeom prst="rect">
            <a:avLst/>
          </a:prstGeom>
          <a:noFill/>
        </p:spPr>
        <p:txBody>
          <a:bodyPr wrap="square">
            <a:spAutoFit/>
          </a:bodyPr>
          <a:lstStyle/>
          <a:p>
            <a:pPr algn="l">
              <a:defRPr sz="1500" b="0">
                <a:solidFill>
                  <a:srgbClr val="E0E1DD"/>
                </a:solidFill>
                <a:latin typeface="Segoe UI" panose="020B0502040204020203"/>
              </a:defRPr>
            </a:pPr>
            <a:r>
              <a:t>Custom VPC with public-private subnet architecture</a:t>
            </a:r>
          </a:p>
        </p:txBody>
      </p:sp>
      <p:sp>
        <p:nvSpPr>
          <p:cNvPr id="7" name="TextBox 6"/>
          <p:cNvSpPr txBox="1"/>
          <p:nvPr/>
        </p:nvSpPr>
        <p:spPr>
          <a:xfrm>
            <a:off x="914400" y="2121408"/>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8" name="TextBox 7"/>
          <p:cNvSpPr txBox="1"/>
          <p:nvPr/>
        </p:nvSpPr>
        <p:spPr>
          <a:xfrm>
            <a:off x="1371600" y="2121408"/>
            <a:ext cx="9144000" cy="320040"/>
          </a:xfrm>
          <a:prstGeom prst="rect">
            <a:avLst/>
          </a:prstGeom>
          <a:noFill/>
        </p:spPr>
        <p:txBody>
          <a:bodyPr wrap="square">
            <a:spAutoFit/>
          </a:bodyPr>
          <a:lstStyle/>
          <a:p>
            <a:pPr algn="l">
              <a:defRPr sz="1500" b="0">
                <a:solidFill>
                  <a:srgbClr val="E0E1DD"/>
                </a:solidFill>
                <a:latin typeface="Segoe UI" panose="020B0502040204020203"/>
              </a:defRPr>
            </a:pPr>
            <a:r>
              <a:t>EC2 web server with automated Nginx bootstrapping</a:t>
            </a:r>
          </a:p>
        </p:txBody>
      </p:sp>
      <p:sp>
        <p:nvSpPr>
          <p:cNvPr id="9" name="TextBox 8"/>
          <p:cNvSpPr txBox="1"/>
          <p:nvPr/>
        </p:nvSpPr>
        <p:spPr>
          <a:xfrm>
            <a:off x="914400" y="2596896"/>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10" name="TextBox 9"/>
          <p:cNvSpPr txBox="1"/>
          <p:nvPr/>
        </p:nvSpPr>
        <p:spPr>
          <a:xfrm>
            <a:off x="1371600" y="2596896"/>
            <a:ext cx="9144000" cy="320040"/>
          </a:xfrm>
          <a:prstGeom prst="rect">
            <a:avLst/>
          </a:prstGeom>
          <a:noFill/>
        </p:spPr>
        <p:txBody>
          <a:bodyPr wrap="square">
            <a:spAutoFit/>
          </a:bodyPr>
          <a:lstStyle/>
          <a:p>
            <a:pPr algn="l">
              <a:defRPr sz="1500" b="0">
                <a:solidFill>
                  <a:srgbClr val="E0E1DD"/>
                </a:solidFill>
                <a:latin typeface="Segoe UI" panose="020B0502040204020203"/>
              </a:defRPr>
            </a:pPr>
            <a:r>
              <a:t>S3 storage with AES-256 encryption &amp; public access block</a:t>
            </a:r>
          </a:p>
        </p:txBody>
      </p:sp>
      <p:sp>
        <p:nvSpPr>
          <p:cNvPr id="11" name="TextBox 10"/>
          <p:cNvSpPr txBox="1"/>
          <p:nvPr/>
        </p:nvSpPr>
        <p:spPr>
          <a:xfrm>
            <a:off x="914400" y="3072384"/>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12" name="TextBox 11"/>
          <p:cNvSpPr txBox="1"/>
          <p:nvPr/>
        </p:nvSpPr>
        <p:spPr>
          <a:xfrm>
            <a:off x="1371600" y="3072384"/>
            <a:ext cx="9144000" cy="320040"/>
          </a:xfrm>
          <a:prstGeom prst="rect">
            <a:avLst/>
          </a:prstGeom>
          <a:noFill/>
        </p:spPr>
        <p:txBody>
          <a:bodyPr wrap="square">
            <a:spAutoFit/>
          </a:bodyPr>
          <a:lstStyle/>
          <a:p>
            <a:pPr algn="l">
              <a:defRPr sz="1500" b="0">
                <a:solidFill>
                  <a:srgbClr val="E0E1DD"/>
                </a:solidFill>
                <a:latin typeface="Segoe UI" panose="020B0502040204020203"/>
              </a:defRPr>
            </a:pPr>
            <a:r>
              <a:t>3 reusable Terraform modules (networking, compute, storage)</a:t>
            </a:r>
          </a:p>
        </p:txBody>
      </p:sp>
      <p:sp>
        <p:nvSpPr>
          <p:cNvPr id="13" name="TextBox 12"/>
          <p:cNvSpPr txBox="1"/>
          <p:nvPr/>
        </p:nvSpPr>
        <p:spPr>
          <a:xfrm>
            <a:off x="914400" y="3547872"/>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14" name="TextBox 13"/>
          <p:cNvSpPr txBox="1"/>
          <p:nvPr/>
        </p:nvSpPr>
        <p:spPr>
          <a:xfrm>
            <a:off x="1371600" y="3547872"/>
            <a:ext cx="9144000" cy="320040"/>
          </a:xfrm>
          <a:prstGeom prst="rect">
            <a:avLst/>
          </a:prstGeom>
          <a:noFill/>
        </p:spPr>
        <p:txBody>
          <a:bodyPr wrap="square">
            <a:spAutoFit/>
          </a:bodyPr>
          <a:lstStyle/>
          <a:p>
            <a:pPr algn="l">
              <a:defRPr sz="1500" b="0">
                <a:solidFill>
                  <a:srgbClr val="E0E1DD"/>
                </a:solidFill>
                <a:latin typeface="Segoe UI" panose="020B0502040204020203"/>
              </a:defRPr>
            </a:pPr>
            <a:r>
              <a:t>15 AWS resources provisioned in &lt; 2 minutes</a:t>
            </a:r>
          </a:p>
        </p:txBody>
      </p:sp>
      <p:sp>
        <p:nvSpPr>
          <p:cNvPr id="15" name="TextBox 14"/>
          <p:cNvSpPr txBox="1"/>
          <p:nvPr/>
        </p:nvSpPr>
        <p:spPr>
          <a:xfrm>
            <a:off x="914400" y="4023360"/>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16" name="TextBox 15"/>
          <p:cNvSpPr txBox="1"/>
          <p:nvPr/>
        </p:nvSpPr>
        <p:spPr>
          <a:xfrm>
            <a:off x="1371600" y="4023360"/>
            <a:ext cx="9144000" cy="320040"/>
          </a:xfrm>
          <a:prstGeom prst="rect">
            <a:avLst/>
          </a:prstGeom>
          <a:noFill/>
        </p:spPr>
        <p:txBody>
          <a:bodyPr wrap="square">
            <a:spAutoFit/>
          </a:bodyPr>
          <a:lstStyle/>
          <a:p>
            <a:pPr algn="l">
              <a:defRPr sz="1500" b="0">
                <a:solidFill>
                  <a:srgbClr val="E0E1DD"/>
                </a:solidFill>
                <a:latin typeface="Segoe UI" panose="020B0502040204020203"/>
              </a:defRPr>
            </a:pPr>
            <a:r>
              <a:t>Zero manual console steps required</a:t>
            </a:r>
          </a:p>
        </p:txBody>
      </p:sp>
      <p:sp>
        <p:nvSpPr>
          <p:cNvPr id="17" name="TextBox 16"/>
          <p:cNvSpPr txBox="1"/>
          <p:nvPr/>
        </p:nvSpPr>
        <p:spPr>
          <a:xfrm>
            <a:off x="914400" y="4498848"/>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18" name="TextBox 17"/>
          <p:cNvSpPr txBox="1"/>
          <p:nvPr/>
        </p:nvSpPr>
        <p:spPr>
          <a:xfrm>
            <a:off x="1371600" y="4498848"/>
            <a:ext cx="9144000" cy="320040"/>
          </a:xfrm>
          <a:prstGeom prst="rect">
            <a:avLst/>
          </a:prstGeom>
          <a:noFill/>
        </p:spPr>
        <p:txBody>
          <a:bodyPr wrap="square">
            <a:spAutoFit/>
          </a:bodyPr>
          <a:lstStyle/>
          <a:p>
            <a:pPr algn="l">
              <a:defRPr sz="1500" b="0">
                <a:solidFill>
                  <a:srgbClr val="E0E1DD"/>
                </a:solidFill>
                <a:latin typeface="Segoe UI" panose="020B0502040204020203"/>
              </a:defRPr>
            </a:pPr>
            <a:r>
              <a:t>Complete teardown via single terraform destroy command</a:t>
            </a:r>
          </a:p>
        </p:txBody>
      </p:sp>
      <p:sp>
        <p:nvSpPr>
          <p:cNvPr id="19" name="TextBox 18"/>
          <p:cNvSpPr txBox="1"/>
          <p:nvPr/>
        </p:nvSpPr>
        <p:spPr>
          <a:xfrm>
            <a:off x="914400" y="4974336"/>
            <a:ext cx="365760" cy="320040"/>
          </a:xfrm>
          <a:prstGeom prst="rect">
            <a:avLst/>
          </a:prstGeom>
          <a:noFill/>
        </p:spPr>
        <p:txBody>
          <a:bodyPr wrap="square">
            <a:spAutoFit/>
          </a:bodyPr>
          <a:lstStyle/>
          <a:p>
            <a:pPr algn="l">
              <a:defRPr sz="1600" b="0">
                <a:solidFill>
                  <a:srgbClr val="06D6A0"/>
                </a:solidFill>
                <a:latin typeface="Segoe UI" panose="020B0502040204020203"/>
              </a:defRPr>
            </a:pPr>
            <a:r>
              <a:t>✅</a:t>
            </a:r>
          </a:p>
        </p:txBody>
      </p:sp>
      <p:sp>
        <p:nvSpPr>
          <p:cNvPr id="20" name="TextBox 19"/>
          <p:cNvSpPr txBox="1"/>
          <p:nvPr/>
        </p:nvSpPr>
        <p:spPr>
          <a:xfrm>
            <a:off x="1371600" y="4974336"/>
            <a:ext cx="9144000" cy="320040"/>
          </a:xfrm>
          <a:prstGeom prst="rect">
            <a:avLst/>
          </a:prstGeom>
          <a:noFill/>
        </p:spPr>
        <p:txBody>
          <a:bodyPr wrap="square">
            <a:spAutoFit/>
          </a:bodyPr>
          <a:lstStyle/>
          <a:p>
            <a:pPr algn="l">
              <a:defRPr sz="1500" b="0">
                <a:solidFill>
                  <a:srgbClr val="E0E1DD"/>
                </a:solidFill>
                <a:latin typeface="Segoe UI" panose="020B0502040204020203"/>
              </a:defRPr>
            </a:pPr>
            <a:r>
              <a:t>Code published on GitHub with MIT License</a:t>
            </a:r>
          </a:p>
        </p:txBody>
      </p:sp>
      <p:sp>
        <p:nvSpPr>
          <p:cNvPr id="21" name="Rounded Rectangle 20"/>
          <p:cNvSpPr/>
          <p:nvPr/>
        </p:nvSpPr>
        <p:spPr>
          <a:xfrm>
            <a:off x="1371600" y="5303520"/>
            <a:ext cx="9418320" cy="548640"/>
          </a:xfrm>
          <a:prstGeom prst="roundRect">
            <a:avLst>
              <a:gd name="adj" fmla="val 5000"/>
            </a:avLst>
          </a:prstGeom>
          <a:solidFill>
            <a:srgbClr val="1C2541"/>
          </a:solidFill>
          <a:ln w="12700">
            <a:solidFill>
              <a:srgbClr val="48C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71600" y="5303520"/>
            <a:ext cx="9418320" cy="548640"/>
          </a:xfrm>
          <a:prstGeom prst="rect">
            <a:avLst/>
          </a:prstGeom>
          <a:noFill/>
        </p:spPr>
        <p:txBody>
          <a:bodyPr wrap="square">
            <a:spAutoFit/>
          </a:bodyPr>
          <a:lstStyle/>
          <a:p>
            <a:pPr algn="ctr">
              <a:defRPr sz="1300" b="0">
                <a:solidFill>
                  <a:srgbClr val="48CAE4"/>
                </a:solidFill>
                <a:latin typeface="Segoe UI" panose="020B0502040204020203"/>
              </a:defRPr>
            </a:pPr>
            <a:r>
              <a:t>"Infrastructure as Code transforms cloud infrastructure from a manual process into an automated, version-controlled software engineering practice."</a:t>
            </a:r>
          </a:p>
        </p:txBody>
      </p:sp>
      <p:sp>
        <p:nvSpPr>
          <p:cNvPr id="23" name="TextBox 22"/>
          <p:cNvSpPr txBox="1"/>
          <p:nvPr/>
        </p:nvSpPr>
        <p:spPr>
          <a:xfrm>
            <a:off x="-635" y="6005830"/>
            <a:ext cx="12191695" cy="521970"/>
          </a:xfrm>
          <a:prstGeom prst="rect">
            <a:avLst/>
          </a:prstGeom>
          <a:noFill/>
        </p:spPr>
        <p:txBody>
          <a:bodyPr wrap="square">
            <a:spAutoFit/>
          </a:bodyPr>
          <a:lstStyle/>
          <a:p>
            <a:pPr algn="ctr">
              <a:defRPr sz="2800" b="1">
                <a:solidFill>
                  <a:srgbClr val="FFFFFF"/>
                </a:solidFill>
                <a:latin typeface="Segoe UI" panose="020B0502040204020203"/>
              </a:defRPr>
            </a:pPr>
            <a:r>
              <a:t>Thank You! </a:t>
            </a:r>
          </a:p>
        </p:txBody>
      </p:sp>
      <p:sp>
        <p:nvSpPr>
          <p:cNvPr id="24" name="TextBox 23"/>
          <p:cNvSpPr txBox="1"/>
          <p:nvPr/>
        </p:nvSpPr>
        <p:spPr>
          <a:xfrm>
            <a:off x="0" y="6492240"/>
            <a:ext cx="12191695" cy="274320"/>
          </a:xfrm>
          <a:prstGeom prst="rect">
            <a:avLst/>
          </a:prstGeom>
          <a:noFill/>
        </p:spPr>
        <p:txBody>
          <a:bodyPr wrap="square">
            <a:spAutoFit/>
          </a:bodyPr>
          <a:lstStyle/>
          <a:p>
            <a:pPr algn="ctr">
              <a:defRPr sz="1200" b="0">
                <a:solidFill>
                  <a:srgbClr val="8D99AE"/>
                </a:solidFill>
                <a:latin typeface="Segoe UI" panose="020B0502040204020203"/>
              </a:defRPr>
            </a:pPr>
            <a:r>
              <a:t>github.com/Nakul71/terraform-aws-iac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9997</Words>
  <Application>WPS Presentation</Application>
  <PresentationFormat>On-screen Show (4:3)</PresentationFormat>
  <Paragraphs>934</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Arial</vt:lpstr>
      <vt:lpstr>Segoe UI</vt:lpstr>
      <vt:lpstr>Consolas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NaKuL</cp:lastModifiedBy>
  <cp:revision>2</cp:revision>
  <dcterms:created xsi:type="dcterms:W3CDTF">2013-01-27T09:14:00Z</dcterms:created>
  <dcterms:modified xsi:type="dcterms:W3CDTF">2026-07-24T13:25:10Z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D3FE0E5454034BCFB6F6AB2387EA6697_12</vt:lpwstr>
  </property>
</Properties>
</file>